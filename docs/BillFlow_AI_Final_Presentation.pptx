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eff21a90284454" /><Relationship Type="http://schemas.openxmlformats.org/officeDocument/2006/relationships/extended-properties" Target="/docProps/app.xml" Id="Rdb56d35f878641bc" /><Relationship Type="http://schemas.openxmlformats.org/officeDocument/2006/relationships/officeDocument" Target="/ppt/presentation.xml" Id="Re5c07cb3e03d49ff" /></Relationships>
</file>

<file path=ppt/presentation.xml><?xml version="1.0" encoding="utf-8"?>
<p:presentation xmlns:p="http://schemas.openxmlformats.org/presentationml/2006/main">
  <p:sldMasterIdLst>
    <p:sldMasterId xmlns:r="http://schemas.openxmlformats.org/officeDocument/2006/relationships" id="2147483648" r:id="Rb2c4a93d227a48ba"/>
  </p:sldMasterIdLst>
  <p:notesMasterIdLst>
    <p:notesMasterId xmlns:r="http://schemas.openxmlformats.org/officeDocument/2006/relationships" r:id="R8453ee92e76f4c5f"/>
  </p:notesMasterIdLst>
  <p:sldIdLst>
    <p:sldId xmlns:r="http://schemas.openxmlformats.org/officeDocument/2006/relationships" id="256" r:id="Rfd42ee1831564469"/>
    <p:sldId xmlns:r="http://schemas.openxmlformats.org/officeDocument/2006/relationships" id="257" r:id="R98837f6a1f944ee8"/>
    <p:sldId xmlns:r="http://schemas.openxmlformats.org/officeDocument/2006/relationships" id="258" r:id="Rd5be75c10a184f62"/>
    <p:sldId xmlns:r="http://schemas.openxmlformats.org/officeDocument/2006/relationships" id="259" r:id="R78783d3f86a54498"/>
    <p:sldId xmlns:r="http://schemas.openxmlformats.org/officeDocument/2006/relationships" id="260" r:id="R9c8c10bde2654caf"/>
    <p:sldId xmlns:r="http://schemas.openxmlformats.org/officeDocument/2006/relationships" id="261" r:id="R80881ea1f00f43e1"/>
    <p:sldId xmlns:r="http://schemas.openxmlformats.org/officeDocument/2006/relationships" id="262" r:id="R817479df948249b0"/>
    <p:sldId xmlns:r="http://schemas.openxmlformats.org/officeDocument/2006/relationships" id="263" r:id="R516fd944d40f4e80"/>
    <p:sldId xmlns:r="http://schemas.openxmlformats.org/officeDocument/2006/relationships" id="264" r:id="R56ca4a47ca6e4318"/>
    <p:sldId xmlns:r="http://schemas.openxmlformats.org/officeDocument/2006/relationships" id="265" r:id="R993d1908514541f5"/>
    <p:sldId xmlns:r="http://schemas.openxmlformats.org/officeDocument/2006/relationships" id="266" r:id="Re3a64d539ae54d1a"/>
    <p:sldId xmlns:r="http://schemas.openxmlformats.org/officeDocument/2006/relationships" id="267" r:id="Rd3eea34fd9954cc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7df87fe8964370" /><Relationship Type="http://schemas.openxmlformats.org/officeDocument/2006/relationships/slideMaster" Target="/ppt/slideMasters/slideMaster1.xml" Id="Rb2c4a93d227a48ba" /><Relationship Type="http://schemas.openxmlformats.org/officeDocument/2006/relationships/notesMaster" Target="/ppt/notesMasters/notesMaster1.xml" Id="R8453ee92e76f4c5f" /><Relationship Type="http://schemas.openxmlformats.org/officeDocument/2006/relationships/presProps" Target="/ppt/presProps.xml" Id="Rd90642f6ca6b4026" /><Relationship Type="http://schemas.openxmlformats.org/officeDocument/2006/relationships/tableStyles" Target="/ppt/tableStyles.xml" Id="Rf63de9395fd44623" /><Relationship Type="http://schemas.openxmlformats.org/officeDocument/2006/relationships/slide" Target="/ppt/slides/slide1.xml" Id="Rfd42ee1831564469" /><Relationship Type="http://schemas.openxmlformats.org/officeDocument/2006/relationships/slide" Target="/ppt/slides/slide2.xml" Id="R98837f6a1f944ee8" /><Relationship Type="http://schemas.openxmlformats.org/officeDocument/2006/relationships/slide" Target="/ppt/slides/slide3.xml" Id="Rd5be75c10a184f62" /><Relationship Type="http://schemas.openxmlformats.org/officeDocument/2006/relationships/slide" Target="/ppt/slides/slide4.xml" Id="R78783d3f86a54498" /><Relationship Type="http://schemas.openxmlformats.org/officeDocument/2006/relationships/slide" Target="/ppt/slides/slide5.xml" Id="R9c8c10bde2654caf" /><Relationship Type="http://schemas.openxmlformats.org/officeDocument/2006/relationships/slide" Target="/ppt/slides/slide6.xml" Id="R80881ea1f00f43e1" /><Relationship Type="http://schemas.openxmlformats.org/officeDocument/2006/relationships/slide" Target="/ppt/slides/slide7.xml" Id="R817479df948249b0" /><Relationship Type="http://schemas.openxmlformats.org/officeDocument/2006/relationships/slide" Target="/ppt/slides/slide8.xml" Id="R516fd944d40f4e80" /><Relationship Type="http://schemas.openxmlformats.org/officeDocument/2006/relationships/slide" Target="/ppt/slides/slide9.xml" Id="R56ca4a47ca6e4318" /><Relationship Type="http://schemas.openxmlformats.org/officeDocument/2006/relationships/slide" Target="/ppt/slides/slide10.xml" Id="R993d1908514541f5" /><Relationship Type="http://schemas.openxmlformats.org/officeDocument/2006/relationships/slide" Target="/ppt/slides/slide11.xml" Id="Re3a64d539ae54d1a" /><Relationship Type="http://schemas.openxmlformats.org/officeDocument/2006/relationships/slide" Target="/ppt/slides/slide12.xml" Id="Rd3eea34fd9954c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ad8a3041d34d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e37822b61742df" /><Relationship Type="http://schemas.openxmlformats.org/officeDocument/2006/relationships/notesMaster" Target="/ppt/notesMasters/notesMaster1.xml" Id="R5f63099a12b94b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d98bad5d1a4967" /><Relationship Type="http://schemas.openxmlformats.org/officeDocument/2006/relationships/notesMaster" Target="/ppt/notesMasters/notesMaster1.xml" Id="R53910413548845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12aea8817e47bf" /><Relationship Type="http://schemas.openxmlformats.org/officeDocument/2006/relationships/notesMaster" Target="/ppt/notesMasters/notesMaster1.xml" Id="Rb058dbf1a30841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450e78a48b2e485f" /><Relationship Type="http://schemas.openxmlformats.org/officeDocument/2006/relationships/notesMaster" Target="/ppt/notesMasters/notesMaster1.xml" Id="Rc9b3516dc1174d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83300694194903" /><Relationship Type="http://schemas.openxmlformats.org/officeDocument/2006/relationships/notesMaster" Target="/ppt/notesMasters/notesMaster1.xml" Id="R11c402f5e7824d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4df0e9563c486e" /><Relationship Type="http://schemas.openxmlformats.org/officeDocument/2006/relationships/notesMaster" Target="/ppt/notesMasters/notesMaster1.xml" Id="R9c9f40654b4742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437ec342f546ce" /><Relationship Type="http://schemas.openxmlformats.org/officeDocument/2006/relationships/notesMaster" Target="/ppt/notesMasters/notesMaster1.xml" Id="R3ffcd91f441a43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c544ffd5f545b2" /><Relationship Type="http://schemas.openxmlformats.org/officeDocument/2006/relationships/notesMaster" Target="/ppt/notesMasters/notesMaster1.xml" Id="Rd3ff8f5f3d764f17"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2829b5db3349fe" /><Relationship Type="http://schemas.openxmlformats.org/officeDocument/2006/relationships/notesMaster" Target="/ppt/notesMasters/notesMaster1.xml" Id="R42bfe00b918b4b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40d50d322a4f1b" /><Relationship Type="http://schemas.openxmlformats.org/officeDocument/2006/relationships/notesMaster" Target="/ppt/notesMasters/notesMaster1.xml" Id="R66269dc1191d48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1ae02d29974f4f" /><Relationship Type="http://schemas.openxmlformats.org/officeDocument/2006/relationships/notesMaster" Target="/ppt/notesMasters/notesMaster1.xml" Id="R1a47dec921be4c9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068b9c5798946c6" /><Relationship Type="http://schemas.openxmlformats.org/officeDocument/2006/relationships/notesMaster" Target="/ppt/notesMasters/notesMaster1.xml" Id="Ra054f0bcf7c24d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product outcome: one Python full-stack system for personal bill decisions and recurring billing operations. The invoice shown is generated by the implemented ReportLab service. Source: repository implementation and supplied weekly requirements 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project focuses on state transitions and financial correctness, not only CRUD screens. The supplied problem statement calls out proration, state machines, retry logic, tax and invoice formatting as the core complexity.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distinction clear. The left side manages a person’s bills and recommendations. The right side manages a SaaS business’s recurring revenue. Both avoid silent real-money actions and preserve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one migration owner: the API applies Alembic, then workers start after the health check. Redis transports scheduled jobs. PostgreSQL remains the source of truth. Source: docker-compose.yml, app/celery_app.py and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Mention the timestamp fields for each state. End of cycle plan and cancellation requests stay pending until renewal. The cycle key combines subscription and period start, so a repeated scheduler run returns the same invoice instead of duplicating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live demo map. The same six stages appear as tabs and actions in Billing Operations. Contextual help explains proration, sandbox payments, archive behavior and refunds before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that these figures describe the deterministic demo portfolio, not company performance. Growth includes six paid invoices. Starter includes one paid invoice. The annual invoice failed and therefore contributes no collected revenue. Source: app/services/billing_demo.py and billing_dashboard calculations.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two outcomes. Success recovers the subscription and cancels later attempts. The third failed retry cancels service and queues a notification. Replay protection keeps a repeated provider event from applying money twice.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21 backend tests include the original personal finance flows and 11 Billing Operations scenarios. The measured Locust profile used 20 users for 20 seconds. Browser E2E runs in CI. Source: pytest output and docs/PERFORMANCE.md dated 25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table to answer the completeness question. The repository traceability document expands each weekly bullet into exact code and test locations. Source: supplied weekly requirements PDF and docs/REQUIREMENTS_TRACEABILITY.md.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these as honest integration boundaries rather than missing application code. Real payment rails, tax filing and provider account updates require commercial or regulatory authority that a code repository cannot create. Source: docs/KNOWN_LIMITATIONS.md.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running product. Use docs/DEMO_SCRIPT.md for the 6 to 8 minute rehearsal. The future milestones add production partnerships and enterprise controls without changing the validated billing 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86ecaf29c946e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5fc98a078f44f7" /><Relationship Type="http://schemas.openxmlformats.org/officeDocument/2006/relationships/slideLayout" Target="/ppt/slideLayouts/slideLayout1.xml" Id="R7def50a3a36a4f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ef50a3a36a4f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dbf1c69f1d4459" /><Relationship Type="http://schemas.openxmlformats.org/officeDocument/2006/relationships/image" Target="/ppt/media/image.png" Id="R5aa335868e534151" /><Relationship Type="http://schemas.openxmlformats.org/officeDocument/2006/relationships/notesSlide" Target="/ppt/notesSlides/notesSlide1.xml" Id="R834e54a87fad46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e15822bf4ba4e1b" /><Relationship Type="http://schemas.openxmlformats.org/officeDocument/2006/relationships/notesSlide" Target="/ppt/notesSlides/notesSlide2.xml" Id="Re8c027a3765e4c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a677e3bfe5f4959" /><Relationship Type="http://schemas.openxmlformats.org/officeDocument/2006/relationships/notesSlide" Target="/ppt/notesSlides/notesSlide3.xml" Id="Rde74a4c980af49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1bc704a314c40c3" /><Relationship Type="http://schemas.openxmlformats.org/officeDocument/2006/relationships/notesSlide" Target="/ppt/notesSlides/notesSlide4.xml" Id="Rdc36e6c8f6954d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7e5ee643a9445d9" /><Relationship Type="http://schemas.openxmlformats.org/officeDocument/2006/relationships/notesSlide" Target="/ppt/notesSlides/notesSlide5.xml" Id="R151b778630ec46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e73ec23f0de49be" /><Relationship Type="http://schemas.openxmlformats.org/officeDocument/2006/relationships/notesSlide" Target="/ppt/notesSlides/notesSlide6.xml" Id="R04649ab50034413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209a0a4de9948a0" /><Relationship Type="http://schemas.openxmlformats.org/officeDocument/2006/relationships/chart" Target="/ppt/slides/charts/chart1.xml" Id="R2a51c9d2d33748ed" /><Relationship Type="http://schemas.openxmlformats.org/officeDocument/2006/relationships/notesSlide" Target="/ppt/notesSlides/notesSlide7.xml" Id="R0e402e99161f4b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cb2aecd2e5548a3" /><Relationship Type="http://schemas.openxmlformats.org/officeDocument/2006/relationships/notesSlide" Target="/ppt/notesSlides/notesSlide8.xml" Id="R52fd447c6c544ec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83e52d1b780407b" /><Relationship Type="http://schemas.openxmlformats.org/officeDocument/2006/relationships/chart" Target="/ppt/slides/charts/chart2.xml" Id="R797f34ff95f545fc" /><Relationship Type="http://schemas.openxmlformats.org/officeDocument/2006/relationships/notesSlide" Target="/ppt/notesSlides/notesSlide9.xml" Id="Rfa05899732ba4cd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ebd9859dd1c42de" /><Relationship Type="http://schemas.openxmlformats.org/officeDocument/2006/relationships/notesSlide" Target="/ppt/notesSlides/notesSlide10.xml" Id="Rad4a99dc2b884ec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4724c6eb2544347" /><Relationship Type="http://schemas.openxmlformats.org/officeDocument/2006/relationships/notesSlide" Target="/ppt/notesSlides/notesSlide11.xml" Id="Rb1be6eb486674e6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6c3d8a558234dd5" /><Relationship Type="http://schemas.openxmlformats.org/officeDocument/2006/relationships/notesSlide" Target="/ppt/notesSlides/notesSlide12.xml" Id="R76e175f174e84893" /></Relationships>
</file>

<file path=ppt/slides/charts/chart1.xml><?xml version="1.0" encoding="utf-8"?>
<c:chartSpace xmlns:c="http://schemas.openxmlformats.org/drawingml/2006/chart">
  <c:lang val="en-US"/>
  <c:chart>
    <c:plotArea>
      <c:barChart>
        <c:barDir val="bar"/>
        <c:grouping val="clustered"/>
        <c:varyColors val="0"/>
        <c:ser>
          <c:idx val="0"/>
          <c:order val="0"/>
          <c:tx>
            <c:v>Collected revenue</c:v>
          </c:tx>
          <c:spPr>
            <a:solidFill xmlns:a="http://schemas.openxmlformats.org/drawingml/2006/main">
              <a:srgbClr val="1A6C52"/>
            </a:solidFill>
          </c:spPr>
          <c:cat>
            <c:strLit>
              <c:ptCount val="3"/>
              <c:pt idx="0">
                <c:v>Growth</c:v>
              </c:pt>
              <c:pt idx="1">
                <c:v>Starter</c:v>
              </c:pt>
              <c:pt idx="2">
                <c:v>Scale Annual</c:v>
              </c:pt>
            </c:strLit>
          </c:cat>
          <c:val>
            <c:numLit>
              <c:formatCode>General</c:formatCode>
              <c:ptCount val="3"/>
              <c:pt idx="0">
                <c:v>21233</c:v>
              </c:pt>
              <c:pt idx="1">
                <c:v>1179</c:v>
              </c:pt>
              <c:pt idx="2">
                <c:v>0</c:v>
              </c:pt>
            </c:numLit>
          </c:val>
        </c:ser>
        <c:dLbls>
          <c:txPr>
            <a:bodyPr xmlns:a="http://schemas.openxmlformats.org/drawingml/2006/main" anchorCtr="1"/>
            <a:lstStyle xmlns:a="http://schemas.openxmlformats.org/drawingml/2006/main"/>
            <a:p xmlns:a="http://schemas.openxmlformats.org/drawingml/2006/main">
              <a:pPr>
                <a:defRPr sz="1125" b="1">
                  <a:solidFill>
                    <a:srgbClr val="08251E"/>
                  </a:solidFill>
                  <a:latin typeface="Aptos"/>
                  <a:ea typeface="Aptos"/>
                  <a:cs typeface="Aptos"/>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majorGridlines>
          <c:spPr>
            <a:ln xmlns:a="http://schemas.openxmlformats.org/drawingml/2006/main" w="9525">
              <a:solidFill>
                <a:srgbClr val="D7E1DA"/>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736E"/>
                </a:solidFill>
                <a:latin typeface="Aptos"/>
                <a:ea typeface="Aptos"/>
                <a:cs typeface="Aptos"/>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08251E"/>
                </a:solidFill>
                <a:latin typeface="Aptos"/>
                <a:ea typeface="Aptos"/>
                <a:cs typeface="Aptos"/>
              </a:defRPr>
            </a:pPr>
          </a:p>
        </c:txPr>
        <c:crossAx val="48650112"/>
        <c:crossBetween val="between"/>
      </c:valAx>
      <c:spPr>
        <a:solidFill xmlns:a="http://schemas.openxmlformats.org/drawingml/2006/main">
          <a:srgbClr val="F4F7F3"/>
        </a:solidFill>
        <a:ln xmlns:a="http://schemas.openxmlformats.org/drawingml/2006/main" w="0">
          <a:solidFill>
            <a:srgbClr val="F4F7F3"/>
          </a:solidFill>
        </a:ln>
      </c:spPr>
    </c:plotArea>
    <c:plotVisOnly val="1"/>
  </c:chart>
  <c:spPr>
    <a:solidFill xmlns:a="http://schemas.openxmlformats.org/drawingml/2006/main">
      <a:srgbClr val="F4F7F3"/>
    </a:solidFill>
    <a:ln xmlns:a="http://schemas.openxmlformats.org/drawingml/2006/main" w="0">
      <a:solidFill>
        <a:srgbClr val="F4F7F3"/>
      </a:solidFill>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Average response time</c:v>
          </c:tx>
          <c:spPr>
            <a:solidFill xmlns:a="http://schemas.openxmlformats.org/drawingml/2006/main">
              <a:srgbClr val="77E6BB"/>
            </a:solidFill>
          </c:spPr>
          <c:cat>
            <c:strLit>
              <c:ptCount val="6"/>
              <c:pt idx="0">
                <c:v>Dashboard</c:v>
              </c:pt>
              <c:pt idx="1">
                <c:v>Invoices</c:v>
              </c:pt>
              <c:pt idx="2">
                <c:v>Subscriptions</c:v>
              </c:pt>
              <c:pt idx="3">
                <c:v>Tax summary</c:v>
              </c:pt>
              <c:pt idx="4">
                <c:v>Retries</c:v>
              </c:pt>
              <c:pt idx="5">
                <c:v>Audit</c:v>
              </c:pt>
            </c:strLit>
          </c:cat>
          <c:val>
            <c:numLit>
              <c:formatCode>General</c:formatCode>
              <c:ptCount val="6"/>
              <c:pt idx="0">
                <c:v>11</c:v>
              </c:pt>
              <c:pt idx="1">
                <c:v>9</c:v>
              </c:pt>
              <c:pt idx="2">
                <c:v>7</c:v>
              </c:pt>
              <c:pt idx="3">
                <c:v>6</c:v>
              </c:pt>
              <c:pt idx="4">
                <c:v>5</c:v>
              </c:pt>
              <c:pt idx="5">
                <c:v>4</c:v>
              </c:pt>
            </c:numLit>
          </c:val>
        </c:ser>
        <c:dLbls>
          <c:txPr>
            <a:bodyPr xmlns:a="http://schemas.openxmlformats.org/drawingml/2006/main" anchorCtr="1"/>
            <a:lstStyle xmlns:a="http://schemas.openxmlformats.org/drawingml/2006/main"/>
            <a:p xmlns:a="http://schemas.openxmlformats.org/drawingml/2006/main">
              <a:pPr>
                <a:defRPr sz="1125" b="1">
                  <a:solidFill>
                    <a:srgbClr val="08251E"/>
                  </a:solidFill>
                  <a:latin typeface="Aptos"/>
                  <a:ea typeface="Aptos"/>
                  <a:cs typeface="Aptos"/>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majorGridlines>
          <c:spPr>
            <a:ln xmlns:a="http://schemas.openxmlformats.org/drawingml/2006/main" w="9525">
              <a:solidFill>
                <a:srgbClr val="D7E1DA"/>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Milliseconds</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736E"/>
                </a:solidFill>
                <a:latin typeface="Aptos"/>
                <a:ea typeface="Aptos"/>
                <a:cs typeface="Aptos"/>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08251E"/>
                </a:solidFill>
                <a:latin typeface="Aptos"/>
                <a:ea typeface="Aptos"/>
                <a:cs typeface="Aptos"/>
              </a:defRPr>
            </a:pPr>
          </a:p>
        </c:txPr>
        <c:crossAx val="48650112"/>
        <c:crossBetween val="between"/>
      </c:valAx>
      <c:spPr>
        <a:solidFill xmlns:a="http://schemas.openxmlformats.org/drawingml/2006/main">
          <a:srgbClr val="F4F7F3"/>
        </a:solidFill>
        <a:ln xmlns:a="http://schemas.openxmlformats.org/drawingml/2006/main" w="0">
          <a:solidFill>
            <a:srgbClr val="F4F7F3"/>
          </a:solidFill>
        </a:ln>
      </c:spPr>
    </c:plotArea>
    <c:plotVisOnly val="1"/>
  </c:chart>
  <c:spPr>
    <a:solidFill xmlns:a="http://schemas.openxmlformats.org/drawingml/2006/main">
      <a:srgbClr val="F4F7F3"/>
    </a:solidFill>
    <a:ln xmlns:a="http://schemas.openxmlformats.org/drawingml/2006/main" w="0">
      <a:solidFill>
        <a:srgbClr val="F4F7F3"/>
      </a:solidFill>
    </a:ln>
  </c:spPr>
</c:chartSpace>
</file>

<file path=ppt/slides/slide1.xml><?xml version="1.0" encoding="utf-8"?>
<p:sld xmlns:p="http://schemas.openxmlformats.org/presentationml/2006/main">
  <p:cSld>
    <p:bg>
      <p:bgPr>
        <a:solidFill xmlns:a="http://schemas.openxmlformats.org/drawingml/2006/main">
          <a:srgbClr val="0D2E2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5E5EBD8-CCAD-4681-ADF0-BDDF44DF09BF}"/>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0D2E25"/>
          </a:solidFill>
          <a:ln xmlns:a="http://schemas.openxmlformats.org/drawingml/2006/main" w="0">
            <a:solidFill>
              <a:srgbClr val="0D2E25"/>
            </a:solidFill>
            <a:prstDash val="solid"/>
          </a:ln>
        </p:spPr>
      </p:sp>
      <p:sp>
        <p:nvSpPr>
          <p:cNvPr id="2" name="">
            <a:extLst xmlns:a="http://schemas.openxmlformats.org/drawingml/2006/main">
              <a:ext uri="{FF2B5EF4-FFF2-40B4-BE49-F238E27FC236}">
                <a16:creationId xmlns:a16="http://schemas.microsoft.com/office/drawing/2014/main" id="{D5A19EA9-BC85-4891-8AD6-5DC70EC81845}"/>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 name="">
            <a:extLst xmlns:a="http://schemas.openxmlformats.org/drawingml/2006/main">
              <a:ext uri="{FF2B5EF4-FFF2-40B4-BE49-F238E27FC236}">
                <a16:creationId xmlns:a16="http://schemas.microsoft.com/office/drawing/2014/main" id="{66F5CBCA-1B39-4196-861B-BC337C3937EB}"/>
              </a:ext>
            </a:extLst>
          </p:cNvPr>
          <p:cNvSpPr>
            <a:spLocks xmlns:a="http://schemas.openxmlformats.org/drawingml/2006/main" noGrp="1"/>
          </p:cNvSpPr>
          <p:nvPr/>
        </p:nvSpPr>
        <p:spPr>
          <a:xfrm xmlns:a="http://schemas.openxmlformats.org/drawingml/2006/main">
            <a:off x="704850" y="7429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77E6BB"/>
                </a:solidFill>
                <a:latin typeface="Aptos"/>
                <a:ea typeface="Aptos"/>
                <a:cs typeface="Aptos"/>
              </a:defRPr>
            </a:pPr>
            <a:r>
              <a:rPr sz="1275" b="1">
                <a:solidFill>
                  <a:srgbClr val="77E6BB"/>
                </a:solidFill>
                <a:latin typeface="Aptos"/>
                <a:ea typeface="Aptos"/>
                <a:cs typeface="Aptos"/>
              </a:rPr>
              <a:t>BILLFLOW AI</a:t>
            </a:r>
          </a:p>
        </p:txBody>
      </p:sp>
      <p:sp>
        <p:nvSpPr>
          <p:cNvPr id="4" name="">
            <a:extLst xmlns:a="http://schemas.openxmlformats.org/drawingml/2006/main">
              <a:ext uri="{FF2B5EF4-FFF2-40B4-BE49-F238E27FC236}">
                <a16:creationId xmlns:a16="http://schemas.microsoft.com/office/drawing/2014/main" id="{5EBE6894-D8D7-45D7-9E59-9F3F793D77FD}"/>
              </a:ext>
            </a:extLst>
          </p:cNvPr>
          <p:cNvSpPr>
            <a:spLocks xmlns:a="http://schemas.openxmlformats.org/drawingml/2006/main" noGrp="1"/>
          </p:cNvSpPr>
          <p:nvPr/>
        </p:nvSpPr>
        <p:spPr>
          <a:xfrm xmlns:a="http://schemas.openxmlformats.org/drawingml/2006/main">
            <a:off x="704850" y="1428750"/>
            <a:ext cx="5905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050" b="1">
                <a:solidFill>
                  <a:srgbClr val="FFFFFF"/>
                </a:solidFill>
                <a:latin typeface="Aptos"/>
                <a:ea typeface="Aptos"/>
                <a:cs typeface="Aptos"/>
              </a:defRPr>
            </a:pPr>
            <a:r>
              <a:rPr sz="4050" b="1">
                <a:solidFill>
                  <a:srgbClr val="FFFFFF"/>
                </a:solidFill>
                <a:latin typeface="Aptos"/>
                <a:ea typeface="Aptos"/>
                <a:cs typeface="Aptos"/>
              </a:rPr>
              <a:t>Recurring Payment,</a:t>
            </a:r>
          </a:p>
          <a:p xmlns:a="http://schemas.openxmlformats.org/drawingml/2006/main">
            <a:pPr algn="l">
              <a:defRPr sz="4050" b="1">
                <a:solidFill>
                  <a:srgbClr val="FFFFFF"/>
                </a:solidFill>
                <a:latin typeface="Aptos"/>
                <a:ea typeface="Aptos"/>
                <a:cs typeface="Aptos"/>
              </a:defRPr>
            </a:pPr>
            <a:r>
              <a:rPr sz="4050" b="1">
                <a:solidFill>
                  <a:srgbClr val="FFFFFF"/>
                </a:solidFill>
                <a:latin typeface="Aptos"/>
                <a:ea typeface="Aptos"/>
                <a:cs typeface="Aptos"/>
              </a:rPr>
              <a:t>Subscription Management</a:t>
            </a:r>
          </a:p>
          <a:p xmlns:a="http://schemas.openxmlformats.org/drawingml/2006/main">
            <a:pPr algn="l">
              <a:defRPr sz="4050" b="1">
                <a:solidFill>
                  <a:srgbClr val="FFFFFF"/>
                </a:solidFill>
                <a:latin typeface="Aptos"/>
                <a:ea typeface="Aptos"/>
                <a:cs typeface="Aptos"/>
              </a:defRPr>
            </a:pPr>
            <a:r>
              <a:rPr sz="4050" b="1">
                <a:solidFill>
                  <a:srgbClr val="FFFFFF"/>
                </a:solidFill>
                <a:latin typeface="Aptos"/>
                <a:ea typeface="Aptos"/>
                <a:cs typeface="Aptos"/>
              </a:rPr>
              <a:t>and Billing Automation</a:t>
            </a:r>
          </a:p>
        </p:txBody>
      </p:sp>
      <p:sp>
        <p:nvSpPr>
          <p:cNvPr id="5" name="">
            <a:extLst xmlns:a="http://schemas.openxmlformats.org/drawingml/2006/main">
              <a:ext uri="{FF2B5EF4-FFF2-40B4-BE49-F238E27FC236}">
                <a16:creationId xmlns:a16="http://schemas.microsoft.com/office/drawing/2014/main" id="{66795086-E4B2-4250-9EDE-A4AB9E2AF59B}"/>
              </a:ext>
            </a:extLst>
          </p:cNvPr>
          <p:cNvSpPr>
            <a:spLocks xmlns:a="http://schemas.openxmlformats.org/drawingml/2006/main" noGrp="1"/>
          </p:cNvSpPr>
          <p:nvPr/>
        </p:nvSpPr>
        <p:spPr>
          <a:xfrm xmlns:a="http://schemas.openxmlformats.org/drawingml/2006/main">
            <a:off x="723900" y="4095750"/>
            <a:ext cx="1143000" cy="57150"/>
          </a:xfrm>
          <a:prstGeom xmlns:a="http://schemas.openxmlformats.org/drawingml/2006/main" prst="rect">
            <a:avLst/>
          </a:prstGeom>
          <a:solidFill xmlns:a="http://schemas.openxmlformats.org/drawingml/2006/main">
            <a:srgbClr val="D6F579"/>
          </a:solidFill>
          <a:ln xmlns:a="http://schemas.openxmlformats.org/drawingml/2006/main" w="0">
            <a:solidFill>
              <a:srgbClr val="D6F579"/>
            </a:solidFill>
          </a:ln>
        </p:spPr>
      </p:sp>
      <p:sp>
        <p:nvSpPr>
          <p:cNvPr id="6" name="">
            <a:extLst xmlns:a="http://schemas.openxmlformats.org/drawingml/2006/main">
              <a:ext uri="{FF2B5EF4-FFF2-40B4-BE49-F238E27FC236}">
                <a16:creationId xmlns:a16="http://schemas.microsoft.com/office/drawing/2014/main" id="{2380D4E1-06B7-4D14-A311-0ACFD4192F15}"/>
              </a:ext>
            </a:extLst>
          </p:cNvPr>
          <p:cNvSpPr>
            <a:spLocks xmlns:a="http://schemas.openxmlformats.org/drawingml/2006/main" noGrp="1"/>
          </p:cNvSpPr>
          <p:nvPr/>
        </p:nvSpPr>
        <p:spPr>
          <a:xfrm xmlns:a="http://schemas.openxmlformats.org/drawingml/2006/main">
            <a:off x="723900" y="4343400"/>
            <a:ext cx="5524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C6D8D0"/>
                </a:solidFill>
                <a:latin typeface="Aptos"/>
                <a:ea typeface="Aptos"/>
                <a:cs typeface="Aptos"/>
              </a:defRPr>
            </a:pPr>
            <a:r>
              <a:rPr sz="1725" b="0">
                <a:solidFill>
                  <a:srgbClr val="C6D8D0"/>
                </a:solidFill>
                <a:latin typeface="Aptos"/>
                <a:ea typeface="Aptos"/>
                <a:cs typeface="Aptos"/>
              </a:rPr>
              <a:t>Python full-stack platform with explainable finance guidance and an auditable billing control plane</a:t>
            </a:r>
          </a:p>
        </p:txBody>
      </p:sp>
      <p:sp>
        <p:nvSpPr>
          <p:cNvPr id="7" name="">
            <a:extLst xmlns:a="http://schemas.openxmlformats.org/drawingml/2006/main">
              <a:ext uri="{FF2B5EF4-FFF2-40B4-BE49-F238E27FC236}">
                <a16:creationId xmlns:a16="http://schemas.microsoft.com/office/drawing/2014/main" id="{28462BFC-44E8-4B5F-AF98-2A9C52D0EE25}"/>
              </a:ext>
            </a:extLst>
          </p:cNvPr>
          <p:cNvSpPr>
            <a:spLocks xmlns:a="http://schemas.openxmlformats.org/drawingml/2006/main" noGrp="1"/>
          </p:cNvSpPr>
          <p:nvPr/>
        </p:nvSpPr>
        <p:spPr>
          <a:xfrm xmlns:a="http://schemas.openxmlformats.org/drawingml/2006/main">
            <a:off x="723900" y="5857875"/>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77E6BB"/>
                </a:solidFill>
                <a:latin typeface="Aptos"/>
                <a:ea typeface="Aptos"/>
                <a:cs typeface="Aptos"/>
              </a:defRPr>
            </a:pPr>
            <a:r>
              <a:rPr sz="1350" b="0">
                <a:solidFill>
                  <a:srgbClr val="77E6BB"/>
                </a:solidFill>
                <a:latin typeface="Aptos"/>
                <a:ea typeface="Aptos"/>
                <a:cs typeface="Aptos"/>
              </a:rPr>
              <a:t>Yashovardhan K</a:t>
            </a:r>
          </a:p>
          <a:p xmlns:a="http://schemas.openxmlformats.org/drawingml/2006/main">
            <a:pPr algn="l">
              <a:defRPr sz="1350" b="0">
                <a:solidFill>
                  <a:srgbClr val="77E6BB"/>
                </a:solidFill>
                <a:latin typeface="Aptos"/>
                <a:ea typeface="Aptos"/>
                <a:cs typeface="Aptos"/>
              </a:defRPr>
            </a:pPr>
            <a:r>
              <a:rPr sz="1350" b="0">
                <a:solidFill>
                  <a:srgbClr val="77E6BB"/>
                </a:solidFill>
                <a:latin typeface="Aptos"/>
                <a:ea typeface="Aptos"/>
                <a:cs typeface="Aptos"/>
              </a:rPr>
              <a:t>September 2026</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aa335868e534151"/>
          <a:stretch xmlns:a="http://schemas.openxmlformats.org/drawingml/2006/main"/>
        </p:blipFill>
        <p:spPr>
          <a:xfrm xmlns:a="http://schemas.openxmlformats.org/drawingml/2006/main">
            <a:off x="7671550" y="552450"/>
            <a:ext cx="4068849" cy="5753100"/>
          </a:xfrm>
          <a:prstGeom xmlns:a="http://schemas.openxmlformats.org/drawingml/2006/main" prst="rect">
            <a:avLst/>
          </a:prstGeom>
        </p:spPr>
      </p:pic>
    </p:spTree>
    <p:extLst>
      <p:ext uri="{BB962C8B-B14F-4D97-AF65-F5344CB8AC3E}">
        <p14:creationId xmlns:p14="http://schemas.microsoft.com/office/powerpoint/2010/main" val="1762790134"/>
      </p:ext>
    </p:extLst>
  </p:cSld>
</p:sld>
</file>

<file path=ppt/slides/slide2.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9C3C72B-8E01-4B56-AFFE-7CE6B818B12E}"/>
              </a:ext>
            </a:extLst>
          </p:cNvPr>
          <p:cNvSpPr>
            <a:spLocks xmlns:a="http://schemas.openxmlformats.org/drawingml/2006/main" noGrp="1"/>
          </p:cNvSpPr>
          <p:nvPr/>
        </p:nvSpPr>
        <p:spPr>
          <a:xfrm xmlns:a="http://schemas.openxmlformats.org/drawingml/2006/main">
            <a:off x="628650" y="28575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1A6C52"/>
                </a:solidFill>
                <a:latin typeface="Aptos"/>
                <a:ea typeface="Aptos"/>
                <a:cs typeface="Aptos"/>
              </a:defRPr>
            </a:pPr>
            <a:r>
              <a:rPr sz="1200" b="1">
                <a:solidFill>
                  <a:srgbClr val="1A6C52"/>
                </a:solidFill>
                <a:latin typeface="Aptos"/>
                <a:ea typeface="Aptos"/>
                <a:cs typeface="Aptos"/>
              </a:rPr>
              <a:t>02</a:t>
            </a:r>
          </a:p>
        </p:txBody>
      </p:sp>
      <p:sp>
        <p:nvSpPr>
          <p:cNvPr id="2" name="">
            <a:extLst xmlns:a="http://schemas.openxmlformats.org/drawingml/2006/main">
              <a:ext uri="{FF2B5EF4-FFF2-40B4-BE49-F238E27FC236}">
                <a16:creationId xmlns:a16="http://schemas.microsoft.com/office/drawing/2014/main" id="{3CF1DC9E-D246-4520-844D-132FC9D90FA5}"/>
              </a:ext>
            </a:extLst>
          </p:cNvPr>
          <p:cNvSpPr>
            <a:spLocks xmlns:a="http://schemas.openxmlformats.org/drawingml/2006/main" noGrp="1"/>
          </p:cNvSpPr>
          <p:nvPr/>
        </p:nvSpPr>
        <p:spPr>
          <a:xfrm xmlns:a="http://schemas.openxmlformats.org/drawingml/2006/main">
            <a:off x="628650" y="60960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251E"/>
                </a:solidFill>
                <a:latin typeface="Aptos"/>
                <a:ea typeface="Aptos"/>
                <a:cs typeface="Aptos"/>
              </a:defRPr>
            </a:pPr>
            <a:r>
              <a:rPr sz="3225" b="1">
                <a:solidFill>
                  <a:srgbClr val="08251E"/>
                </a:solidFill>
                <a:latin typeface="Aptos"/>
                <a:ea typeface="Aptos"/>
                <a:cs typeface="Aptos"/>
              </a:rPr>
              <a:t>Recurring billing fails at the transitions</a:t>
            </a:r>
          </a:p>
        </p:txBody>
      </p:sp>
      <p:sp>
        <p:nvSpPr>
          <p:cNvPr id="3" name="">
            <a:extLst xmlns:a="http://schemas.openxmlformats.org/drawingml/2006/main">
              <a:ext uri="{FF2B5EF4-FFF2-40B4-BE49-F238E27FC236}">
                <a16:creationId xmlns:a16="http://schemas.microsoft.com/office/drawing/2014/main" id="{A71D10E2-B271-4269-9207-1AD3FFB70D32}"/>
              </a:ext>
            </a:extLst>
          </p:cNvPr>
          <p:cNvSpPr>
            <a:spLocks xmlns:a="http://schemas.openxmlformats.org/drawingml/2006/main" noGrp="1"/>
          </p:cNvSpPr>
          <p:nvPr/>
        </p:nvSpPr>
        <p:spPr>
          <a:xfrm xmlns:a="http://schemas.openxmlformats.org/drawingml/2006/main">
            <a:off x="647700" y="114300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36E"/>
                </a:solidFill>
                <a:latin typeface="Aptos"/>
                <a:ea typeface="Aptos"/>
                <a:cs typeface="Aptos"/>
              </a:defRPr>
            </a:pPr>
            <a:r>
              <a:rPr sz="1425" b="0">
                <a:solidFill>
                  <a:srgbClr val="66736E"/>
                </a:solidFill>
                <a:latin typeface="Aptos"/>
                <a:ea typeface="Aptos"/>
                <a:cs typeface="Aptos"/>
              </a:rPr>
              <a:t>The difficult work starts after a customer chooses a plan</a:t>
            </a:r>
          </a:p>
        </p:txBody>
      </p:sp>
      <p:sp>
        <p:nvSpPr>
          <p:cNvPr id="4" name="">
            <a:extLst xmlns:a="http://schemas.openxmlformats.org/drawingml/2006/main">
              <a:ext uri="{FF2B5EF4-FFF2-40B4-BE49-F238E27FC236}">
                <a16:creationId xmlns:a16="http://schemas.microsoft.com/office/drawing/2014/main" id="{7F583C1A-EDF3-4EEE-BBC5-2ABFE4EA5BC2}"/>
              </a:ext>
            </a:extLst>
          </p:cNvPr>
          <p:cNvSpPr>
            <a:spLocks xmlns:a="http://schemas.openxmlformats.org/drawingml/2006/main" noGrp="1"/>
          </p:cNvSpPr>
          <p:nvPr/>
        </p:nvSpPr>
        <p:spPr>
          <a:xfrm xmlns:a="http://schemas.openxmlformats.org/drawingml/2006/main">
            <a:off x="628650" y="1581150"/>
            <a:ext cx="10934700" cy="19050"/>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sp>
        <p:nvSpPr>
          <p:cNvPr id="5" name="">
            <a:extLst xmlns:a="http://schemas.openxmlformats.org/drawingml/2006/main">
              <a:ext uri="{FF2B5EF4-FFF2-40B4-BE49-F238E27FC236}">
                <a16:creationId xmlns:a16="http://schemas.microsoft.com/office/drawing/2014/main" id="{5C13A436-CE8A-42F3-BF39-98554D8A4935}"/>
              </a:ext>
            </a:extLst>
          </p:cNvPr>
          <p:cNvSpPr>
            <a:spLocks xmlns:a="http://schemas.openxmlformats.org/drawingml/2006/main" noGrp="1"/>
          </p:cNvSpPr>
          <p:nvPr/>
        </p:nvSpPr>
        <p:spPr>
          <a:xfrm xmlns:a="http://schemas.openxmlformats.org/drawingml/2006/main">
            <a:off x="742950" y="1952625"/>
            <a:ext cx="590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A6C52"/>
                </a:solidFill>
                <a:latin typeface="Aptos"/>
                <a:ea typeface="Aptos"/>
                <a:cs typeface="Aptos"/>
              </a:defRPr>
            </a:pPr>
            <a:r>
              <a:rPr sz="2025" b="1">
                <a:solidFill>
                  <a:srgbClr val="1A6C52"/>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1F686DF2-A894-4145-8D8D-717C3112828E}"/>
              </a:ext>
            </a:extLst>
          </p:cNvPr>
          <p:cNvSpPr>
            <a:spLocks xmlns:a="http://schemas.openxmlformats.org/drawingml/2006/main" noGrp="1"/>
          </p:cNvSpPr>
          <p:nvPr/>
        </p:nvSpPr>
        <p:spPr>
          <a:xfrm xmlns:a="http://schemas.openxmlformats.org/drawingml/2006/main">
            <a:off x="1562100" y="19145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08251E"/>
                </a:solidFill>
                <a:latin typeface="Aptos"/>
                <a:ea typeface="Aptos"/>
                <a:cs typeface="Aptos"/>
              </a:defRPr>
            </a:pPr>
            <a:r>
              <a:rPr sz="1950" b="1">
                <a:solidFill>
                  <a:srgbClr val="08251E"/>
                </a:solidFill>
                <a:latin typeface="Aptos"/>
                <a:ea typeface="Aptos"/>
                <a:cs typeface="Aptos"/>
              </a:rPr>
              <a:t>Lifecycle drift</a:t>
            </a:r>
          </a:p>
        </p:txBody>
      </p:sp>
      <p:sp>
        <p:nvSpPr>
          <p:cNvPr id="7" name="">
            <a:extLst xmlns:a="http://schemas.openxmlformats.org/drawingml/2006/main">
              <a:ext uri="{FF2B5EF4-FFF2-40B4-BE49-F238E27FC236}">
                <a16:creationId xmlns:a16="http://schemas.microsoft.com/office/drawing/2014/main" id="{3B0AC550-2FF0-4731-8FCA-BE37D3E29240}"/>
              </a:ext>
            </a:extLst>
          </p:cNvPr>
          <p:cNvSpPr>
            <a:spLocks xmlns:a="http://schemas.openxmlformats.org/drawingml/2006/main" noGrp="1"/>
          </p:cNvSpPr>
          <p:nvPr/>
        </p:nvSpPr>
        <p:spPr>
          <a:xfrm xmlns:a="http://schemas.openxmlformats.org/drawingml/2006/main">
            <a:off x="1562100" y="2238375"/>
            <a:ext cx="742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36E"/>
                </a:solidFill>
                <a:latin typeface="Aptos"/>
                <a:ea typeface="Aptos"/>
                <a:cs typeface="Aptos"/>
              </a:defRPr>
            </a:pPr>
            <a:r>
              <a:rPr sz="1425" b="0">
                <a:solidFill>
                  <a:srgbClr val="66736E"/>
                </a:solidFill>
                <a:latin typeface="Aptos"/>
                <a:ea typeface="Aptos"/>
                <a:cs typeface="Aptos"/>
              </a:rPr>
              <a:t>Trial, renewal, pause and cancellation dates can disagree across systems.</a:t>
            </a:r>
          </a:p>
        </p:txBody>
      </p:sp>
      <p:sp>
        <p:nvSpPr>
          <p:cNvPr id="8" name="">
            <a:extLst xmlns:a="http://schemas.openxmlformats.org/drawingml/2006/main">
              <a:ext uri="{FF2B5EF4-FFF2-40B4-BE49-F238E27FC236}">
                <a16:creationId xmlns:a16="http://schemas.microsoft.com/office/drawing/2014/main" id="{D7395AE9-0798-4DF3-884C-0F357A1C80BA}"/>
              </a:ext>
            </a:extLst>
          </p:cNvPr>
          <p:cNvSpPr>
            <a:spLocks xmlns:a="http://schemas.openxmlformats.org/drawingml/2006/main" noGrp="1"/>
          </p:cNvSpPr>
          <p:nvPr/>
        </p:nvSpPr>
        <p:spPr>
          <a:xfrm xmlns:a="http://schemas.openxmlformats.org/drawingml/2006/main">
            <a:off x="1562100" y="2752725"/>
            <a:ext cx="9334500" cy="9525"/>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sp>
        <p:nvSpPr>
          <p:cNvPr id="9" name="">
            <a:extLst xmlns:a="http://schemas.openxmlformats.org/drawingml/2006/main">
              <a:ext uri="{FF2B5EF4-FFF2-40B4-BE49-F238E27FC236}">
                <a16:creationId xmlns:a16="http://schemas.microsoft.com/office/drawing/2014/main" id="{DB888140-5403-402F-8545-17C0E086EAF4}"/>
              </a:ext>
            </a:extLst>
          </p:cNvPr>
          <p:cNvSpPr>
            <a:spLocks xmlns:a="http://schemas.openxmlformats.org/drawingml/2006/main" noGrp="1"/>
          </p:cNvSpPr>
          <p:nvPr/>
        </p:nvSpPr>
        <p:spPr>
          <a:xfrm xmlns:a="http://schemas.openxmlformats.org/drawingml/2006/main">
            <a:off x="742950" y="2943225"/>
            <a:ext cx="590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A6C52"/>
                </a:solidFill>
                <a:latin typeface="Aptos"/>
                <a:ea typeface="Aptos"/>
                <a:cs typeface="Aptos"/>
              </a:defRPr>
            </a:pPr>
            <a:r>
              <a:rPr sz="2025" b="1">
                <a:solidFill>
                  <a:srgbClr val="1A6C52"/>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BF85FADA-0209-49AD-93E9-D9F746A4FD59}"/>
              </a:ext>
            </a:extLst>
          </p:cNvPr>
          <p:cNvSpPr>
            <a:spLocks xmlns:a="http://schemas.openxmlformats.org/drawingml/2006/main" noGrp="1"/>
          </p:cNvSpPr>
          <p:nvPr/>
        </p:nvSpPr>
        <p:spPr>
          <a:xfrm xmlns:a="http://schemas.openxmlformats.org/drawingml/2006/main">
            <a:off x="1562100" y="29051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08251E"/>
                </a:solidFill>
                <a:latin typeface="Aptos"/>
                <a:ea typeface="Aptos"/>
                <a:cs typeface="Aptos"/>
              </a:defRPr>
            </a:pPr>
            <a:r>
              <a:rPr sz="1950" b="1">
                <a:solidFill>
                  <a:srgbClr val="08251E"/>
                </a:solidFill>
                <a:latin typeface="Aptos"/>
                <a:ea typeface="Aptos"/>
                <a:cs typeface="Aptos"/>
              </a:rPr>
              <a:t>Invoice accuracy</a:t>
            </a:r>
          </a:p>
        </p:txBody>
      </p:sp>
      <p:sp>
        <p:nvSpPr>
          <p:cNvPr id="11" name="">
            <a:extLst xmlns:a="http://schemas.openxmlformats.org/drawingml/2006/main">
              <a:ext uri="{FF2B5EF4-FFF2-40B4-BE49-F238E27FC236}">
                <a16:creationId xmlns:a16="http://schemas.microsoft.com/office/drawing/2014/main" id="{DC30E565-2F4E-408C-B325-FE262F337181}"/>
              </a:ext>
            </a:extLst>
          </p:cNvPr>
          <p:cNvSpPr>
            <a:spLocks xmlns:a="http://schemas.openxmlformats.org/drawingml/2006/main" noGrp="1"/>
          </p:cNvSpPr>
          <p:nvPr/>
        </p:nvSpPr>
        <p:spPr>
          <a:xfrm xmlns:a="http://schemas.openxmlformats.org/drawingml/2006/main">
            <a:off x="1562100" y="3228975"/>
            <a:ext cx="742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36E"/>
                </a:solidFill>
                <a:latin typeface="Aptos"/>
                <a:ea typeface="Aptos"/>
                <a:cs typeface="Aptos"/>
              </a:defRPr>
            </a:pPr>
            <a:r>
              <a:rPr sz="1425" b="0">
                <a:solidFill>
                  <a:srgbClr val="66736E"/>
                </a:solidFill>
                <a:latin typeface="Aptos"/>
                <a:ea typeface="Aptos"/>
                <a:cs typeface="Aptos"/>
              </a:rPr>
              <a:t>Plan changes need exact credits, usage lines and regional tax.</a:t>
            </a:r>
          </a:p>
        </p:txBody>
      </p:sp>
      <p:sp>
        <p:nvSpPr>
          <p:cNvPr id="12" name="">
            <a:extLst xmlns:a="http://schemas.openxmlformats.org/drawingml/2006/main">
              <a:ext uri="{FF2B5EF4-FFF2-40B4-BE49-F238E27FC236}">
                <a16:creationId xmlns:a16="http://schemas.microsoft.com/office/drawing/2014/main" id="{6AE9D1BA-5C82-4AB3-A50D-35F11D6F357F}"/>
              </a:ext>
            </a:extLst>
          </p:cNvPr>
          <p:cNvSpPr>
            <a:spLocks xmlns:a="http://schemas.openxmlformats.org/drawingml/2006/main" noGrp="1"/>
          </p:cNvSpPr>
          <p:nvPr/>
        </p:nvSpPr>
        <p:spPr>
          <a:xfrm xmlns:a="http://schemas.openxmlformats.org/drawingml/2006/main">
            <a:off x="1562100" y="3743325"/>
            <a:ext cx="9334500" cy="9525"/>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sp>
        <p:nvSpPr>
          <p:cNvPr id="13" name="">
            <a:extLst xmlns:a="http://schemas.openxmlformats.org/drawingml/2006/main">
              <a:ext uri="{FF2B5EF4-FFF2-40B4-BE49-F238E27FC236}">
                <a16:creationId xmlns:a16="http://schemas.microsoft.com/office/drawing/2014/main" id="{B1E9DB5D-9840-42FF-A78F-9BF00154515C}"/>
              </a:ext>
            </a:extLst>
          </p:cNvPr>
          <p:cNvSpPr>
            <a:spLocks xmlns:a="http://schemas.openxmlformats.org/drawingml/2006/main" noGrp="1"/>
          </p:cNvSpPr>
          <p:nvPr/>
        </p:nvSpPr>
        <p:spPr>
          <a:xfrm xmlns:a="http://schemas.openxmlformats.org/drawingml/2006/main">
            <a:off x="742950" y="3933825"/>
            <a:ext cx="590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C65F4B"/>
                </a:solidFill>
                <a:latin typeface="Aptos"/>
                <a:ea typeface="Aptos"/>
                <a:cs typeface="Aptos"/>
              </a:defRPr>
            </a:pPr>
            <a:r>
              <a:rPr sz="2025" b="1">
                <a:solidFill>
                  <a:srgbClr val="C65F4B"/>
                </a:solidFill>
                <a:latin typeface="Aptos"/>
                <a:ea typeface="Aptos"/>
                <a:cs typeface="Aptos"/>
              </a:rPr>
              <a:t>03</a:t>
            </a:r>
          </a:p>
        </p:txBody>
      </p:sp>
      <p:sp>
        <p:nvSpPr>
          <p:cNvPr id="14" name="">
            <a:extLst xmlns:a="http://schemas.openxmlformats.org/drawingml/2006/main">
              <a:ext uri="{FF2B5EF4-FFF2-40B4-BE49-F238E27FC236}">
                <a16:creationId xmlns:a16="http://schemas.microsoft.com/office/drawing/2014/main" id="{F5CD0DA6-1C24-497B-A6E1-BF254FAC4E50}"/>
              </a:ext>
            </a:extLst>
          </p:cNvPr>
          <p:cNvSpPr>
            <a:spLocks xmlns:a="http://schemas.openxmlformats.org/drawingml/2006/main" noGrp="1"/>
          </p:cNvSpPr>
          <p:nvPr/>
        </p:nvSpPr>
        <p:spPr>
          <a:xfrm xmlns:a="http://schemas.openxmlformats.org/drawingml/2006/main">
            <a:off x="1562100" y="38957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08251E"/>
                </a:solidFill>
                <a:latin typeface="Aptos"/>
                <a:ea typeface="Aptos"/>
                <a:cs typeface="Aptos"/>
              </a:defRPr>
            </a:pPr>
            <a:r>
              <a:rPr sz="1950" b="1">
                <a:solidFill>
                  <a:srgbClr val="08251E"/>
                </a:solidFill>
                <a:latin typeface="Aptos"/>
                <a:ea typeface="Aptos"/>
                <a:cs typeface="Aptos"/>
              </a:rPr>
              <a:t>Payment recovery</a:t>
            </a:r>
          </a:p>
        </p:txBody>
      </p:sp>
      <p:sp>
        <p:nvSpPr>
          <p:cNvPr id="15" name="">
            <a:extLst xmlns:a="http://schemas.openxmlformats.org/drawingml/2006/main">
              <a:ext uri="{FF2B5EF4-FFF2-40B4-BE49-F238E27FC236}">
                <a16:creationId xmlns:a16="http://schemas.microsoft.com/office/drawing/2014/main" id="{54F7E4EE-CCAD-4AF6-A6C1-43E93300BD2B}"/>
              </a:ext>
            </a:extLst>
          </p:cNvPr>
          <p:cNvSpPr>
            <a:spLocks xmlns:a="http://schemas.openxmlformats.org/drawingml/2006/main" noGrp="1"/>
          </p:cNvSpPr>
          <p:nvPr/>
        </p:nvSpPr>
        <p:spPr>
          <a:xfrm xmlns:a="http://schemas.openxmlformats.org/drawingml/2006/main">
            <a:off x="1562100" y="4219575"/>
            <a:ext cx="742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36E"/>
                </a:solidFill>
                <a:latin typeface="Aptos"/>
                <a:ea typeface="Aptos"/>
                <a:cs typeface="Aptos"/>
              </a:defRPr>
            </a:pPr>
            <a:r>
              <a:rPr sz="1425" b="0">
                <a:solidFill>
                  <a:srgbClr val="66736E"/>
                </a:solidFill>
                <a:latin typeface="Aptos"/>
                <a:ea typeface="Aptos"/>
                <a:cs typeface="Aptos"/>
              </a:rPr>
              <a:t>One decline must trigger a bounded retry policy without duplicate charges.</a:t>
            </a:r>
          </a:p>
        </p:txBody>
      </p:sp>
      <p:sp>
        <p:nvSpPr>
          <p:cNvPr id="16" name="">
            <a:extLst xmlns:a="http://schemas.openxmlformats.org/drawingml/2006/main">
              <a:ext uri="{FF2B5EF4-FFF2-40B4-BE49-F238E27FC236}">
                <a16:creationId xmlns:a16="http://schemas.microsoft.com/office/drawing/2014/main" id="{4CDCED85-B21D-4F3C-BEF2-D3B56CD7554D}"/>
              </a:ext>
            </a:extLst>
          </p:cNvPr>
          <p:cNvSpPr>
            <a:spLocks xmlns:a="http://schemas.openxmlformats.org/drawingml/2006/main" noGrp="1"/>
          </p:cNvSpPr>
          <p:nvPr/>
        </p:nvSpPr>
        <p:spPr>
          <a:xfrm xmlns:a="http://schemas.openxmlformats.org/drawingml/2006/main">
            <a:off x="1562100" y="4733925"/>
            <a:ext cx="9334500" cy="9525"/>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sp>
        <p:nvSpPr>
          <p:cNvPr id="17" name="">
            <a:extLst xmlns:a="http://schemas.openxmlformats.org/drawingml/2006/main">
              <a:ext uri="{FF2B5EF4-FFF2-40B4-BE49-F238E27FC236}">
                <a16:creationId xmlns:a16="http://schemas.microsoft.com/office/drawing/2014/main" id="{2445CF7C-F5EC-4697-8D14-D965E3D04729}"/>
              </a:ext>
            </a:extLst>
          </p:cNvPr>
          <p:cNvSpPr>
            <a:spLocks xmlns:a="http://schemas.openxmlformats.org/drawingml/2006/main" noGrp="1"/>
          </p:cNvSpPr>
          <p:nvPr/>
        </p:nvSpPr>
        <p:spPr>
          <a:xfrm xmlns:a="http://schemas.openxmlformats.org/drawingml/2006/main">
            <a:off x="742950" y="4924425"/>
            <a:ext cx="590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A6C52"/>
                </a:solidFill>
                <a:latin typeface="Aptos"/>
                <a:ea typeface="Aptos"/>
                <a:cs typeface="Aptos"/>
              </a:defRPr>
            </a:pPr>
            <a:r>
              <a:rPr sz="2025" b="1">
                <a:solidFill>
                  <a:srgbClr val="1A6C52"/>
                </a:solidFill>
                <a:latin typeface="Aptos"/>
                <a:ea typeface="Aptos"/>
                <a:cs typeface="Aptos"/>
              </a:rPr>
              <a:t>04</a:t>
            </a:r>
          </a:p>
        </p:txBody>
      </p:sp>
      <p:sp>
        <p:nvSpPr>
          <p:cNvPr id="18" name="">
            <a:extLst xmlns:a="http://schemas.openxmlformats.org/drawingml/2006/main">
              <a:ext uri="{FF2B5EF4-FFF2-40B4-BE49-F238E27FC236}">
                <a16:creationId xmlns:a16="http://schemas.microsoft.com/office/drawing/2014/main" id="{0CA3F456-2F08-46A8-97EF-45CC675E1689}"/>
              </a:ext>
            </a:extLst>
          </p:cNvPr>
          <p:cNvSpPr>
            <a:spLocks xmlns:a="http://schemas.openxmlformats.org/drawingml/2006/main" noGrp="1"/>
          </p:cNvSpPr>
          <p:nvPr/>
        </p:nvSpPr>
        <p:spPr>
          <a:xfrm xmlns:a="http://schemas.openxmlformats.org/drawingml/2006/main">
            <a:off x="1562100" y="48863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08251E"/>
                </a:solidFill>
                <a:latin typeface="Aptos"/>
                <a:ea typeface="Aptos"/>
                <a:cs typeface="Aptos"/>
              </a:defRPr>
            </a:pPr>
            <a:r>
              <a:rPr sz="1950" b="1">
                <a:solidFill>
                  <a:srgbClr val="08251E"/>
                </a:solidFill>
                <a:latin typeface="Aptos"/>
                <a:ea typeface="Aptos"/>
                <a:cs typeface="Aptos"/>
              </a:rPr>
              <a:t>Financial evidence</a:t>
            </a:r>
          </a:p>
        </p:txBody>
      </p:sp>
      <p:sp>
        <p:nvSpPr>
          <p:cNvPr id="19" name="">
            <a:extLst xmlns:a="http://schemas.openxmlformats.org/drawingml/2006/main">
              <a:ext uri="{FF2B5EF4-FFF2-40B4-BE49-F238E27FC236}">
                <a16:creationId xmlns:a16="http://schemas.microsoft.com/office/drawing/2014/main" id="{65325125-798E-4846-8054-C8A383D255F7}"/>
              </a:ext>
            </a:extLst>
          </p:cNvPr>
          <p:cNvSpPr>
            <a:spLocks xmlns:a="http://schemas.openxmlformats.org/drawingml/2006/main" noGrp="1"/>
          </p:cNvSpPr>
          <p:nvPr/>
        </p:nvSpPr>
        <p:spPr>
          <a:xfrm xmlns:a="http://schemas.openxmlformats.org/drawingml/2006/main">
            <a:off x="1562100" y="5210175"/>
            <a:ext cx="742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36E"/>
                </a:solidFill>
                <a:latin typeface="Aptos"/>
                <a:ea typeface="Aptos"/>
                <a:cs typeface="Aptos"/>
              </a:defRPr>
            </a:pPr>
            <a:r>
              <a:rPr sz="1425" b="0">
                <a:solidFill>
                  <a:srgbClr val="66736E"/>
                </a:solidFill>
                <a:latin typeface="Aptos"/>
                <a:ea typeface="Aptos"/>
                <a:cs typeface="Aptos"/>
              </a:rPr>
              <a:t>Every payment, refund and state change needs a durable audit trail.</a:t>
            </a:r>
          </a:p>
        </p:txBody>
      </p:sp>
      <p:sp>
        <p:nvSpPr>
          <p:cNvPr id="20" name="">
            <a:extLst xmlns:a="http://schemas.openxmlformats.org/drawingml/2006/main">
              <a:ext uri="{FF2B5EF4-FFF2-40B4-BE49-F238E27FC236}">
                <a16:creationId xmlns:a16="http://schemas.microsoft.com/office/drawing/2014/main" id="{E634EAB6-8ED7-47E9-B16E-FC48F51F1100}"/>
              </a:ext>
            </a:extLst>
          </p:cNvPr>
          <p:cNvSpPr>
            <a:spLocks xmlns:a="http://schemas.openxmlformats.org/drawingml/2006/main" noGrp="1"/>
          </p:cNvSpPr>
          <p:nvPr/>
        </p:nvSpPr>
        <p:spPr>
          <a:xfrm xmlns:a="http://schemas.openxmlformats.org/drawingml/2006/main">
            <a:off x="1562100" y="5724525"/>
            <a:ext cx="9334500" cy="9525"/>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sp>
        <p:nvSpPr>
          <p:cNvPr id="21" name="">
            <a:extLst xmlns:a="http://schemas.openxmlformats.org/drawingml/2006/main">
              <a:ext uri="{FF2B5EF4-FFF2-40B4-BE49-F238E27FC236}">
                <a16:creationId xmlns:a16="http://schemas.microsoft.com/office/drawing/2014/main" id="{5016230F-20C3-4318-A868-180576291181}"/>
              </a:ext>
            </a:extLst>
          </p:cNvPr>
          <p:cNvSpPr>
            <a:spLocks xmlns:a="http://schemas.openxmlformats.org/drawingml/2006/main" noGrp="1"/>
          </p:cNvSpPr>
          <p:nvPr/>
        </p:nvSpPr>
        <p:spPr>
          <a:xfrm xmlns:a="http://schemas.openxmlformats.org/drawingml/2006/main">
            <a:off x="9477375" y="2000250"/>
            <a:ext cx="1571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1A6C52"/>
                </a:solidFill>
                <a:latin typeface="Aptos"/>
                <a:ea typeface="Aptos"/>
                <a:cs typeface="Aptos"/>
              </a:defRPr>
            </a:pPr>
            <a:r>
              <a:rPr sz="1200" b="1">
                <a:solidFill>
                  <a:srgbClr val="1A6C52"/>
                </a:solidFill>
                <a:latin typeface="Aptos"/>
                <a:ea typeface="Aptos"/>
                <a:cs typeface="Aptos"/>
              </a:rPr>
              <a:t>Outcome</a:t>
            </a:r>
          </a:p>
        </p:txBody>
      </p:sp>
      <p:sp>
        <p:nvSpPr>
          <p:cNvPr id="22" name="">
            <a:extLst xmlns:a="http://schemas.openxmlformats.org/drawingml/2006/main">
              <a:ext uri="{FF2B5EF4-FFF2-40B4-BE49-F238E27FC236}">
                <a16:creationId xmlns:a16="http://schemas.microsoft.com/office/drawing/2014/main" id="{B8FCA55D-D27E-41CD-AA6B-15BE537FBB78}"/>
              </a:ext>
            </a:extLst>
          </p:cNvPr>
          <p:cNvSpPr>
            <a:spLocks xmlns:a="http://schemas.openxmlformats.org/drawingml/2006/main" noGrp="1"/>
          </p:cNvSpPr>
          <p:nvPr/>
        </p:nvSpPr>
        <p:spPr>
          <a:xfrm xmlns:a="http://schemas.openxmlformats.org/drawingml/2006/main">
            <a:off x="9477375" y="2362200"/>
            <a:ext cx="195262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8251E"/>
                </a:solidFill>
                <a:latin typeface="Aptos"/>
                <a:ea typeface="Aptos"/>
                <a:cs typeface="Aptos"/>
              </a:defRPr>
            </a:pPr>
            <a:r>
              <a:rPr sz="2175" b="1">
                <a:solidFill>
                  <a:srgbClr val="08251E"/>
                </a:solidFill>
                <a:latin typeface="Aptos"/>
                <a:ea typeface="Aptos"/>
                <a:cs typeface="Aptos"/>
              </a:rPr>
              <a:t>A single operating record from plan setup through collection, recovery, refund and compliance.</a:t>
            </a:r>
          </a:p>
        </p:txBody>
      </p:sp>
      <p:sp>
        <p:nvSpPr>
          <p:cNvPr id="23" name="">
            <a:extLst xmlns:a="http://schemas.openxmlformats.org/drawingml/2006/main">
              <a:ext uri="{FF2B5EF4-FFF2-40B4-BE49-F238E27FC236}">
                <a16:creationId xmlns:a16="http://schemas.microsoft.com/office/drawing/2014/main" id="{00BA5345-355E-4FBD-B738-F1A626B1A782}"/>
              </a:ext>
            </a:extLst>
          </p:cNvPr>
          <p:cNvSpPr>
            <a:spLocks xmlns:a="http://schemas.openxmlformats.org/drawingml/2006/main" noGrp="1"/>
          </p:cNvSpPr>
          <p:nvPr/>
        </p:nvSpPr>
        <p:spPr>
          <a:xfrm xmlns:a="http://schemas.openxmlformats.org/drawingml/2006/main">
            <a:off x="628650" y="647700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1A6C52"/>
                </a:solidFill>
                <a:latin typeface="Aptos"/>
                <a:ea typeface="Aptos"/>
                <a:cs typeface="Aptos"/>
              </a:defRPr>
            </a:pPr>
            <a:r>
              <a:rPr sz="975" b="1">
                <a:solidFill>
                  <a:srgbClr val="1A6C52"/>
                </a:solidFill>
                <a:latin typeface="Aptos"/>
                <a:ea typeface="Aptos"/>
                <a:cs typeface="Aptos"/>
              </a:rPr>
              <a:t>BillFlow AI</a:t>
            </a:r>
          </a:p>
        </p:txBody>
      </p:sp>
      <p:sp>
        <p:nvSpPr>
          <p:cNvPr id="24" name="">
            <a:extLst xmlns:a="http://schemas.openxmlformats.org/drawingml/2006/main">
              <a:ext uri="{FF2B5EF4-FFF2-40B4-BE49-F238E27FC236}">
                <a16:creationId xmlns:a16="http://schemas.microsoft.com/office/drawing/2014/main" id="{35C68378-1FCA-4B61-AC86-E515B6AE85F6}"/>
              </a:ext>
            </a:extLst>
          </p:cNvPr>
          <p:cNvSpPr>
            <a:spLocks xmlns:a="http://schemas.openxmlformats.org/drawingml/2006/main" noGrp="1"/>
          </p:cNvSpPr>
          <p:nvPr/>
        </p:nvSpPr>
        <p:spPr>
          <a:xfrm xmlns:a="http://schemas.openxmlformats.org/drawingml/2006/main">
            <a:off x="11049000" y="6477000"/>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66736E"/>
                </a:solidFill>
                <a:latin typeface="Aptos"/>
                <a:ea typeface="Aptos"/>
                <a:cs typeface="Aptos"/>
              </a:defRPr>
            </a:pPr>
            <a:r>
              <a:rPr sz="975" b="1">
                <a:solidFill>
                  <a:srgbClr val="66736E"/>
                </a:solidFill>
                <a:latin typeface="Aptos"/>
                <a:ea typeface="Aptos"/>
                <a:cs typeface="Aptos"/>
              </a:rPr>
              <a:t>02</a:t>
            </a:r>
          </a:p>
        </p:txBody>
      </p:sp>
    </p:spTree>
    <p:extLst>
      <p:ext uri="{BB962C8B-B14F-4D97-AF65-F5344CB8AC3E}">
        <p14:creationId xmlns:p14="http://schemas.microsoft.com/office/powerpoint/2010/main" val="1521570269"/>
      </p:ext>
    </p:extLst>
  </p:cSld>
</p:sld>
</file>

<file path=ppt/slides/slide3.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10C4022-1243-4606-A204-A2CD4AF215CD}"/>
              </a:ext>
            </a:extLst>
          </p:cNvPr>
          <p:cNvSpPr>
            <a:spLocks xmlns:a="http://schemas.openxmlformats.org/drawingml/2006/main" noGrp="1"/>
          </p:cNvSpPr>
          <p:nvPr/>
        </p:nvSpPr>
        <p:spPr>
          <a:xfrm xmlns:a="http://schemas.openxmlformats.org/drawingml/2006/main">
            <a:off x="628650" y="28575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1A6C52"/>
                </a:solidFill>
                <a:latin typeface="Aptos"/>
                <a:ea typeface="Aptos"/>
                <a:cs typeface="Aptos"/>
              </a:defRPr>
            </a:pPr>
            <a:r>
              <a:rPr sz="1200" b="1">
                <a:solidFill>
                  <a:srgbClr val="1A6C52"/>
                </a:solidFill>
                <a:latin typeface="Aptos"/>
                <a:ea typeface="Aptos"/>
                <a:cs typeface="Aptos"/>
              </a:rPr>
              <a:t>03</a:t>
            </a:r>
          </a:p>
        </p:txBody>
      </p:sp>
      <p:sp>
        <p:nvSpPr>
          <p:cNvPr id="2" name="">
            <a:extLst xmlns:a="http://schemas.openxmlformats.org/drawingml/2006/main">
              <a:ext uri="{FF2B5EF4-FFF2-40B4-BE49-F238E27FC236}">
                <a16:creationId xmlns:a16="http://schemas.microsoft.com/office/drawing/2014/main" id="{3B8F5B6A-24BF-4860-AD2A-135D9CAF5611}"/>
              </a:ext>
            </a:extLst>
          </p:cNvPr>
          <p:cNvSpPr>
            <a:spLocks xmlns:a="http://schemas.openxmlformats.org/drawingml/2006/main" noGrp="1"/>
          </p:cNvSpPr>
          <p:nvPr/>
        </p:nvSpPr>
        <p:spPr>
          <a:xfrm xmlns:a="http://schemas.openxmlformats.org/drawingml/2006/main">
            <a:off x="628650" y="60960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251E"/>
                </a:solidFill>
                <a:latin typeface="Aptos"/>
                <a:ea typeface="Aptos"/>
                <a:cs typeface="Aptos"/>
              </a:defRPr>
            </a:pPr>
            <a:r>
              <a:rPr sz="3225" b="1">
                <a:solidFill>
                  <a:srgbClr val="08251E"/>
                </a:solidFill>
                <a:latin typeface="Aptos"/>
                <a:ea typeface="Aptos"/>
                <a:cs typeface="Aptos"/>
              </a:rPr>
              <a:t>Two product areas share one trust boundary</a:t>
            </a:r>
          </a:p>
        </p:txBody>
      </p:sp>
      <p:sp>
        <p:nvSpPr>
          <p:cNvPr id="3" name="">
            <a:extLst xmlns:a="http://schemas.openxmlformats.org/drawingml/2006/main">
              <a:ext uri="{FF2B5EF4-FFF2-40B4-BE49-F238E27FC236}">
                <a16:creationId xmlns:a16="http://schemas.microsoft.com/office/drawing/2014/main" id="{DAA4C416-68BC-4256-A6E6-9EC5EEE46D4A}"/>
              </a:ext>
            </a:extLst>
          </p:cNvPr>
          <p:cNvSpPr>
            <a:spLocks xmlns:a="http://schemas.openxmlformats.org/drawingml/2006/main" noGrp="1"/>
          </p:cNvSpPr>
          <p:nvPr/>
        </p:nvSpPr>
        <p:spPr>
          <a:xfrm xmlns:a="http://schemas.openxmlformats.org/drawingml/2006/main">
            <a:off x="647700" y="114300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36E"/>
                </a:solidFill>
                <a:latin typeface="Aptos"/>
                <a:ea typeface="Aptos"/>
                <a:cs typeface="Aptos"/>
              </a:defRPr>
            </a:pPr>
            <a:r>
              <a:rPr sz="1425" b="0">
                <a:solidFill>
                  <a:srgbClr val="66736E"/>
                </a:solidFill>
                <a:latin typeface="Aptos"/>
                <a:ea typeface="Aptos"/>
                <a:cs typeface="Aptos"/>
              </a:rPr>
              <a:t>Personal guidance and SaaS billing remain distinct, but they use the same accountable foundation</a:t>
            </a:r>
          </a:p>
        </p:txBody>
      </p:sp>
      <p:sp>
        <p:nvSpPr>
          <p:cNvPr id="4" name="">
            <a:extLst xmlns:a="http://schemas.openxmlformats.org/drawingml/2006/main">
              <a:ext uri="{FF2B5EF4-FFF2-40B4-BE49-F238E27FC236}">
                <a16:creationId xmlns:a16="http://schemas.microsoft.com/office/drawing/2014/main" id="{8778995A-087B-44E3-8EDC-A2EBEDD65AAC}"/>
              </a:ext>
            </a:extLst>
          </p:cNvPr>
          <p:cNvSpPr>
            <a:spLocks xmlns:a="http://schemas.openxmlformats.org/drawingml/2006/main" noGrp="1"/>
          </p:cNvSpPr>
          <p:nvPr/>
        </p:nvSpPr>
        <p:spPr>
          <a:xfrm xmlns:a="http://schemas.openxmlformats.org/drawingml/2006/main">
            <a:off x="628650" y="1581150"/>
            <a:ext cx="10934700" cy="19050"/>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sp>
        <p:nvSpPr>
          <p:cNvPr id="5" name="">
            <a:extLst xmlns:a="http://schemas.openxmlformats.org/drawingml/2006/main">
              <a:ext uri="{FF2B5EF4-FFF2-40B4-BE49-F238E27FC236}">
                <a16:creationId xmlns:a16="http://schemas.microsoft.com/office/drawing/2014/main" id="{AFAA4056-11D9-4D6F-9938-F4763D563A7C}"/>
              </a:ext>
            </a:extLst>
          </p:cNvPr>
          <p:cNvSpPr>
            <a:spLocks xmlns:a="http://schemas.openxmlformats.org/drawingml/2006/main" noGrp="1"/>
          </p:cNvSpPr>
          <p:nvPr/>
        </p:nvSpPr>
        <p:spPr>
          <a:xfrm xmlns:a="http://schemas.openxmlformats.org/drawingml/2006/main">
            <a:off x="742950" y="1952625"/>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1A6C52"/>
                </a:solidFill>
                <a:latin typeface="Aptos"/>
                <a:ea typeface="Aptos"/>
                <a:cs typeface="Aptos"/>
              </a:defRPr>
            </a:pPr>
            <a:r>
              <a:rPr sz="1275" b="1">
                <a:solidFill>
                  <a:srgbClr val="1A6C52"/>
                </a:solidFill>
                <a:latin typeface="Aptos"/>
                <a:ea typeface="Aptos"/>
                <a:cs typeface="Aptos"/>
              </a:rPr>
              <a:t>PERSONAL FINANCE OS</a:t>
            </a:r>
          </a:p>
        </p:txBody>
      </p:sp>
      <p:sp>
        <p:nvSpPr>
          <p:cNvPr id="6" name="">
            <a:extLst xmlns:a="http://schemas.openxmlformats.org/drawingml/2006/main">
              <a:ext uri="{FF2B5EF4-FFF2-40B4-BE49-F238E27FC236}">
                <a16:creationId xmlns:a16="http://schemas.microsoft.com/office/drawing/2014/main" id="{924DCA4F-57C8-4208-898D-4C2BAEAF74B5}"/>
              </a:ext>
            </a:extLst>
          </p:cNvPr>
          <p:cNvSpPr>
            <a:spLocks xmlns:a="http://schemas.openxmlformats.org/drawingml/2006/main" noGrp="1"/>
          </p:cNvSpPr>
          <p:nvPr/>
        </p:nvSpPr>
        <p:spPr>
          <a:xfrm xmlns:a="http://schemas.openxmlformats.org/drawingml/2006/main">
            <a:off x="742950" y="23812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08251E"/>
                </a:solidFill>
                <a:latin typeface="Aptos"/>
                <a:ea typeface="Aptos"/>
                <a:cs typeface="Aptos"/>
              </a:defRPr>
            </a:pPr>
            <a:r>
              <a:rPr sz="2400" b="1">
                <a:solidFill>
                  <a:srgbClr val="08251E"/>
                </a:solidFill>
                <a:latin typeface="Aptos"/>
                <a:ea typeface="Aptos"/>
                <a:cs typeface="Aptos"/>
              </a:rPr>
              <a:t>User obligations</a:t>
            </a:r>
          </a:p>
        </p:txBody>
      </p:sp>
      <p:sp>
        <p:nvSpPr>
          <p:cNvPr id="7" name="">
            <a:extLst xmlns:a="http://schemas.openxmlformats.org/drawingml/2006/main">
              <a:ext uri="{FF2B5EF4-FFF2-40B4-BE49-F238E27FC236}">
                <a16:creationId xmlns:a16="http://schemas.microsoft.com/office/drawing/2014/main" id="{B0FB98D0-A492-498B-8675-EEB2A6E75E8A}"/>
              </a:ext>
            </a:extLst>
          </p:cNvPr>
          <p:cNvSpPr>
            <a:spLocks xmlns:a="http://schemas.openxmlformats.org/drawingml/2006/main" noGrp="1"/>
          </p:cNvSpPr>
          <p:nvPr/>
        </p:nvSpPr>
        <p:spPr>
          <a:xfrm xmlns:a="http://schemas.openxmlformats.org/drawingml/2006/main">
            <a:off x="742950" y="2905125"/>
            <a:ext cx="4191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66736E"/>
                </a:solidFill>
                <a:latin typeface="Aptos"/>
                <a:ea typeface="Aptos"/>
                <a:cs typeface="Aptos"/>
              </a:defRPr>
            </a:pPr>
            <a:r>
              <a:rPr sz="1575" b="0">
                <a:solidFill>
                  <a:srgbClr val="66736E"/>
                </a:solidFill>
                <a:latin typeface="Aptos"/>
                <a:ea typeface="Aptos"/>
                <a:cs typeface="Aptos"/>
              </a:rPr>
              <a:t>Bills across home, health, education and entertainment</a:t>
            </a:r>
          </a:p>
          <a:p xmlns:a="http://schemas.openxmlformats.org/drawingml/2006/main">
            <a:r>
              <a:t/>
            </a:r>
          </a:p>
          <a:p xmlns:a="http://schemas.openxmlformats.org/drawingml/2006/main">
            <a:pPr algn="l">
              <a:defRPr sz="1575" b="0">
                <a:solidFill>
                  <a:srgbClr val="66736E"/>
                </a:solidFill>
                <a:latin typeface="Aptos"/>
                <a:ea typeface="Aptos"/>
                <a:cs typeface="Aptos"/>
              </a:defRPr>
            </a:pPr>
            <a:r>
              <a:rPr sz="1575" b="0">
                <a:solidFill>
                  <a:srgbClr val="66736E"/>
                </a:solidFill>
                <a:latin typeface="Aptos"/>
                <a:ea typeface="Aptos"/>
                <a:cs typeface="Aptos"/>
              </a:rPr>
              <a:t>SafePay cash flow forecast and reserve protection</a:t>
            </a:r>
          </a:p>
          <a:p xmlns:a="http://schemas.openxmlformats.org/drawingml/2006/main">
            <a:r>
              <a:t/>
            </a:r>
          </a:p>
          <a:p xmlns:a="http://schemas.openxmlformats.org/drawingml/2006/main">
            <a:pPr algn="l">
              <a:defRPr sz="1575" b="0">
                <a:solidFill>
                  <a:srgbClr val="66736E"/>
                </a:solidFill>
                <a:latin typeface="Aptos"/>
                <a:ea typeface="Aptos"/>
                <a:cs typeface="Aptos"/>
              </a:defRPr>
            </a:pPr>
            <a:r>
              <a:rPr sz="1575" b="0">
                <a:solidFill>
                  <a:srgbClr val="66736E"/>
                </a:solidFill>
                <a:latin typeface="Aptos"/>
                <a:ea typeface="Aptos"/>
                <a:cs typeface="Aptos"/>
              </a:rPr>
              <a:t>Browse Apps advice based on balance and deadlines</a:t>
            </a:r>
          </a:p>
          <a:p xmlns:a="http://schemas.openxmlformats.org/drawingml/2006/main">
            <a:r>
              <a:t/>
            </a:r>
          </a:p>
          <a:p xmlns:a="http://schemas.openxmlformats.org/drawingml/2006/main">
            <a:pPr algn="l">
              <a:defRPr sz="1575" b="0">
                <a:solidFill>
                  <a:srgbClr val="66736E"/>
                </a:solidFill>
                <a:latin typeface="Aptos"/>
                <a:ea typeface="Aptos"/>
                <a:cs typeface="Aptos"/>
              </a:defRPr>
            </a:pPr>
            <a:r>
              <a:rPr sz="1575" b="0">
                <a:solidFill>
                  <a:srgbClr val="66736E"/>
                </a:solidFill>
                <a:latin typeface="Aptos"/>
                <a:ea typeface="Aptos"/>
                <a:cs typeface="Aptos"/>
              </a:rPr>
              <a:t>Explicit user authorization before settlement</a:t>
            </a:r>
          </a:p>
        </p:txBody>
      </p:sp>
      <p:sp>
        <p:nvSpPr>
          <p:cNvPr id="8" name="">
            <a:extLst xmlns:a="http://schemas.openxmlformats.org/drawingml/2006/main">
              <a:ext uri="{FF2B5EF4-FFF2-40B4-BE49-F238E27FC236}">
                <a16:creationId xmlns:a16="http://schemas.microsoft.com/office/drawing/2014/main" id="{4C068097-BB61-4681-87E9-1A5C560143C2}"/>
              </a:ext>
            </a:extLst>
          </p:cNvPr>
          <p:cNvSpPr>
            <a:spLocks xmlns:a="http://schemas.openxmlformats.org/drawingml/2006/main" noGrp="1"/>
          </p:cNvSpPr>
          <p:nvPr/>
        </p:nvSpPr>
        <p:spPr>
          <a:xfrm xmlns:a="http://schemas.openxmlformats.org/drawingml/2006/main">
            <a:off x="5905500" y="1952625"/>
            <a:ext cx="19050" cy="0"/>
          </a:xfrm>
          <a:prstGeom xmlns:a="http://schemas.openxmlformats.org/drawingml/2006/main" prst="rect">
            <a:avLst/>
          </a:prstGeom>
          <a:ln xmlns:a="http://schemas.openxmlformats.org/drawingml/2006/main" w="0"/>
        </p:spPr>
      </p:sp>
      <p:sp>
        <p:nvSpPr>
          <p:cNvPr id="9" name="">
            <a:extLst xmlns:a="http://schemas.openxmlformats.org/drawingml/2006/main">
              <a:ext uri="{FF2B5EF4-FFF2-40B4-BE49-F238E27FC236}">
                <a16:creationId xmlns:a16="http://schemas.microsoft.com/office/drawing/2014/main" id="{844E709C-C14B-473B-A9C3-2B49CC1A2B19}"/>
              </a:ext>
            </a:extLst>
          </p:cNvPr>
          <p:cNvSpPr>
            <a:spLocks xmlns:a="http://schemas.openxmlformats.org/drawingml/2006/main" noGrp="1"/>
          </p:cNvSpPr>
          <p:nvPr/>
        </p:nvSpPr>
        <p:spPr>
          <a:xfrm xmlns:a="http://schemas.openxmlformats.org/drawingml/2006/main">
            <a:off x="6572250" y="1952625"/>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1A6C52"/>
                </a:solidFill>
                <a:latin typeface="Aptos"/>
                <a:ea typeface="Aptos"/>
                <a:cs typeface="Aptos"/>
              </a:defRPr>
            </a:pPr>
            <a:r>
              <a:rPr sz="1275" b="1">
                <a:solidFill>
                  <a:srgbClr val="1A6C52"/>
                </a:solidFill>
                <a:latin typeface="Aptos"/>
                <a:ea typeface="Aptos"/>
                <a:cs typeface="Aptos"/>
              </a:rPr>
              <a:t>BILLING OPERATIONS</a:t>
            </a:r>
          </a:p>
        </p:txBody>
      </p:sp>
      <p:sp>
        <p:nvSpPr>
          <p:cNvPr id="10" name="">
            <a:extLst xmlns:a="http://schemas.openxmlformats.org/drawingml/2006/main">
              <a:ext uri="{FF2B5EF4-FFF2-40B4-BE49-F238E27FC236}">
                <a16:creationId xmlns:a16="http://schemas.microsoft.com/office/drawing/2014/main" id="{AABA67B1-6D71-47A6-BB1B-D79D6AE05AB4}"/>
              </a:ext>
            </a:extLst>
          </p:cNvPr>
          <p:cNvSpPr>
            <a:spLocks xmlns:a="http://schemas.openxmlformats.org/drawingml/2006/main" noGrp="1"/>
          </p:cNvSpPr>
          <p:nvPr/>
        </p:nvSpPr>
        <p:spPr>
          <a:xfrm xmlns:a="http://schemas.openxmlformats.org/drawingml/2006/main">
            <a:off x="6572250" y="238125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08251E"/>
                </a:solidFill>
                <a:latin typeface="Aptos"/>
                <a:ea typeface="Aptos"/>
                <a:cs typeface="Aptos"/>
              </a:defRPr>
            </a:pPr>
            <a:r>
              <a:rPr sz="2400" b="1">
                <a:solidFill>
                  <a:srgbClr val="08251E"/>
                </a:solidFill>
                <a:latin typeface="Aptos"/>
                <a:ea typeface="Aptos"/>
                <a:cs typeface="Aptos"/>
              </a:rPr>
              <a:t>Operator control plane</a:t>
            </a:r>
          </a:p>
        </p:txBody>
      </p:sp>
      <p:sp>
        <p:nvSpPr>
          <p:cNvPr id="11" name="">
            <a:extLst xmlns:a="http://schemas.openxmlformats.org/drawingml/2006/main">
              <a:ext uri="{FF2B5EF4-FFF2-40B4-BE49-F238E27FC236}">
                <a16:creationId xmlns:a16="http://schemas.microsoft.com/office/drawing/2014/main" id="{E85357C5-9148-4565-86B4-3D473B82368A}"/>
              </a:ext>
            </a:extLst>
          </p:cNvPr>
          <p:cNvSpPr>
            <a:spLocks xmlns:a="http://schemas.openxmlformats.org/drawingml/2006/main" noGrp="1"/>
          </p:cNvSpPr>
          <p:nvPr/>
        </p:nvSpPr>
        <p:spPr>
          <a:xfrm xmlns:a="http://schemas.openxmlformats.org/drawingml/2006/main">
            <a:off x="6572250" y="2905125"/>
            <a:ext cx="4476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66736E"/>
                </a:solidFill>
                <a:latin typeface="Aptos"/>
                <a:ea typeface="Aptos"/>
                <a:cs typeface="Aptos"/>
              </a:defRPr>
            </a:pPr>
            <a:r>
              <a:rPr sz="1575" b="0">
                <a:solidFill>
                  <a:srgbClr val="66736E"/>
                </a:solidFill>
                <a:latin typeface="Aptos"/>
                <a:ea typeface="Aptos"/>
                <a:cs typeface="Aptos"/>
              </a:rPr>
              <a:t>Plan catalog and customer accounts</a:t>
            </a:r>
          </a:p>
          <a:p xmlns:a="http://schemas.openxmlformats.org/drawingml/2006/main">
            <a:r>
              <a:t/>
            </a:r>
          </a:p>
          <a:p xmlns:a="http://schemas.openxmlformats.org/drawingml/2006/main">
            <a:pPr algn="l">
              <a:defRPr sz="1575" b="0">
                <a:solidFill>
                  <a:srgbClr val="66736E"/>
                </a:solidFill>
                <a:latin typeface="Aptos"/>
                <a:ea typeface="Aptos"/>
                <a:cs typeface="Aptos"/>
              </a:defRPr>
            </a:pPr>
            <a:r>
              <a:rPr sz="1575" b="0">
                <a:solidFill>
                  <a:srgbClr val="66736E"/>
                </a:solidFill>
                <a:latin typeface="Aptos"/>
                <a:ea typeface="Aptos"/>
                <a:cs typeface="Aptos"/>
              </a:rPr>
              <a:t>Subscription lifecycle and billing periods</a:t>
            </a:r>
          </a:p>
          <a:p xmlns:a="http://schemas.openxmlformats.org/drawingml/2006/main">
            <a:r>
              <a:t/>
            </a:r>
          </a:p>
          <a:p xmlns:a="http://schemas.openxmlformats.org/drawingml/2006/main">
            <a:pPr algn="l">
              <a:defRPr sz="1575" b="0">
                <a:solidFill>
                  <a:srgbClr val="66736E"/>
                </a:solidFill>
                <a:latin typeface="Aptos"/>
                <a:ea typeface="Aptos"/>
                <a:cs typeface="Aptos"/>
              </a:defRPr>
            </a:pPr>
            <a:r>
              <a:rPr sz="1575" b="0">
                <a:solidFill>
                  <a:srgbClr val="66736E"/>
                </a:solidFill>
                <a:latin typeface="Aptos"/>
                <a:ea typeface="Aptos"/>
                <a:cs typeface="Aptos"/>
              </a:rPr>
              <a:t>Invoices, tax, payment events and refunds</a:t>
            </a:r>
          </a:p>
          <a:p xmlns:a="http://schemas.openxmlformats.org/drawingml/2006/main">
            <a:r>
              <a:t/>
            </a:r>
          </a:p>
          <a:p xmlns:a="http://schemas.openxmlformats.org/drawingml/2006/main">
            <a:pPr algn="l">
              <a:defRPr sz="1575" b="0">
                <a:solidFill>
                  <a:srgbClr val="66736E"/>
                </a:solidFill>
                <a:latin typeface="Aptos"/>
                <a:ea typeface="Aptos"/>
                <a:cs typeface="Aptos"/>
              </a:defRPr>
            </a:pPr>
            <a:r>
              <a:rPr sz="1575" b="0">
                <a:solidFill>
                  <a:srgbClr val="66736E"/>
                </a:solidFill>
                <a:latin typeface="Aptos"/>
                <a:ea typeface="Aptos"/>
                <a:cs typeface="Aptos"/>
              </a:rPr>
              <a:t>Retry queue, analytics, PDFs and audit evidence</a:t>
            </a:r>
          </a:p>
        </p:txBody>
      </p:sp>
      <p:sp>
        <p:nvSpPr>
          <p:cNvPr id="12" name="">
            <a:extLst xmlns:a="http://schemas.openxmlformats.org/drawingml/2006/main">
              <a:ext uri="{FF2B5EF4-FFF2-40B4-BE49-F238E27FC236}">
                <a16:creationId xmlns:a16="http://schemas.microsoft.com/office/drawing/2014/main" id="{5ED6D339-B8B5-4B22-A977-DE87B6008A1F}"/>
              </a:ext>
            </a:extLst>
          </p:cNvPr>
          <p:cNvSpPr>
            <a:spLocks xmlns:a="http://schemas.openxmlformats.org/drawingml/2006/main" noGrp="1"/>
          </p:cNvSpPr>
          <p:nvPr/>
        </p:nvSpPr>
        <p:spPr>
          <a:xfrm xmlns:a="http://schemas.openxmlformats.org/drawingml/2006/main">
            <a:off x="1666875" y="5791200"/>
            <a:ext cx="8858250" cy="457200"/>
          </a:xfrm>
          <a:prstGeom xmlns:a="http://schemas.openxmlformats.org/drawingml/2006/main" prst="roundRect">
            <a:avLst>
              <a:gd name="adj" fmla="val 25000"/>
            </a:avLst>
          </a:prstGeom>
          <a:solidFill xmlns:a="http://schemas.openxmlformats.org/drawingml/2006/main">
            <a:srgbClr val="E7F1EB"/>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0D2E25"/>
                </a:solidFill>
                <a:latin typeface="Aptos"/>
                <a:ea typeface="Aptos"/>
                <a:cs typeface="Aptos"/>
              </a:defRPr>
            </a:pPr>
            <a:r>
              <a:rPr sz="1650" b="1">
                <a:solidFill>
                  <a:srgbClr val="0D2E25"/>
                </a:solidFill>
                <a:latin typeface="Aptos"/>
                <a:ea typeface="Aptos"/>
                <a:cs typeface="Aptos"/>
              </a:rPr>
              <a:t>Shared rule: AI can recommend and automation can schedule. A verified provider event or explicit user approval changes financial state.</a:t>
            </a:r>
          </a:p>
        </p:txBody>
      </p:sp>
      <p:sp>
        <p:nvSpPr>
          <p:cNvPr id="13" name="">
            <a:extLst xmlns:a="http://schemas.openxmlformats.org/drawingml/2006/main">
              <a:ext uri="{FF2B5EF4-FFF2-40B4-BE49-F238E27FC236}">
                <a16:creationId xmlns:a16="http://schemas.microsoft.com/office/drawing/2014/main" id="{EF51DADD-18C3-4C61-9509-086A8263FB75}"/>
              </a:ext>
            </a:extLst>
          </p:cNvPr>
          <p:cNvSpPr>
            <a:spLocks xmlns:a="http://schemas.openxmlformats.org/drawingml/2006/main" noGrp="1"/>
          </p:cNvSpPr>
          <p:nvPr/>
        </p:nvSpPr>
        <p:spPr>
          <a:xfrm xmlns:a="http://schemas.openxmlformats.org/drawingml/2006/main">
            <a:off x="628650" y="647700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1A6C52"/>
                </a:solidFill>
                <a:latin typeface="Aptos"/>
                <a:ea typeface="Aptos"/>
                <a:cs typeface="Aptos"/>
              </a:defRPr>
            </a:pPr>
            <a:r>
              <a:rPr sz="975" b="1">
                <a:solidFill>
                  <a:srgbClr val="1A6C52"/>
                </a:solidFill>
                <a:latin typeface="Aptos"/>
                <a:ea typeface="Aptos"/>
                <a:cs typeface="Aptos"/>
              </a:rPr>
              <a:t>BillFlow AI</a:t>
            </a:r>
          </a:p>
        </p:txBody>
      </p:sp>
      <p:sp>
        <p:nvSpPr>
          <p:cNvPr id="14" name="">
            <a:extLst xmlns:a="http://schemas.openxmlformats.org/drawingml/2006/main">
              <a:ext uri="{FF2B5EF4-FFF2-40B4-BE49-F238E27FC236}">
                <a16:creationId xmlns:a16="http://schemas.microsoft.com/office/drawing/2014/main" id="{0CFD3C7C-5291-47FC-9AC8-270C053D4064}"/>
              </a:ext>
            </a:extLst>
          </p:cNvPr>
          <p:cNvSpPr>
            <a:spLocks xmlns:a="http://schemas.openxmlformats.org/drawingml/2006/main" noGrp="1"/>
          </p:cNvSpPr>
          <p:nvPr/>
        </p:nvSpPr>
        <p:spPr>
          <a:xfrm xmlns:a="http://schemas.openxmlformats.org/drawingml/2006/main">
            <a:off x="11049000" y="6477000"/>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66736E"/>
                </a:solidFill>
                <a:latin typeface="Aptos"/>
                <a:ea typeface="Aptos"/>
                <a:cs typeface="Aptos"/>
              </a:defRPr>
            </a:pPr>
            <a:r>
              <a:rPr sz="975" b="1">
                <a:solidFill>
                  <a:srgbClr val="66736E"/>
                </a:solidFill>
                <a:latin typeface="Aptos"/>
                <a:ea typeface="Aptos"/>
                <a:cs typeface="Aptos"/>
              </a:rPr>
              <a:t>03</a:t>
            </a:r>
          </a:p>
        </p:txBody>
      </p:sp>
    </p:spTree>
    <p:extLst>
      <p:ext uri="{BB962C8B-B14F-4D97-AF65-F5344CB8AC3E}">
        <p14:creationId xmlns:p14="http://schemas.microsoft.com/office/powerpoint/2010/main" val="10642278"/>
      </p:ext>
    </p:extLst>
  </p:cSld>
</p:sld>
</file>

<file path=ppt/slides/slide4.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cxnSp>
        <p:nvCxnSpPr>
          <p:cNvPr id="24" name=""/>
          <p:cNvCxnSpPr>
            <a:stCxn xmlns:a="http://schemas.openxmlformats.org/drawingml/2006/main" id="12" idx="3"/>
            <a:endCxn xmlns:a="http://schemas.openxmlformats.org/drawingml/2006/main" id="7" idx="2"/>
          </p:cNvCxnSpPr>
          <p:nvPr/>
        </p:nvCxnSpPr>
        <p:spPr>
          <a:xfrm xmlns:a="http://schemas.openxmlformats.org/drawingml/2006/main" flipV="1">
            <a:off x="9858375" y="3286125"/>
            <a:ext cx="714375" cy="1866900"/>
          </a:xfrm>
          <a:prstGeom xmlns:a="http://schemas.openxmlformats.org/drawingml/2006/main" prst="bentConnector2">
            <a:avLst/>
          </a:prstGeom>
          <a:ln xmlns:a="http://schemas.openxmlformats.org/drawingml/2006/main" w="19050">
            <a:solidFill>
              <a:srgbClr val="1A6C52"/>
            </a:solidFill>
            <a:prstDash val="solid"/>
            <a:tailEnd type="triangle" w="sm" len="sm"/>
          </a:ln>
        </p:spPr>
      </p:cxnSp>
      <p:cxnSp>
        <p:nvCxnSpPr>
          <p:cNvPr id="25" name=""/>
          <p:cNvCxnSpPr>
            <a:stCxn xmlns:a="http://schemas.openxmlformats.org/drawingml/2006/main" id="11" idx="3"/>
            <a:endCxn xmlns:a="http://schemas.openxmlformats.org/drawingml/2006/main" id="12" idx="1"/>
          </p:cNvCxnSpPr>
          <p:nvPr/>
        </p:nvCxnSpPr>
        <p:spPr>
          <a:xfrm xmlns:a="http://schemas.openxmlformats.org/drawingml/2006/main">
            <a:off x="7000875" y="5153025"/>
            <a:ext cx="857250" cy="0"/>
          </a:xfrm>
          <a:prstGeom xmlns:a="http://schemas.openxmlformats.org/drawingml/2006/main" prst="straightConnector1">
            <a:avLst/>
          </a:prstGeom>
          <a:ln xmlns:a="http://schemas.openxmlformats.org/drawingml/2006/main" w="19050">
            <a:solidFill>
              <a:srgbClr val="1A6C52"/>
            </a:solidFill>
            <a:prstDash val="solid"/>
            <a:tailEnd type="triangle" w="sm" len="sm"/>
          </a:ln>
        </p:spPr>
      </p:cxnSp>
      <p:cxnSp>
        <p:nvCxnSpPr>
          <p:cNvPr id="26" name=""/>
          <p:cNvCxnSpPr>
            <a:stCxn xmlns:a="http://schemas.openxmlformats.org/drawingml/2006/main" id="10" idx="3"/>
            <a:endCxn xmlns:a="http://schemas.openxmlformats.org/drawingml/2006/main" id="11" idx="1"/>
          </p:cNvCxnSpPr>
          <p:nvPr/>
        </p:nvCxnSpPr>
        <p:spPr>
          <a:xfrm xmlns:a="http://schemas.openxmlformats.org/drawingml/2006/main">
            <a:off x="4476750" y="5153025"/>
            <a:ext cx="857250" cy="0"/>
          </a:xfrm>
          <a:prstGeom xmlns:a="http://schemas.openxmlformats.org/drawingml/2006/main" prst="straightConnector1">
            <a:avLst/>
          </a:prstGeom>
          <a:ln xmlns:a="http://schemas.openxmlformats.org/drawingml/2006/main" w="19050">
            <a:solidFill>
              <a:srgbClr val="1A6C52"/>
            </a:solidFill>
            <a:prstDash val="solid"/>
            <a:tailEnd type="triangle" w="sm" len="sm"/>
          </a:ln>
        </p:spPr>
      </p:cxnSp>
      <p:cxnSp>
        <p:nvCxnSpPr>
          <p:cNvPr id="27" name=""/>
          <p:cNvCxnSpPr>
            <a:stCxn xmlns:a="http://schemas.openxmlformats.org/drawingml/2006/main" id="8" idx="2"/>
            <a:endCxn xmlns:a="http://schemas.openxmlformats.org/drawingml/2006/main" id="6" idx="0"/>
          </p:cNvCxnSpPr>
          <p:nvPr/>
        </p:nvCxnSpPr>
        <p:spPr>
          <a:xfrm xmlns:a="http://schemas.openxmlformats.org/drawingml/2006/main" flipH="1" flipV="1">
            <a:off x="4238625" y="2152650"/>
            <a:ext cx="2952750" cy="600075"/>
          </a:xfrm>
          <a:prstGeom xmlns:a="http://schemas.openxmlformats.org/drawingml/2006/main" prst="bentConnector4">
            <a:avLst/>
          </a:prstGeom>
          <a:ln xmlns:a="http://schemas.openxmlformats.org/drawingml/2006/main" w="19050">
            <a:solidFill>
              <a:srgbClr val="1A6C52"/>
            </a:solidFill>
            <a:prstDash val="solid"/>
            <a:tailEnd type="triangle" w="sm" len="sm"/>
          </a:ln>
        </p:spPr>
      </p:cxnSp>
      <p:cxnSp>
        <p:nvCxnSpPr>
          <p:cNvPr id="28" name=""/>
          <p:cNvCxnSpPr>
            <a:stCxn xmlns:a="http://schemas.openxmlformats.org/drawingml/2006/main" id="6" idx="3"/>
            <a:endCxn xmlns:a="http://schemas.openxmlformats.org/drawingml/2006/main" id="9" idx="1"/>
          </p:cNvCxnSpPr>
          <p:nvPr/>
        </p:nvCxnSpPr>
        <p:spPr>
          <a:xfrm xmlns:a="http://schemas.openxmlformats.org/drawingml/2006/main">
            <a:off x="5238750" y="2833688"/>
            <a:ext cx="1047750" cy="738188"/>
          </a:xfrm>
          <a:prstGeom xmlns:a="http://schemas.openxmlformats.org/drawingml/2006/main" prst="bentConnector3">
            <a:avLst>
              <a:gd name="adj1" fmla="val 50000"/>
            </a:avLst>
          </a:prstGeom>
          <a:ln xmlns:a="http://schemas.openxmlformats.org/drawingml/2006/main" w="19050">
            <a:solidFill>
              <a:srgbClr val="1A6C52"/>
            </a:solidFill>
            <a:prstDash val="solid"/>
            <a:tailEnd type="triangle" w="sm" len="sm"/>
          </a:ln>
        </p:spPr>
      </p:cxnSp>
      <p:cxnSp>
        <p:nvCxnSpPr>
          <p:cNvPr id="29" name=""/>
          <p:cNvCxnSpPr>
            <a:stCxn xmlns:a="http://schemas.openxmlformats.org/drawingml/2006/main" id="6" idx="3"/>
            <a:endCxn xmlns:a="http://schemas.openxmlformats.org/drawingml/2006/main" id="8" idx="1"/>
          </p:cNvCxnSpPr>
          <p:nvPr/>
        </p:nvCxnSpPr>
        <p:spPr>
          <a:xfrm xmlns:a="http://schemas.openxmlformats.org/drawingml/2006/main" flipV="1">
            <a:off x="5238750" y="2143125"/>
            <a:ext cx="1047750" cy="690563"/>
          </a:xfrm>
          <a:prstGeom xmlns:a="http://schemas.openxmlformats.org/drawingml/2006/main" prst="bentConnector3">
            <a:avLst>
              <a:gd name="adj1" fmla="val 50000"/>
            </a:avLst>
          </a:prstGeom>
          <a:ln xmlns:a="http://schemas.openxmlformats.org/drawingml/2006/main" w="19050">
            <a:solidFill>
              <a:srgbClr val="E3A13B"/>
            </a:solidFill>
            <a:prstDash val="solid"/>
            <a:tailEnd type="triangle" w="sm" len="sm"/>
          </a:ln>
        </p:spPr>
      </p:cxnSp>
      <p:cxnSp>
        <p:nvCxnSpPr>
          <p:cNvPr id="30" name=""/>
          <p:cNvCxnSpPr>
            <a:stCxn xmlns:a="http://schemas.openxmlformats.org/drawingml/2006/main" id="6" idx="3"/>
            <a:endCxn xmlns:a="http://schemas.openxmlformats.org/drawingml/2006/main" id="7" idx="1"/>
          </p:cNvCxnSpPr>
          <p:nvPr/>
        </p:nvCxnSpPr>
        <p:spPr>
          <a:xfrm xmlns:a="http://schemas.openxmlformats.org/drawingml/2006/main">
            <a:off x="5238750" y="2833688"/>
            <a:ext cx="4381500" cy="0"/>
          </a:xfrm>
          <a:prstGeom xmlns:a="http://schemas.openxmlformats.org/drawingml/2006/main" prst="straightConnector1">
            <a:avLst/>
          </a:prstGeom>
          <a:ln xmlns:a="http://schemas.openxmlformats.org/drawingml/2006/main" w="19050">
            <a:solidFill>
              <a:srgbClr val="1A6C52"/>
            </a:solidFill>
            <a:prstDash val="solid"/>
            <a:tailEnd type="triangle" w="sm" len="sm"/>
          </a:ln>
        </p:spPr>
      </p:cxn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2476500" y="2833688"/>
            <a:ext cx="762000" cy="0"/>
          </a:xfrm>
          <a:prstGeom xmlns:a="http://schemas.openxmlformats.org/drawingml/2006/main" prst="straightConnector1">
            <a:avLst/>
          </a:prstGeom>
          <a:ln xmlns:a="http://schemas.openxmlformats.org/drawingml/2006/main" w="19050">
            <a:solidFill>
              <a:srgbClr val="1A6C52"/>
            </a:solidFill>
            <a:prstDash val="solid"/>
            <a:tailEnd type="triangle" w="sm" len="sm"/>
          </a:ln>
        </p:spPr>
      </p:cxnSp>
      <p:sp>
        <p:nvSpPr>
          <p:cNvPr id="32" name="">
            <a:extLst xmlns:a="http://schemas.openxmlformats.org/drawingml/2006/main">
              <a:ext uri="{FF2B5EF4-FFF2-40B4-BE49-F238E27FC236}">
                <a16:creationId xmlns:a16="http://schemas.microsoft.com/office/drawing/2014/main" id="{003AB53F-D3E5-4C7B-A9B9-A39DDFFA98D2}"/>
              </a:ext>
            </a:extLst>
          </p:cNvPr>
          <p:cNvSpPr>
            <a:spLocks xmlns:a="http://schemas.openxmlformats.org/drawingml/2006/main" noGrp="1"/>
          </p:cNvSpPr>
          <p:nvPr/>
        </p:nvSpPr>
        <p:spPr>
          <a:xfrm xmlns:a="http://schemas.openxmlformats.org/drawingml/2006/main">
            <a:off x="628650" y="28575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1A6C52"/>
                </a:solidFill>
                <a:latin typeface="Aptos"/>
                <a:ea typeface="Aptos"/>
                <a:cs typeface="Aptos"/>
              </a:defRPr>
            </a:pPr>
            <a:r>
              <a:rPr sz="1200" b="1">
                <a:solidFill>
                  <a:srgbClr val="1A6C52"/>
                </a:solidFill>
                <a:latin typeface="Aptos"/>
                <a:ea typeface="Aptos"/>
                <a:cs typeface="Aptos"/>
              </a:rPr>
              <a:t>04</a:t>
            </a:r>
          </a:p>
        </p:txBody>
      </p:sp>
      <p:sp>
        <p:nvSpPr>
          <p:cNvPr id="2" name="">
            <a:extLst xmlns:a="http://schemas.openxmlformats.org/drawingml/2006/main">
              <a:ext uri="{FF2B5EF4-FFF2-40B4-BE49-F238E27FC236}">
                <a16:creationId xmlns:a16="http://schemas.microsoft.com/office/drawing/2014/main" id="{5C213C7A-B88B-4FF8-B803-2D88C7A229D6}"/>
              </a:ext>
            </a:extLst>
          </p:cNvPr>
          <p:cNvSpPr>
            <a:spLocks xmlns:a="http://schemas.openxmlformats.org/drawingml/2006/main" noGrp="1"/>
          </p:cNvSpPr>
          <p:nvPr/>
        </p:nvSpPr>
        <p:spPr>
          <a:xfrm xmlns:a="http://schemas.openxmlformats.org/drawingml/2006/main">
            <a:off x="628650" y="60960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251E"/>
                </a:solidFill>
                <a:latin typeface="Aptos"/>
                <a:ea typeface="Aptos"/>
                <a:cs typeface="Aptos"/>
              </a:defRPr>
            </a:pPr>
            <a:r>
              <a:rPr sz="3225" b="1">
                <a:solidFill>
                  <a:srgbClr val="08251E"/>
                </a:solidFill>
                <a:latin typeface="Aptos"/>
                <a:ea typeface="Aptos"/>
                <a:cs typeface="Aptos"/>
              </a:rPr>
              <a:t>Runtime architecture</a:t>
            </a:r>
          </a:p>
        </p:txBody>
      </p:sp>
      <p:sp>
        <p:nvSpPr>
          <p:cNvPr id="3" name="">
            <a:extLst xmlns:a="http://schemas.openxmlformats.org/drawingml/2006/main">
              <a:ext uri="{FF2B5EF4-FFF2-40B4-BE49-F238E27FC236}">
                <a16:creationId xmlns:a16="http://schemas.microsoft.com/office/drawing/2014/main" id="{8BF8889A-C7A5-4397-B683-D26E483A93A7}"/>
              </a:ext>
            </a:extLst>
          </p:cNvPr>
          <p:cNvSpPr>
            <a:spLocks xmlns:a="http://schemas.openxmlformats.org/drawingml/2006/main" noGrp="1"/>
          </p:cNvSpPr>
          <p:nvPr/>
        </p:nvSpPr>
        <p:spPr>
          <a:xfrm xmlns:a="http://schemas.openxmlformats.org/drawingml/2006/main">
            <a:off x="647700" y="114300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36E"/>
                </a:solidFill>
                <a:latin typeface="Aptos"/>
                <a:ea typeface="Aptos"/>
                <a:cs typeface="Aptos"/>
              </a:defRPr>
            </a:pPr>
            <a:r>
              <a:rPr sz="1425" b="0">
                <a:solidFill>
                  <a:srgbClr val="66736E"/>
                </a:solidFill>
                <a:latin typeface="Aptos"/>
                <a:ea typeface="Aptos"/>
                <a:cs typeface="Aptos"/>
              </a:rPr>
              <a:t>FastAPI owns business rules while Celery executes scheduled work</a:t>
            </a:r>
          </a:p>
        </p:txBody>
      </p:sp>
      <p:sp>
        <p:nvSpPr>
          <p:cNvPr id="4" name="">
            <a:extLst xmlns:a="http://schemas.openxmlformats.org/drawingml/2006/main">
              <a:ext uri="{FF2B5EF4-FFF2-40B4-BE49-F238E27FC236}">
                <a16:creationId xmlns:a16="http://schemas.microsoft.com/office/drawing/2014/main" id="{3FF73E22-CBE8-4B7D-9EF8-384EA57E4D91}"/>
              </a:ext>
            </a:extLst>
          </p:cNvPr>
          <p:cNvSpPr>
            <a:spLocks xmlns:a="http://schemas.openxmlformats.org/drawingml/2006/main" noGrp="1"/>
          </p:cNvSpPr>
          <p:nvPr/>
        </p:nvSpPr>
        <p:spPr>
          <a:xfrm xmlns:a="http://schemas.openxmlformats.org/drawingml/2006/main">
            <a:off x="628650" y="1581150"/>
            <a:ext cx="10934700" cy="19050"/>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sp>
        <p:nvSpPr>
          <p:cNvPr id="5" name="">
            <a:extLst xmlns:a="http://schemas.openxmlformats.org/drawingml/2006/main">
              <a:ext uri="{FF2B5EF4-FFF2-40B4-BE49-F238E27FC236}">
                <a16:creationId xmlns:a16="http://schemas.microsoft.com/office/drawing/2014/main" id="{19926691-A9E3-440A-A9F3-8ACAF8C89097}"/>
              </a:ext>
            </a:extLst>
          </p:cNvPr>
          <p:cNvSpPr>
            <a:spLocks xmlns:a="http://schemas.openxmlformats.org/drawingml/2006/main" noGrp="1"/>
          </p:cNvSpPr>
          <p:nvPr/>
        </p:nvSpPr>
        <p:spPr>
          <a:xfrm xmlns:a="http://schemas.openxmlformats.org/drawingml/2006/main">
            <a:off x="666750" y="2381250"/>
            <a:ext cx="1809750" cy="904875"/>
          </a:xfrm>
          <a:prstGeom xmlns:a="http://schemas.openxmlformats.org/drawingml/2006/main" prst="roundRect">
            <a:avLst>
              <a:gd name="adj" fmla="val 14737"/>
            </a:avLst>
          </a:prstGeom>
          <a:solidFill xmlns:a="http://schemas.openxmlformats.org/drawingml/2006/main">
            <a:srgbClr val="FFFFFF"/>
          </a:solidFill>
          <a:ln xmlns:a="http://schemas.openxmlformats.org/drawingml/2006/main" w="9525">
            <a:solidFill>
              <a:srgbClr val="D7E1DA"/>
            </a:solidFill>
            <a:prstDash val="solid"/>
          </a:ln>
        </p:spPr>
        <p:txBody>
          <a:bodyPr xmlns:a="http://schemas.openxmlformats.org/drawingml/2006/main" anchor="ctr">
            <a:noAutofit/>
          </a:bodyPr>
          <a:lstStyle xmlns:a="http://schemas.openxmlformats.org/drawingml/2006/main"/>
          <a:p xmlns:a="http://schemas.openxmlformats.org/drawingml/2006/main">
            <a:pPr algn="ctr">
              <a:defRPr sz="1500" b="1">
                <a:solidFill>
                  <a:srgbClr val="08251E"/>
                </a:solidFill>
                <a:latin typeface="Aptos"/>
                <a:ea typeface="Aptos"/>
                <a:cs typeface="Aptos"/>
              </a:defRPr>
            </a:pPr>
            <a:r>
              <a:rPr sz="1500" b="1">
                <a:solidFill>
                  <a:srgbClr val="08251E"/>
                </a:solidFill>
                <a:latin typeface="Aptos"/>
                <a:ea typeface="Aptos"/>
                <a:cs typeface="Aptos"/>
              </a:rPr>
              <a:t>React + Vite</a:t>
            </a:r>
          </a:p>
          <a:p xmlns:a="http://schemas.openxmlformats.org/drawingml/2006/main">
            <a:pPr algn="ctr">
              <a:defRPr sz="1500" b="1">
                <a:solidFill>
                  <a:srgbClr val="08251E"/>
                </a:solidFill>
                <a:latin typeface="Aptos"/>
                <a:ea typeface="Aptos"/>
                <a:cs typeface="Aptos"/>
              </a:defRPr>
            </a:pPr>
            <a:r>
              <a:rPr sz="1500" b="1">
                <a:solidFill>
                  <a:srgbClr val="08251E"/>
                </a:solidFill>
                <a:latin typeface="Aptos"/>
                <a:ea typeface="Aptos"/>
                <a:cs typeface="Aptos"/>
              </a:rPr>
              <a:t>Recharts</a:t>
            </a:r>
          </a:p>
        </p:txBody>
      </p:sp>
      <p:sp>
        <p:nvSpPr>
          <p:cNvPr id="6" name="">
            <a:extLst xmlns:a="http://schemas.openxmlformats.org/drawingml/2006/main">
              <a:ext uri="{FF2B5EF4-FFF2-40B4-BE49-F238E27FC236}">
                <a16:creationId xmlns:a16="http://schemas.microsoft.com/office/drawing/2014/main" id="{BADE60C4-75B0-44B5-A84A-AD56D79AECE9}"/>
              </a:ext>
            </a:extLst>
          </p:cNvPr>
          <p:cNvSpPr>
            <a:spLocks xmlns:a="http://schemas.openxmlformats.org/drawingml/2006/main" noGrp="1"/>
          </p:cNvSpPr>
          <p:nvPr/>
        </p:nvSpPr>
        <p:spPr>
          <a:xfrm xmlns:a="http://schemas.openxmlformats.org/drawingml/2006/main">
            <a:off x="3238500" y="2381250"/>
            <a:ext cx="2000250" cy="904875"/>
          </a:xfrm>
          <a:prstGeom xmlns:a="http://schemas.openxmlformats.org/drawingml/2006/main" prst="roundRect">
            <a:avLst>
              <a:gd name="adj" fmla="val 14737"/>
            </a:avLst>
          </a:prstGeom>
          <a:solidFill xmlns:a="http://schemas.openxmlformats.org/drawingml/2006/main">
            <a:srgbClr val="77E6BB"/>
          </a:solidFill>
          <a:ln xmlns:a="http://schemas.openxmlformats.org/drawingml/2006/main" w="9525">
            <a:solidFill>
              <a:srgbClr val="D7E1DA"/>
            </a:solidFill>
            <a:prstDash val="solid"/>
          </a:ln>
        </p:spPr>
        <p:txBody>
          <a:bodyPr xmlns:a="http://schemas.openxmlformats.org/drawingml/2006/main" anchor="ctr">
            <a:noAutofit/>
          </a:bodyPr>
          <a:lstStyle xmlns:a="http://schemas.openxmlformats.org/drawingml/2006/main"/>
          <a:p xmlns:a="http://schemas.openxmlformats.org/drawingml/2006/main">
            <a:pPr algn="ctr">
              <a:defRPr sz="1500" b="1">
                <a:solidFill>
                  <a:srgbClr val="08251E"/>
                </a:solidFill>
                <a:latin typeface="Aptos"/>
                <a:ea typeface="Aptos"/>
                <a:cs typeface="Aptos"/>
              </a:defRPr>
            </a:pPr>
            <a:r>
              <a:rPr sz="1500" b="1">
                <a:solidFill>
                  <a:srgbClr val="08251E"/>
                </a:solidFill>
                <a:latin typeface="Aptos"/>
                <a:ea typeface="Aptos"/>
                <a:cs typeface="Aptos"/>
              </a:rPr>
              <a:t>FastAPI</a:t>
            </a:r>
          </a:p>
          <a:p xmlns:a="http://schemas.openxmlformats.org/drawingml/2006/main">
            <a:pPr algn="ctr">
              <a:defRPr sz="1500" b="1">
                <a:solidFill>
                  <a:srgbClr val="08251E"/>
                </a:solidFill>
                <a:latin typeface="Aptos"/>
                <a:ea typeface="Aptos"/>
                <a:cs typeface="Aptos"/>
              </a:defRPr>
            </a:pPr>
            <a:r>
              <a:rPr sz="1500" b="1">
                <a:solidFill>
                  <a:srgbClr val="08251E"/>
                </a:solidFill>
                <a:latin typeface="Aptos"/>
                <a:ea typeface="Aptos"/>
                <a:cs typeface="Aptos"/>
              </a:rPr>
              <a:t>OpenAPI + JWT</a:t>
            </a:r>
          </a:p>
        </p:txBody>
      </p:sp>
      <p:sp>
        <p:nvSpPr>
          <p:cNvPr id="7" name="">
            <a:extLst xmlns:a="http://schemas.openxmlformats.org/drawingml/2006/main">
              <a:ext uri="{FF2B5EF4-FFF2-40B4-BE49-F238E27FC236}">
                <a16:creationId xmlns:a16="http://schemas.microsoft.com/office/drawing/2014/main" id="{2D4A2EC2-D601-44F5-91A8-EC7FEEAFDDA3}"/>
              </a:ext>
            </a:extLst>
          </p:cNvPr>
          <p:cNvSpPr>
            <a:spLocks xmlns:a="http://schemas.openxmlformats.org/drawingml/2006/main" noGrp="1"/>
          </p:cNvSpPr>
          <p:nvPr/>
        </p:nvSpPr>
        <p:spPr>
          <a:xfrm xmlns:a="http://schemas.openxmlformats.org/drawingml/2006/main">
            <a:off x="9620250" y="2381250"/>
            <a:ext cx="1905000" cy="904875"/>
          </a:xfrm>
          <a:prstGeom xmlns:a="http://schemas.openxmlformats.org/drawingml/2006/main" prst="roundRect">
            <a:avLst>
              <a:gd name="adj" fmla="val 14737"/>
            </a:avLst>
          </a:prstGeom>
          <a:solidFill xmlns:a="http://schemas.openxmlformats.org/drawingml/2006/main">
            <a:srgbClr val="FFFFFF"/>
          </a:solidFill>
          <a:ln xmlns:a="http://schemas.openxmlformats.org/drawingml/2006/main" w="9525">
            <a:solidFill>
              <a:srgbClr val="D7E1DA"/>
            </a:solidFill>
            <a:prstDash val="solid"/>
          </a:ln>
        </p:spPr>
        <p:txBody>
          <a:bodyPr xmlns:a="http://schemas.openxmlformats.org/drawingml/2006/main" anchor="ctr">
            <a:noAutofit/>
          </a:bodyPr>
          <a:lstStyle xmlns:a="http://schemas.openxmlformats.org/drawingml/2006/main"/>
          <a:p xmlns:a="http://schemas.openxmlformats.org/drawingml/2006/main">
            <a:pPr algn="ctr">
              <a:defRPr sz="1500" b="1">
                <a:solidFill>
                  <a:srgbClr val="08251E"/>
                </a:solidFill>
                <a:latin typeface="Aptos"/>
                <a:ea typeface="Aptos"/>
                <a:cs typeface="Aptos"/>
              </a:defRPr>
            </a:pPr>
            <a:r>
              <a:rPr sz="1500" b="1">
                <a:solidFill>
                  <a:srgbClr val="08251E"/>
                </a:solidFill>
                <a:latin typeface="Aptos"/>
                <a:ea typeface="Aptos"/>
                <a:cs typeface="Aptos"/>
              </a:rPr>
              <a:t>PostgreSQL</a:t>
            </a:r>
          </a:p>
          <a:p xmlns:a="http://schemas.openxmlformats.org/drawingml/2006/main">
            <a:pPr algn="ctr">
              <a:defRPr sz="1500" b="1">
                <a:solidFill>
                  <a:srgbClr val="08251E"/>
                </a:solidFill>
                <a:latin typeface="Aptos"/>
                <a:ea typeface="Aptos"/>
                <a:cs typeface="Aptos"/>
              </a:defRPr>
            </a:pPr>
            <a:r>
              <a:rPr sz="1500" b="1">
                <a:solidFill>
                  <a:srgbClr val="08251E"/>
                </a:solidFill>
                <a:latin typeface="Aptos"/>
                <a:ea typeface="Aptos"/>
                <a:cs typeface="Aptos"/>
              </a:rPr>
              <a:t>Alembic schema</a:t>
            </a:r>
          </a:p>
        </p:txBody>
      </p:sp>
      <p:sp>
        <p:nvSpPr>
          <p:cNvPr id="8" name="">
            <a:extLst xmlns:a="http://schemas.openxmlformats.org/drawingml/2006/main">
              <a:ext uri="{FF2B5EF4-FFF2-40B4-BE49-F238E27FC236}">
                <a16:creationId xmlns:a16="http://schemas.microsoft.com/office/drawing/2014/main" id="{1D9E777B-D66E-44DA-A9B5-6CC8A0FE0ECE}"/>
              </a:ext>
            </a:extLst>
          </p:cNvPr>
          <p:cNvSpPr>
            <a:spLocks xmlns:a="http://schemas.openxmlformats.org/drawingml/2006/main" noGrp="1"/>
          </p:cNvSpPr>
          <p:nvPr/>
        </p:nvSpPr>
        <p:spPr>
          <a:xfrm xmlns:a="http://schemas.openxmlformats.org/drawingml/2006/main">
            <a:off x="6286500" y="1762125"/>
            <a:ext cx="1809750" cy="762000"/>
          </a:xfrm>
          <a:prstGeom xmlns:a="http://schemas.openxmlformats.org/drawingml/2006/main" prst="roundRect">
            <a:avLst>
              <a:gd name="adj" fmla="val 17500"/>
            </a:avLst>
          </a:prstGeom>
          <a:solidFill xmlns:a="http://schemas.openxmlformats.org/drawingml/2006/main">
            <a:srgbClr val="FFF2D4"/>
          </a:solidFill>
          <a:ln xmlns:a="http://schemas.openxmlformats.org/drawingml/2006/main" w="9525">
            <a:solidFill>
              <a:srgbClr val="D7E1DA"/>
            </a:solidFill>
            <a:prstDash val="solid"/>
          </a:ln>
        </p:spPr>
        <p:txBody>
          <a:bodyPr xmlns:a="http://schemas.openxmlformats.org/drawingml/2006/main" anchor="ctr">
            <a:noAutofit/>
          </a:bodyPr>
          <a:lstStyle xmlns:a="http://schemas.openxmlformats.org/drawingml/2006/main"/>
          <a:p xmlns:a="http://schemas.openxmlformats.org/drawingml/2006/main">
            <a:pPr algn="ctr">
              <a:defRPr sz="1500" b="1">
                <a:solidFill>
                  <a:srgbClr val="08251E"/>
                </a:solidFill>
                <a:latin typeface="Aptos"/>
                <a:ea typeface="Aptos"/>
                <a:cs typeface="Aptos"/>
              </a:defRPr>
            </a:pPr>
            <a:r>
              <a:rPr sz="1500" b="1">
                <a:solidFill>
                  <a:srgbClr val="08251E"/>
                </a:solidFill>
                <a:latin typeface="Aptos"/>
                <a:ea typeface="Aptos"/>
                <a:cs typeface="Aptos"/>
              </a:rPr>
              <a:t>Signed mock</a:t>
            </a:r>
          </a:p>
          <a:p xmlns:a="http://schemas.openxmlformats.org/drawingml/2006/main">
            <a:pPr algn="ctr">
              <a:defRPr sz="1500" b="1">
                <a:solidFill>
                  <a:srgbClr val="08251E"/>
                </a:solidFill>
                <a:latin typeface="Aptos"/>
                <a:ea typeface="Aptos"/>
                <a:cs typeface="Aptos"/>
              </a:defRPr>
            </a:pPr>
            <a:r>
              <a:rPr sz="1500" b="1">
                <a:solidFill>
                  <a:srgbClr val="08251E"/>
                </a:solidFill>
                <a:latin typeface="Aptos"/>
                <a:ea typeface="Aptos"/>
                <a:cs typeface="Aptos"/>
              </a:rPr>
              <a:t>gateway</a:t>
            </a:r>
          </a:p>
        </p:txBody>
      </p:sp>
      <p:sp>
        <p:nvSpPr>
          <p:cNvPr id="9" name="">
            <a:extLst xmlns:a="http://schemas.openxmlformats.org/drawingml/2006/main">
              <a:ext uri="{FF2B5EF4-FFF2-40B4-BE49-F238E27FC236}">
                <a16:creationId xmlns:a16="http://schemas.microsoft.com/office/drawing/2014/main" id="{B512D73B-15FD-45C2-8076-147E27A8136F}"/>
              </a:ext>
            </a:extLst>
          </p:cNvPr>
          <p:cNvSpPr>
            <a:spLocks xmlns:a="http://schemas.openxmlformats.org/drawingml/2006/main" noGrp="1"/>
          </p:cNvSpPr>
          <p:nvPr/>
        </p:nvSpPr>
        <p:spPr>
          <a:xfrm xmlns:a="http://schemas.openxmlformats.org/drawingml/2006/main">
            <a:off x="6286500" y="3190875"/>
            <a:ext cx="1809750" cy="762000"/>
          </a:xfrm>
          <a:prstGeom xmlns:a="http://schemas.openxmlformats.org/drawingml/2006/main" prst="roundRect">
            <a:avLst>
              <a:gd name="adj" fmla="val 17500"/>
            </a:avLst>
          </a:prstGeom>
          <a:solidFill xmlns:a="http://schemas.openxmlformats.org/drawingml/2006/main">
            <a:srgbClr val="E7F1EB"/>
          </a:solidFill>
          <a:ln xmlns:a="http://schemas.openxmlformats.org/drawingml/2006/main" w="9525">
            <a:solidFill>
              <a:srgbClr val="D7E1DA"/>
            </a:solidFill>
            <a:prstDash val="solid"/>
          </a:ln>
        </p:spPr>
        <p:txBody>
          <a:bodyPr xmlns:a="http://schemas.openxmlformats.org/drawingml/2006/main" anchor="ctr">
            <a:noAutofit/>
          </a:bodyPr>
          <a:lstStyle xmlns:a="http://schemas.openxmlformats.org/drawingml/2006/main"/>
          <a:p xmlns:a="http://schemas.openxmlformats.org/drawingml/2006/main">
            <a:pPr algn="ctr">
              <a:defRPr sz="1500" b="1">
                <a:solidFill>
                  <a:srgbClr val="08251E"/>
                </a:solidFill>
                <a:latin typeface="Aptos"/>
                <a:ea typeface="Aptos"/>
                <a:cs typeface="Aptos"/>
              </a:defRPr>
            </a:pPr>
            <a:r>
              <a:rPr sz="1500" b="1">
                <a:solidFill>
                  <a:srgbClr val="08251E"/>
                </a:solidFill>
                <a:latin typeface="Aptos"/>
                <a:ea typeface="Aptos"/>
                <a:cs typeface="Aptos"/>
              </a:rPr>
              <a:t>ReportLab</a:t>
            </a:r>
          </a:p>
          <a:p xmlns:a="http://schemas.openxmlformats.org/drawingml/2006/main">
            <a:pPr algn="ctr">
              <a:defRPr sz="1500" b="1">
                <a:solidFill>
                  <a:srgbClr val="08251E"/>
                </a:solidFill>
                <a:latin typeface="Aptos"/>
                <a:ea typeface="Aptos"/>
                <a:cs typeface="Aptos"/>
              </a:defRPr>
            </a:pPr>
            <a:r>
              <a:rPr sz="1500" b="1">
                <a:solidFill>
                  <a:srgbClr val="08251E"/>
                </a:solidFill>
                <a:latin typeface="Aptos"/>
                <a:ea typeface="Aptos"/>
                <a:cs typeface="Aptos"/>
              </a:rPr>
              <a:t>PDF engine</a:t>
            </a:r>
          </a:p>
        </p:txBody>
      </p:sp>
      <p:sp>
        <p:nvSpPr>
          <p:cNvPr id="10" name="">
            <a:extLst xmlns:a="http://schemas.openxmlformats.org/drawingml/2006/main">
              <a:ext uri="{FF2B5EF4-FFF2-40B4-BE49-F238E27FC236}">
                <a16:creationId xmlns:a16="http://schemas.microsoft.com/office/drawing/2014/main" id="{F4E33282-D01A-4260-BF37-65836162E52D}"/>
              </a:ext>
            </a:extLst>
          </p:cNvPr>
          <p:cNvSpPr>
            <a:spLocks xmlns:a="http://schemas.openxmlformats.org/drawingml/2006/main" noGrp="1"/>
          </p:cNvSpPr>
          <p:nvPr/>
        </p:nvSpPr>
        <p:spPr>
          <a:xfrm xmlns:a="http://schemas.openxmlformats.org/drawingml/2006/main">
            <a:off x="2476500" y="4762500"/>
            <a:ext cx="2000250" cy="781050"/>
          </a:xfrm>
          <a:prstGeom xmlns:a="http://schemas.openxmlformats.org/drawingml/2006/main" prst="roundRect">
            <a:avLst>
              <a:gd name="adj" fmla="val 17073"/>
            </a:avLst>
          </a:prstGeom>
          <a:solidFill xmlns:a="http://schemas.openxmlformats.org/drawingml/2006/main">
            <a:srgbClr val="FFFFFF"/>
          </a:solidFill>
          <a:ln xmlns:a="http://schemas.openxmlformats.org/drawingml/2006/main" w="9525">
            <a:solidFill>
              <a:srgbClr val="D7E1DA"/>
            </a:solidFill>
            <a:prstDash val="solid"/>
          </a:ln>
        </p:spPr>
        <p:txBody>
          <a:bodyPr xmlns:a="http://schemas.openxmlformats.org/drawingml/2006/main" anchor="ctr">
            <a:noAutofit/>
          </a:bodyPr>
          <a:lstStyle xmlns:a="http://schemas.openxmlformats.org/drawingml/2006/main"/>
          <a:p xmlns:a="http://schemas.openxmlformats.org/drawingml/2006/main">
            <a:pPr algn="ctr">
              <a:defRPr sz="1500" b="1">
                <a:solidFill>
                  <a:srgbClr val="08251E"/>
                </a:solidFill>
                <a:latin typeface="Aptos"/>
                <a:ea typeface="Aptos"/>
                <a:cs typeface="Aptos"/>
              </a:defRPr>
            </a:pPr>
            <a:r>
              <a:rPr sz="1500" b="1">
                <a:solidFill>
                  <a:srgbClr val="08251E"/>
                </a:solidFill>
                <a:latin typeface="Aptos"/>
                <a:ea typeface="Aptos"/>
                <a:cs typeface="Aptos"/>
              </a:rPr>
              <a:t>Celery Beat</a:t>
            </a:r>
          </a:p>
          <a:p xmlns:a="http://schemas.openxmlformats.org/drawingml/2006/main">
            <a:pPr algn="ctr">
              <a:defRPr sz="1500" b="1">
                <a:solidFill>
                  <a:srgbClr val="08251E"/>
                </a:solidFill>
                <a:latin typeface="Aptos"/>
                <a:ea typeface="Aptos"/>
                <a:cs typeface="Aptos"/>
              </a:defRPr>
            </a:pPr>
            <a:r>
              <a:rPr sz="1500" b="1">
                <a:solidFill>
                  <a:srgbClr val="08251E"/>
                </a:solidFill>
                <a:latin typeface="Aptos"/>
                <a:ea typeface="Aptos"/>
                <a:cs typeface="Aptos"/>
              </a:rPr>
              <a:t>renewal clock</a:t>
            </a:r>
          </a:p>
        </p:txBody>
      </p:sp>
      <p:sp>
        <p:nvSpPr>
          <p:cNvPr id="11" name="">
            <a:extLst xmlns:a="http://schemas.openxmlformats.org/drawingml/2006/main">
              <a:ext uri="{FF2B5EF4-FFF2-40B4-BE49-F238E27FC236}">
                <a16:creationId xmlns:a16="http://schemas.microsoft.com/office/drawing/2014/main" id="{732F11B0-530F-484D-A6AF-F077EA3B321A}"/>
              </a:ext>
            </a:extLst>
          </p:cNvPr>
          <p:cNvSpPr>
            <a:spLocks xmlns:a="http://schemas.openxmlformats.org/drawingml/2006/main" noGrp="1"/>
          </p:cNvSpPr>
          <p:nvPr/>
        </p:nvSpPr>
        <p:spPr>
          <a:xfrm xmlns:a="http://schemas.openxmlformats.org/drawingml/2006/main">
            <a:off x="5334000" y="4762500"/>
            <a:ext cx="1666875" cy="781050"/>
          </a:xfrm>
          <a:prstGeom xmlns:a="http://schemas.openxmlformats.org/drawingml/2006/main" prst="roundRect">
            <a:avLst>
              <a:gd name="adj" fmla="val 17073"/>
            </a:avLst>
          </a:prstGeom>
          <a:solidFill xmlns:a="http://schemas.openxmlformats.org/drawingml/2006/main">
            <a:srgbClr val="EDF0FA"/>
          </a:solidFill>
          <a:ln xmlns:a="http://schemas.openxmlformats.org/drawingml/2006/main" w="9525">
            <a:solidFill>
              <a:srgbClr val="D7E1DA"/>
            </a:solidFill>
            <a:prstDash val="solid"/>
          </a:ln>
        </p:spPr>
        <p:txBody>
          <a:bodyPr xmlns:a="http://schemas.openxmlformats.org/drawingml/2006/main" anchor="ctr">
            <a:noAutofit/>
          </a:bodyPr>
          <a:lstStyle xmlns:a="http://schemas.openxmlformats.org/drawingml/2006/main"/>
          <a:p xmlns:a="http://schemas.openxmlformats.org/drawingml/2006/main">
            <a:pPr algn="ctr">
              <a:defRPr sz="1500" b="1">
                <a:solidFill>
                  <a:srgbClr val="08251E"/>
                </a:solidFill>
                <a:latin typeface="Aptos"/>
                <a:ea typeface="Aptos"/>
                <a:cs typeface="Aptos"/>
              </a:defRPr>
            </a:pPr>
            <a:r>
              <a:rPr sz="1500" b="1">
                <a:solidFill>
                  <a:srgbClr val="08251E"/>
                </a:solidFill>
                <a:latin typeface="Aptos"/>
                <a:ea typeface="Aptos"/>
                <a:cs typeface="Aptos"/>
              </a:rPr>
              <a:t>Redis</a:t>
            </a:r>
          </a:p>
          <a:p xmlns:a="http://schemas.openxmlformats.org/drawingml/2006/main">
            <a:pPr algn="ctr">
              <a:defRPr sz="1500" b="1">
                <a:solidFill>
                  <a:srgbClr val="08251E"/>
                </a:solidFill>
                <a:latin typeface="Aptos"/>
                <a:ea typeface="Aptos"/>
                <a:cs typeface="Aptos"/>
              </a:defRPr>
            </a:pPr>
            <a:r>
              <a:rPr sz="1500" b="1">
                <a:solidFill>
                  <a:srgbClr val="08251E"/>
                </a:solidFill>
                <a:latin typeface="Aptos"/>
                <a:ea typeface="Aptos"/>
                <a:cs typeface="Aptos"/>
              </a:rPr>
              <a:t>job broker</a:t>
            </a:r>
          </a:p>
        </p:txBody>
      </p:sp>
      <p:sp>
        <p:nvSpPr>
          <p:cNvPr id="12" name="">
            <a:extLst xmlns:a="http://schemas.openxmlformats.org/drawingml/2006/main">
              <a:ext uri="{FF2B5EF4-FFF2-40B4-BE49-F238E27FC236}">
                <a16:creationId xmlns:a16="http://schemas.microsoft.com/office/drawing/2014/main" id="{5CE4E5FA-BFBF-44A3-B708-74650909D941}"/>
              </a:ext>
            </a:extLst>
          </p:cNvPr>
          <p:cNvSpPr>
            <a:spLocks xmlns:a="http://schemas.openxmlformats.org/drawingml/2006/main" noGrp="1"/>
          </p:cNvSpPr>
          <p:nvPr/>
        </p:nvSpPr>
        <p:spPr>
          <a:xfrm xmlns:a="http://schemas.openxmlformats.org/drawingml/2006/main">
            <a:off x="7858125" y="4762500"/>
            <a:ext cx="2000250" cy="781050"/>
          </a:xfrm>
          <a:prstGeom xmlns:a="http://schemas.openxmlformats.org/drawingml/2006/main" prst="roundRect">
            <a:avLst>
              <a:gd name="adj" fmla="val 17073"/>
            </a:avLst>
          </a:prstGeom>
          <a:solidFill xmlns:a="http://schemas.openxmlformats.org/drawingml/2006/main">
            <a:srgbClr val="FFFFFF"/>
          </a:solidFill>
          <a:ln xmlns:a="http://schemas.openxmlformats.org/drawingml/2006/main" w="9525">
            <a:solidFill>
              <a:srgbClr val="D7E1DA"/>
            </a:solidFill>
            <a:prstDash val="solid"/>
          </a:ln>
        </p:spPr>
        <p:txBody>
          <a:bodyPr xmlns:a="http://schemas.openxmlformats.org/drawingml/2006/main" anchor="ctr">
            <a:noAutofit/>
          </a:bodyPr>
          <a:lstStyle xmlns:a="http://schemas.openxmlformats.org/drawingml/2006/main"/>
          <a:p xmlns:a="http://schemas.openxmlformats.org/drawingml/2006/main">
            <a:pPr algn="ctr">
              <a:defRPr sz="1500" b="1">
                <a:solidFill>
                  <a:srgbClr val="08251E"/>
                </a:solidFill>
                <a:latin typeface="Aptos"/>
                <a:ea typeface="Aptos"/>
                <a:cs typeface="Aptos"/>
              </a:defRPr>
            </a:pPr>
            <a:r>
              <a:rPr sz="1500" b="1">
                <a:solidFill>
                  <a:srgbClr val="08251E"/>
                </a:solidFill>
                <a:latin typeface="Aptos"/>
                <a:ea typeface="Aptos"/>
                <a:cs typeface="Aptos"/>
              </a:rPr>
              <a:t>Celery worker</a:t>
            </a:r>
          </a:p>
          <a:p xmlns:a="http://schemas.openxmlformats.org/drawingml/2006/main">
            <a:pPr algn="ctr">
              <a:defRPr sz="1500" b="1">
                <a:solidFill>
                  <a:srgbClr val="08251E"/>
                </a:solidFill>
                <a:latin typeface="Aptos"/>
                <a:ea typeface="Aptos"/>
                <a:cs typeface="Aptos"/>
              </a:defRPr>
            </a:pPr>
            <a:r>
              <a:rPr sz="1500" b="1">
                <a:solidFill>
                  <a:srgbClr val="08251E"/>
                </a:solidFill>
                <a:latin typeface="Aptos"/>
                <a:ea typeface="Aptos"/>
                <a:cs typeface="Aptos"/>
              </a:rPr>
              <a:t>cycles + retries</a:t>
            </a:r>
          </a:p>
        </p:txBody>
      </p:sp>
      <p:sp>
        <p:nvSpPr>
          <p:cNvPr id="21" name="">
            <a:extLst xmlns:a="http://schemas.openxmlformats.org/drawingml/2006/main">
              <a:ext uri="{FF2B5EF4-FFF2-40B4-BE49-F238E27FC236}">
                <a16:creationId xmlns:a16="http://schemas.microsoft.com/office/drawing/2014/main" id="{56C4A1CD-508F-4930-89F1-99741516E63C}"/>
              </a:ext>
            </a:extLst>
          </p:cNvPr>
          <p:cNvSpPr>
            <a:spLocks xmlns:a="http://schemas.openxmlformats.org/drawingml/2006/main" noGrp="1"/>
          </p:cNvSpPr>
          <p:nvPr/>
        </p:nvSpPr>
        <p:spPr>
          <a:xfrm xmlns:a="http://schemas.openxmlformats.org/drawingml/2006/main">
            <a:off x="2619375" y="24955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66736E"/>
                </a:solidFill>
                <a:latin typeface="Aptos"/>
                <a:ea typeface="Aptos"/>
                <a:cs typeface="Aptos"/>
              </a:defRPr>
            </a:pPr>
            <a:r>
              <a:rPr sz="975" b="1">
                <a:solidFill>
                  <a:srgbClr val="66736E"/>
                </a:solidFill>
                <a:latin typeface="Aptos"/>
                <a:ea typeface="Aptos"/>
                <a:cs typeface="Aptos"/>
              </a:rPr>
              <a:t>HTTP</a:t>
            </a:r>
          </a:p>
        </p:txBody>
      </p:sp>
      <p:sp>
        <p:nvSpPr>
          <p:cNvPr id="22" name="">
            <a:extLst xmlns:a="http://schemas.openxmlformats.org/drawingml/2006/main">
              <a:ext uri="{FF2B5EF4-FFF2-40B4-BE49-F238E27FC236}">
                <a16:creationId xmlns:a16="http://schemas.microsoft.com/office/drawing/2014/main" id="{4D4B461C-1F1D-4A9A-94B3-B0C04BDB0844}"/>
              </a:ext>
            </a:extLst>
          </p:cNvPr>
          <p:cNvSpPr>
            <a:spLocks xmlns:a="http://schemas.openxmlformats.org/drawingml/2006/main" noGrp="1"/>
          </p:cNvSpPr>
          <p:nvPr/>
        </p:nvSpPr>
        <p:spPr>
          <a:xfrm xmlns:a="http://schemas.openxmlformats.org/drawingml/2006/main">
            <a:off x="628650" y="647700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1A6C52"/>
                </a:solidFill>
                <a:latin typeface="Aptos"/>
                <a:ea typeface="Aptos"/>
                <a:cs typeface="Aptos"/>
              </a:defRPr>
            </a:pPr>
            <a:r>
              <a:rPr sz="975" b="1">
                <a:solidFill>
                  <a:srgbClr val="1A6C52"/>
                </a:solidFill>
                <a:latin typeface="Aptos"/>
                <a:ea typeface="Aptos"/>
                <a:cs typeface="Aptos"/>
              </a:rPr>
              <a:t>BillFlow AI</a:t>
            </a:r>
          </a:p>
        </p:txBody>
      </p:sp>
      <p:sp>
        <p:nvSpPr>
          <p:cNvPr id="23" name="">
            <a:extLst xmlns:a="http://schemas.openxmlformats.org/drawingml/2006/main">
              <a:ext uri="{FF2B5EF4-FFF2-40B4-BE49-F238E27FC236}">
                <a16:creationId xmlns:a16="http://schemas.microsoft.com/office/drawing/2014/main" id="{555DF71F-C778-4D1D-9B0B-877372AF983D}"/>
              </a:ext>
            </a:extLst>
          </p:cNvPr>
          <p:cNvSpPr>
            <a:spLocks xmlns:a="http://schemas.openxmlformats.org/drawingml/2006/main" noGrp="1"/>
          </p:cNvSpPr>
          <p:nvPr/>
        </p:nvSpPr>
        <p:spPr>
          <a:xfrm xmlns:a="http://schemas.openxmlformats.org/drawingml/2006/main">
            <a:off x="11049000" y="6477000"/>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66736E"/>
                </a:solidFill>
                <a:latin typeface="Aptos"/>
                <a:ea typeface="Aptos"/>
                <a:cs typeface="Aptos"/>
              </a:defRPr>
            </a:pPr>
            <a:r>
              <a:rPr sz="975" b="1">
                <a:solidFill>
                  <a:srgbClr val="66736E"/>
                </a:solidFill>
                <a:latin typeface="Aptos"/>
                <a:ea typeface="Aptos"/>
                <a:cs typeface="Aptos"/>
              </a:rPr>
              <a:t>04</a:t>
            </a:r>
          </a:p>
        </p:txBody>
      </p:sp>
    </p:spTree>
    <p:extLst>
      <p:ext uri="{BB962C8B-B14F-4D97-AF65-F5344CB8AC3E}">
        <p14:creationId xmlns:p14="http://schemas.microsoft.com/office/powerpoint/2010/main" val="2021171523"/>
      </p:ext>
    </p:extLst>
  </p:cSld>
</p:sld>
</file>

<file path=ppt/slides/slide5.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cxnSp>
        <p:nvCxnSpPr>
          <p:cNvPr id="33" name=""/>
          <p:cNvCxnSpPr>
            <a:stCxn xmlns:a="http://schemas.openxmlformats.org/drawingml/2006/main" id="9" idx="0"/>
            <a:endCxn xmlns:a="http://schemas.openxmlformats.org/drawingml/2006/main" id="6" idx="2"/>
          </p:cNvCxnSpPr>
          <p:nvPr/>
        </p:nvCxnSpPr>
        <p:spPr>
          <a:xfrm xmlns:a="http://schemas.openxmlformats.org/drawingml/2006/main" flipH="1" flipV="1">
            <a:off x="3476625" y="2609850"/>
            <a:ext cx="2209800" cy="390525"/>
          </a:xfrm>
          <a:prstGeom xmlns:a="http://schemas.openxmlformats.org/drawingml/2006/main" prst="bentConnector4">
            <a:avLst>
              <a:gd name="adj1" fmla="val 0"/>
              <a:gd name="adj2" fmla="val 50000"/>
            </a:avLst>
          </a:prstGeom>
          <a:ln xmlns:a="http://schemas.openxmlformats.org/drawingml/2006/main" w="19050">
            <a:solidFill>
              <a:srgbClr val="637BC4"/>
            </a:solidFill>
            <a:prstDash val="dash"/>
            <a:tailEnd type="triangle" w="sm" len="sm"/>
          </a:ln>
        </p:spPr>
      </p:cxnSp>
      <p:cxnSp>
        <p:nvCxnSpPr>
          <p:cNvPr id="34" name=""/>
          <p:cNvCxnSpPr>
            <a:stCxn xmlns:a="http://schemas.openxmlformats.org/drawingml/2006/main" id="6" idx="2"/>
            <a:endCxn xmlns:a="http://schemas.openxmlformats.org/drawingml/2006/main" id="9" idx="1"/>
          </p:cNvCxnSpPr>
          <p:nvPr/>
        </p:nvCxnSpPr>
        <p:spPr>
          <a:xfrm xmlns:a="http://schemas.openxmlformats.org/drawingml/2006/main">
            <a:off x="3476625" y="2609850"/>
            <a:ext cx="1400175" cy="685800"/>
          </a:xfrm>
          <a:prstGeom xmlns:a="http://schemas.openxmlformats.org/drawingml/2006/main" prst="bentConnector5">
            <a:avLst>
              <a:gd name="adj1" fmla="val 0"/>
              <a:gd name="adj2" fmla="val 33333"/>
              <a:gd name="adj3" fmla="val 83673"/>
            </a:avLst>
          </a:prstGeom>
          <a:ln xmlns:a="http://schemas.openxmlformats.org/drawingml/2006/main" w="19050">
            <a:solidFill>
              <a:srgbClr val="637BC4"/>
            </a:solidFill>
            <a:prstDash val="solid"/>
            <a:tailEnd type="triangle" w="sm" len="sm"/>
          </a:ln>
        </p:spPr>
      </p:cxnSp>
      <p:cxnSp>
        <p:nvCxnSpPr>
          <p:cNvPr id="35" name=""/>
          <p:cNvCxnSpPr>
            <a:stCxn xmlns:a="http://schemas.openxmlformats.org/drawingml/2006/main" id="7" idx="3"/>
            <a:endCxn xmlns:a="http://schemas.openxmlformats.org/drawingml/2006/main" id="8" idx="1"/>
          </p:cNvCxnSpPr>
          <p:nvPr/>
        </p:nvCxnSpPr>
        <p:spPr>
          <a:xfrm xmlns:a="http://schemas.openxmlformats.org/drawingml/2006/main">
            <a:off x="6496050" y="2314575"/>
            <a:ext cx="3124200" cy="0"/>
          </a:xfrm>
          <a:prstGeom xmlns:a="http://schemas.openxmlformats.org/drawingml/2006/main" prst="straightConnector1">
            <a:avLst/>
          </a:prstGeom>
          <a:ln xmlns:a="http://schemas.openxmlformats.org/drawingml/2006/main" w="19050">
            <a:solidFill>
              <a:srgbClr val="C65F4B"/>
            </a:solidFill>
            <a:prstDash val="solid"/>
            <a:tailEnd type="triangle" w="sm" len="sm"/>
          </a:ln>
        </p:spPr>
      </p:cxnSp>
      <p:cxnSp>
        <p:nvCxnSpPr>
          <p:cNvPr id="36" name=""/>
          <p:cNvCxnSpPr>
            <a:stCxn xmlns:a="http://schemas.openxmlformats.org/drawingml/2006/main" id="6" idx="3"/>
            <a:endCxn xmlns:a="http://schemas.openxmlformats.org/drawingml/2006/main" id="7" idx="1"/>
          </p:cNvCxnSpPr>
          <p:nvPr/>
        </p:nvCxnSpPr>
        <p:spPr>
          <a:xfrm xmlns:a="http://schemas.openxmlformats.org/drawingml/2006/main">
            <a:off x="4191000" y="2314575"/>
            <a:ext cx="685800" cy="0"/>
          </a:xfrm>
          <a:prstGeom xmlns:a="http://schemas.openxmlformats.org/drawingml/2006/main" prst="straightConnector1">
            <a:avLst/>
          </a:prstGeom>
          <a:ln xmlns:a="http://schemas.openxmlformats.org/drawingml/2006/main" w="19050">
            <a:solidFill>
              <a:srgbClr val="C65F4B"/>
            </a:solidFill>
            <a:prstDash val="solid"/>
            <a:headEnd type="triangle" w="sm" len="sm"/>
            <a:tailEnd type="triangle" w="sm" len="sm"/>
          </a:ln>
        </p:spPr>
      </p:cxnSp>
      <p:cxnSp>
        <p:nvCxnSpPr>
          <p:cNvPr id="37" name=""/>
          <p:cNvCxnSpPr>
            <a:stCxn xmlns:a="http://schemas.openxmlformats.org/drawingml/2006/main" id="5" idx="3"/>
            <a:endCxn xmlns:a="http://schemas.openxmlformats.org/drawingml/2006/main" id="6" idx="1"/>
          </p:cNvCxnSpPr>
          <p:nvPr/>
        </p:nvCxnSpPr>
        <p:spPr>
          <a:xfrm xmlns:a="http://schemas.openxmlformats.org/drawingml/2006/main">
            <a:off x="2076450" y="2314575"/>
            <a:ext cx="685800" cy="0"/>
          </a:xfrm>
          <a:prstGeom xmlns:a="http://schemas.openxmlformats.org/drawingml/2006/main" prst="straightConnector1">
            <a:avLst/>
          </a:prstGeom>
          <a:ln xmlns:a="http://schemas.openxmlformats.org/drawingml/2006/main" w="19050">
            <a:solidFill>
              <a:srgbClr val="1A6C52"/>
            </a:solidFill>
            <a:prstDash val="solid"/>
            <a:tailEnd type="triangle" w="sm" len="sm"/>
          </a:ln>
        </p:spPr>
      </p:cxnSp>
      <p:sp>
        <p:nvSpPr>
          <p:cNvPr id="38" name="">
            <a:extLst xmlns:a="http://schemas.openxmlformats.org/drawingml/2006/main">
              <a:ext uri="{FF2B5EF4-FFF2-40B4-BE49-F238E27FC236}">
                <a16:creationId xmlns:a16="http://schemas.microsoft.com/office/drawing/2014/main" id="{FFA753AB-3FDF-461D-BC64-78F23D78D0F9}"/>
              </a:ext>
            </a:extLst>
          </p:cNvPr>
          <p:cNvSpPr>
            <a:spLocks xmlns:a="http://schemas.openxmlformats.org/drawingml/2006/main" noGrp="1"/>
          </p:cNvSpPr>
          <p:nvPr/>
        </p:nvSpPr>
        <p:spPr>
          <a:xfrm xmlns:a="http://schemas.openxmlformats.org/drawingml/2006/main">
            <a:off x="628650" y="28575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1A6C52"/>
                </a:solidFill>
                <a:latin typeface="Aptos"/>
                <a:ea typeface="Aptos"/>
                <a:cs typeface="Aptos"/>
              </a:defRPr>
            </a:pPr>
            <a:r>
              <a:rPr sz="1200" b="1">
                <a:solidFill>
                  <a:srgbClr val="1A6C52"/>
                </a:solidFill>
                <a:latin typeface="Aptos"/>
                <a:ea typeface="Aptos"/>
                <a:cs typeface="Aptos"/>
              </a:rPr>
              <a:t>05</a:t>
            </a:r>
          </a:p>
        </p:txBody>
      </p:sp>
      <p:sp>
        <p:nvSpPr>
          <p:cNvPr id="2" name="">
            <a:extLst xmlns:a="http://schemas.openxmlformats.org/drawingml/2006/main">
              <a:ext uri="{FF2B5EF4-FFF2-40B4-BE49-F238E27FC236}">
                <a16:creationId xmlns:a16="http://schemas.microsoft.com/office/drawing/2014/main" id="{8B131C11-B117-4D3B-B8D1-BA4C5211C592}"/>
              </a:ext>
            </a:extLst>
          </p:cNvPr>
          <p:cNvSpPr>
            <a:spLocks xmlns:a="http://schemas.openxmlformats.org/drawingml/2006/main" noGrp="1"/>
          </p:cNvSpPr>
          <p:nvPr/>
        </p:nvSpPr>
        <p:spPr>
          <a:xfrm xmlns:a="http://schemas.openxmlformats.org/drawingml/2006/main">
            <a:off x="628650" y="60960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251E"/>
                </a:solidFill>
                <a:latin typeface="Aptos"/>
                <a:ea typeface="Aptos"/>
                <a:cs typeface="Aptos"/>
              </a:defRPr>
            </a:pPr>
            <a:r>
              <a:rPr sz="3225" b="1">
                <a:solidFill>
                  <a:srgbClr val="08251E"/>
                </a:solidFill>
                <a:latin typeface="Aptos"/>
                <a:ea typeface="Aptos"/>
                <a:cs typeface="Aptos"/>
              </a:rPr>
              <a:t>Subscription lifecycle and renewal flow</a:t>
            </a:r>
          </a:p>
        </p:txBody>
      </p:sp>
      <p:sp>
        <p:nvSpPr>
          <p:cNvPr id="3" name="">
            <a:extLst xmlns:a="http://schemas.openxmlformats.org/drawingml/2006/main">
              <a:ext uri="{FF2B5EF4-FFF2-40B4-BE49-F238E27FC236}">
                <a16:creationId xmlns:a16="http://schemas.microsoft.com/office/drawing/2014/main" id="{ED2A0EEB-0A3E-4DB1-AE80-8314544409FA}"/>
              </a:ext>
            </a:extLst>
          </p:cNvPr>
          <p:cNvSpPr>
            <a:spLocks xmlns:a="http://schemas.openxmlformats.org/drawingml/2006/main" noGrp="1"/>
          </p:cNvSpPr>
          <p:nvPr/>
        </p:nvSpPr>
        <p:spPr>
          <a:xfrm xmlns:a="http://schemas.openxmlformats.org/drawingml/2006/main">
            <a:off x="647700" y="114300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36E"/>
                </a:solidFill>
                <a:latin typeface="Aptos"/>
                <a:ea typeface="Aptos"/>
                <a:cs typeface="Aptos"/>
              </a:defRPr>
            </a:pPr>
            <a:r>
              <a:rPr sz="1425" b="0">
                <a:solidFill>
                  <a:srgbClr val="66736E"/>
                </a:solidFill>
                <a:latin typeface="Aptos"/>
                <a:ea typeface="Aptos"/>
                <a:cs typeface="Aptos"/>
              </a:rPr>
              <a:t>Central validation prevents impossible state changes</a:t>
            </a:r>
          </a:p>
        </p:txBody>
      </p:sp>
      <p:sp>
        <p:nvSpPr>
          <p:cNvPr id="4" name="">
            <a:extLst xmlns:a="http://schemas.openxmlformats.org/drawingml/2006/main">
              <a:ext uri="{FF2B5EF4-FFF2-40B4-BE49-F238E27FC236}">
                <a16:creationId xmlns:a16="http://schemas.microsoft.com/office/drawing/2014/main" id="{12894EB7-E396-4868-8951-BB7CD8BED460}"/>
              </a:ext>
            </a:extLst>
          </p:cNvPr>
          <p:cNvSpPr>
            <a:spLocks xmlns:a="http://schemas.openxmlformats.org/drawingml/2006/main" noGrp="1"/>
          </p:cNvSpPr>
          <p:nvPr/>
        </p:nvSpPr>
        <p:spPr>
          <a:xfrm xmlns:a="http://schemas.openxmlformats.org/drawingml/2006/main">
            <a:off x="628650" y="1581150"/>
            <a:ext cx="10934700" cy="19050"/>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sp>
        <p:nvSpPr>
          <p:cNvPr id="5" name="">
            <a:extLst xmlns:a="http://schemas.openxmlformats.org/drawingml/2006/main">
              <a:ext uri="{FF2B5EF4-FFF2-40B4-BE49-F238E27FC236}">
                <a16:creationId xmlns:a16="http://schemas.microsoft.com/office/drawing/2014/main" id="{E536A05E-3B65-424A-85A2-5E119B09BD8C}"/>
              </a:ext>
            </a:extLst>
          </p:cNvPr>
          <p:cNvSpPr>
            <a:spLocks xmlns:a="http://schemas.openxmlformats.org/drawingml/2006/main" noGrp="1"/>
          </p:cNvSpPr>
          <p:nvPr/>
        </p:nvSpPr>
        <p:spPr>
          <a:xfrm xmlns:a="http://schemas.openxmlformats.org/drawingml/2006/main">
            <a:off x="647700" y="2019300"/>
            <a:ext cx="1428750" cy="590550"/>
          </a:xfrm>
          <a:prstGeom xmlns:a="http://schemas.openxmlformats.org/drawingml/2006/main" prst="roundRect">
            <a:avLst>
              <a:gd name="adj" fmla="val 22581"/>
            </a:avLst>
          </a:prstGeom>
          <a:solidFill xmlns:a="http://schemas.openxmlformats.org/drawingml/2006/main">
            <a:srgbClr val="E8F4EE"/>
          </a:solidFill>
          <a:ln xmlns:a="http://schemas.openxmlformats.org/drawingml/2006/main" w="9525">
            <a:solidFill>
              <a:srgbClr val="D7E1DA"/>
            </a:solidFill>
            <a:prstDash val="solid"/>
          </a:ln>
        </p:spPr>
        <p:txBody>
          <a:bodyPr xmlns:a="http://schemas.openxmlformats.org/drawingml/2006/main" anchor="ctr">
            <a:noAutofit/>
          </a:bodyPr>
          <a:lstStyle xmlns:a="http://schemas.openxmlformats.org/drawingml/2006/main"/>
          <a:p xmlns:a="http://schemas.openxmlformats.org/drawingml/2006/main">
            <a:pPr algn="ctr">
              <a:defRPr sz="1500" b="1">
                <a:solidFill>
                  <a:srgbClr val="08251E"/>
                </a:solidFill>
                <a:latin typeface="Aptos"/>
                <a:ea typeface="Aptos"/>
                <a:cs typeface="Aptos"/>
              </a:defRPr>
            </a:pPr>
            <a:r>
              <a:rPr sz="1500" b="1">
                <a:solidFill>
                  <a:srgbClr val="08251E"/>
                </a:solidFill>
                <a:latin typeface="Aptos"/>
                <a:ea typeface="Aptos"/>
                <a:cs typeface="Aptos"/>
              </a:rPr>
              <a:t>TRIAL</a:t>
            </a:r>
          </a:p>
        </p:txBody>
      </p:sp>
      <p:sp>
        <p:nvSpPr>
          <p:cNvPr id="6" name="">
            <a:extLst xmlns:a="http://schemas.openxmlformats.org/drawingml/2006/main">
              <a:ext uri="{FF2B5EF4-FFF2-40B4-BE49-F238E27FC236}">
                <a16:creationId xmlns:a16="http://schemas.microsoft.com/office/drawing/2014/main" id="{2A8C37DF-2FF6-4C6D-B189-6662955E21D7}"/>
              </a:ext>
            </a:extLst>
          </p:cNvPr>
          <p:cNvSpPr>
            <a:spLocks xmlns:a="http://schemas.openxmlformats.org/drawingml/2006/main" noGrp="1"/>
          </p:cNvSpPr>
          <p:nvPr/>
        </p:nvSpPr>
        <p:spPr>
          <a:xfrm xmlns:a="http://schemas.openxmlformats.org/drawingml/2006/main">
            <a:off x="2762250" y="2019300"/>
            <a:ext cx="1428750" cy="590550"/>
          </a:xfrm>
          <a:prstGeom xmlns:a="http://schemas.openxmlformats.org/drawingml/2006/main" prst="roundRect">
            <a:avLst>
              <a:gd name="adj" fmla="val 22581"/>
            </a:avLst>
          </a:prstGeom>
          <a:solidFill xmlns:a="http://schemas.openxmlformats.org/drawingml/2006/main">
            <a:srgbClr val="77E6BB"/>
          </a:solidFill>
          <a:ln xmlns:a="http://schemas.openxmlformats.org/drawingml/2006/main" w="9525">
            <a:solidFill>
              <a:srgbClr val="D7E1DA"/>
            </a:solidFill>
            <a:prstDash val="solid"/>
          </a:ln>
        </p:spPr>
        <p:txBody>
          <a:bodyPr xmlns:a="http://schemas.openxmlformats.org/drawingml/2006/main" anchor="ctr">
            <a:noAutofit/>
          </a:bodyPr>
          <a:lstStyle xmlns:a="http://schemas.openxmlformats.org/drawingml/2006/main"/>
          <a:p xmlns:a="http://schemas.openxmlformats.org/drawingml/2006/main">
            <a:pPr algn="ctr">
              <a:defRPr sz="1500" b="1">
                <a:solidFill>
                  <a:srgbClr val="08251E"/>
                </a:solidFill>
                <a:latin typeface="Aptos"/>
                <a:ea typeface="Aptos"/>
                <a:cs typeface="Aptos"/>
              </a:defRPr>
            </a:pPr>
            <a:r>
              <a:rPr sz="1500" b="1">
                <a:solidFill>
                  <a:srgbClr val="08251E"/>
                </a:solidFill>
                <a:latin typeface="Aptos"/>
                <a:ea typeface="Aptos"/>
                <a:cs typeface="Aptos"/>
              </a:rPr>
              <a:t>ACTIVE</a:t>
            </a:r>
          </a:p>
        </p:txBody>
      </p:sp>
      <p:sp>
        <p:nvSpPr>
          <p:cNvPr id="7" name="">
            <a:extLst xmlns:a="http://schemas.openxmlformats.org/drawingml/2006/main">
              <a:ext uri="{FF2B5EF4-FFF2-40B4-BE49-F238E27FC236}">
                <a16:creationId xmlns:a16="http://schemas.microsoft.com/office/drawing/2014/main" id="{F0C10F3F-5ED1-4B33-96DA-C15AC43516BF}"/>
              </a:ext>
            </a:extLst>
          </p:cNvPr>
          <p:cNvSpPr>
            <a:spLocks xmlns:a="http://schemas.openxmlformats.org/drawingml/2006/main" noGrp="1"/>
          </p:cNvSpPr>
          <p:nvPr/>
        </p:nvSpPr>
        <p:spPr>
          <a:xfrm xmlns:a="http://schemas.openxmlformats.org/drawingml/2006/main">
            <a:off x="4876800" y="2019300"/>
            <a:ext cx="1619250" cy="590550"/>
          </a:xfrm>
          <a:prstGeom xmlns:a="http://schemas.openxmlformats.org/drawingml/2006/main" prst="roundRect">
            <a:avLst>
              <a:gd name="adj" fmla="val 22581"/>
            </a:avLst>
          </a:prstGeom>
          <a:solidFill xmlns:a="http://schemas.openxmlformats.org/drawingml/2006/main">
            <a:srgbClr val="FCE8E4"/>
          </a:solidFill>
          <a:ln xmlns:a="http://schemas.openxmlformats.org/drawingml/2006/main" w="9525">
            <a:solidFill>
              <a:srgbClr val="D7E1DA"/>
            </a:solidFill>
            <a:prstDash val="solid"/>
          </a:ln>
        </p:spPr>
        <p:txBody>
          <a:bodyPr xmlns:a="http://schemas.openxmlformats.org/drawingml/2006/main" anchor="ctr">
            <a:noAutofit/>
          </a:bodyPr>
          <a:lstStyle xmlns:a="http://schemas.openxmlformats.org/drawingml/2006/main"/>
          <a:p xmlns:a="http://schemas.openxmlformats.org/drawingml/2006/main">
            <a:pPr algn="ctr">
              <a:defRPr sz="1500" b="1">
                <a:solidFill>
                  <a:srgbClr val="C65F4B"/>
                </a:solidFill>
                <a:latin typeface="Aptos"/>
                <a:ea typeface="Aptos"/>
                <a:cs typeface="Aptos"/>
              </a:defRPr>
            </a:pPr>
            <a:r>
              <a:rPr sz="1500" b="1">
                <a:solidFill>
                  <a:srgbClr val="C65F4B"/>
                </a:solidFill>
                <a:latin typeface="Aptos"/>
                <a:ea typeface="Aptos"/>
                <a:cs typeface="Aptos"/>
              </a:rPr>
              <a:t>PAST DUE</a:t>
            </a:r>
          </a:p>
        </p:txBody>
      </p:sp>
      <p:sp>
        <p:nvSpPr>
          <p:cNvPr id="8" name="">
            <a:extLst xmlns:a="http://schemas.openxmlformats.org/drawingml/2006/main">
              <a:ext uri="{FF2B5EF4-FFF2-40B4-BE49-F238E27FC236}">
                <a16:creationId xmlns:a16="http://schemas.microsoft.com/office/drawing/2014/main" id="{6B34D778-D546-4D2B-AF44-9D6818F584F8}"/>
              </a:ext>
            </a:extLst>
          </p:cNvPr>
          <p:cNvSpPr>
            <a:spLocks xmlns:a="http://schemas.openxmlformats.org/drawingml/2006/main" noGrp="1"/>
          </p:cNvSpPr>
          <p:nvPr/>
        </p:nvSpPr>
        <p:spPr>
          <a:xfrm xmlns:a="http://schemas.openxmlformats.org/drawingml/2006/main">
            <a:off x="9620250" y="2019300"/>
            <a:ext cx="1809750" cy="590550"/>
          </a:xfrm>
          <a:prstGeom xmlns:a="http://schemas.openxmlformats.org/drawingml/2006/main" prst="roundRect">
            <a:avLst>
              <a:gd name="adj" fmla="val 22581"/>
            </a:avLst>
          </a:prstGeom>
          <a:solidFill xmlns:a="http://schemas.openxmlformats.org/drawingml/2006/main">
            <a:srgbClr val="ECEFED"/>
          </a:solidFill>
          <a:ln xmlns:a="http://schemas.openxmlformats.org/drawingml/2006/main" w="9525">
            <a:solidFill>
              <a:srgbClr val="D7E1DA"/>
            </a:solidFill>
            <a:prstDash val="solid"/>
          </a:ln>
        </p:spPr>
        <p:txBody>
          <a:bodyPr xmlns:a="http://schemas.openxmlformats.org/drawingml/2006/main" anchor="ctr">
            <a:noAutofit/>
          </a:bodyPr>
          <a:lstStyle xmlns:a="http://schemas.openxmlformats.org/drawingml/2006/main"/>
          <a:p xmlns:a="http://schemas.openxmlformats.org/drawingml/2006/main">
            <a:pPr algn="ctr">
              <a:defRPr sz="1500" b="1">
                <a:solidFill>
                  <a:srgbClr val="66736E"/>
                </a:solidFill>
                <a:latin typeface="Aptos"/>
                <a:ea typeface="Aptos"/>
                <a:cs typeface="Aptos"/>
              </a:defRPr>
            </a:pPr>
            <a:r>
              <a:rPr sz="1500" b="1">
                <a:solidFill>
                  <a:srgbClr val="66736E"/>
                </a:solidFill>
                <a:latin typeface="Aptos"/>
                <a:ea typeface="Aptos"/>
                <a:cs typeface="Aptos"/>
              </a:rPr>
              <a:t>CANCELLED</a:t>
            </a:r>
          </a:p>
        </p:txBody>
      </p:sp>
      <p:sp>
        <p:nvSpPr>
          <p:cNvPr id="9" name="">
            <a:extLst xmlns:a="http://schemas.openxmlformats.org/drawingml/2006/main">
              <a:ext uri="{FF2B5EF4-FFF2-40B4-BE49-F238E27FC236}">
                <a16:creationId xmlns:a16="http://schemas.microsoft.com/office/drawing/2014/main" id="{234FC3EC-30E0-44AD-9D7F-DDB52F94ADD3}"/>
              </a:ext>
            </a:extLst>
          </p:cNvPr>
          <p:cNvSpPr>
            <a:spLocks xmlns:a="http://schemas.openxmlformats.org/drawingml/2006/main" noGrp="1"/>
          </p:cNvSpPr>
          <p:nvPr/>
        </p:nvSpPr>
        <p:spPr>
          <a:xfrm xmlns:a="http://schemas.openxmlformats.org/drawingml/2006/main">
            <a:off x="4876800" y="3000375"/>
            <a:ext cx="1619250" cy="590550"/>
          </a:xfrm>
          <a:prstGeom xmlns:a="http://schemas.openxmlformats.org/drawingml/2006/main" prst="roundRect">
            <a:avLst>
              <a:gd name="adj" fmla="val 22581"/>
            </a:avLst>
          </a:prstGeom>
          <a:solidFill xmlns:a="http://schemas.openxmlformats.org/drawingml/2006/main">
            <a:srgbClr val="EDF0FA"/>
          </a:solidFill>
          <a:ln xmlns:a="http://schemas.openxmlformats.org/drawingml/2006/main" w="9525">
            <a:solidFill>
              <a:srgbClr val="D7E1DA"/>
            </a:solidFill>
            <a:prstDash val="solid"/>
          </a:ln>
        </p:spPr>
        <p:txBody>
          <a:bodyPr xmlns:a="http://schemas.openxmlformats.org/drawingml/2006/main" anchor="ctr">
            <a:noAutofit/>
          </a:bodyPr>
          <a:lstStyle xmlns:a="http://schemas.openxmlformats.org/drawingml/2006/main"/>
          <a:p xmlns:a="http://schemas.openxmlformats.org/drawingml/2006/main">
            <a:pPr algn="ctr">
              <a:defRPr sz="1500" b="1">
                <a:solidFill>
                  <a:srgbClr val="637BC4"/>
                </a:solidFill>
                <a:latin typeface="Aptos"/>
                <a:ea typeface="Aptos"/>
                <a:cs typeface="Aptos"/>
              </a:defRPr>
            </a:pPr>
            <a:r>
              <a:rPr sz="1500" b="1">
                <a:solidFill>
                  <a:srgbClr val="637BC4"/>
                </a:solidFill>
                <a:latin typeface="Aptos"/>
                <a:ea typeface="Aptos"/>
                <a:cs typeface="Aptos"/>
              </a:rPr>
              <a:t>PAUSED</a:t>
            </a:r>
          </a:p>
        </p:txBody>
      </p:sp>
      <p:sp>
        <p:nvSpPr>
          <p:cNvPr id="15" name="">
            <a:extLst xmlns:a="http://schemas.openxmlformats.org/drawingml/2006/main">
              <a:ext uri="{FF2B5EF4-FFF2-40B4-BE49-F238E27FC236}">
                <a16:creationId xmlns:a16="http://schemas.microsoft.com/office/drawing/2014/main" id="{7FEDCC9E-834C-4B99-905F-33ABB2929242}"/>
              </a:ext>
            </a:extLst>
          </p:cNvPr>
          <p:cNvSpPr>
            <a:spLocks xmlns:a="http://schemas.openxmlformats.org/drawingml/2006/main" noGrp="1"/>
          </p:cNvSpPr>
          <p:nvPr/>
        </p:nvSpPr>
        <p:spPr>
          <a:xfrm xmlns:a="http://schemas.openxmlformats.org/drawingml/2006/main">
            <a:off x="7086600" y="3009900"/>
            <a:ext cx="4000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36E"/>
                </a:solidFill>
                <a:latin typeface="Aptos"/>
                <a:ea typeface="Aptos"/>
                <a:cs typeface="Aptos"/>
              </a:defRPr>
            </a:pPr>
            <a:r>
              <a:rPr sz="1350" b="0">
                <a:solidFill>
                  <a:srgbClr val="66736E"/>
                </a:solidFill>
                <a:latin typeface="Aptos"/>
                <a:ea typeface="Aptos"/>
                <a:cs typeface="Aptos"/>
              </a:rPr>
              <a:t>Trial can cancel directly. Payment recovery can restore past due to active.</a:t>
            </a:r>
          </a:p>
        </p:txBody>
      </p:sp>
      <p:sp>
        <p:nvSpPr>
          <p:cNvPr id="16" name="">
            <a:extLst xmlns:a="http://schemas.openxmlformats.org/drawingml/2006/main">
              <a:ext uri="{FF2B5EF4-FFF2-40B4-BE49-F238E27FC236}">
                <a16:creationId xmlns:a16="http://schemas.microsoft.com/office/drawing/2014/main" id="{F9719045-E1CD-4A9A-915D-5FEF4C5F2917}"/>
              </a:ext>
            </a:extLst>
          </p:cNvPr>
          <p:cNvSpPr>
            <a:spLocks xmlns:a="http://schemas.openxmlformats.org/drawingml/2006/main" noGrp="1"/>
          </p:cNvSpPr>
          <p:nvPr/>
        </p:nvSpPr>
        <p:spPr>
          <a:xfrm xmlns:a="http://schemas.openxmlformats.org/drawingml/2006/main">
            <a:off x="666750" y="41719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1A6C52"/>
                </a:solidFill>
                <a:latin typeface="Aptos"/>
                <a:ea typeface="Aptos"/>
                <a:cs typeface="Aptos"/>
              </a:defRPr>
            </a:pPr>
            <a:r>
              <a:rPr sz="1200" b="1">
                <a:solidFill>
                  <a:srgbClr val="1A6C52"/>
                </a:solidFill>
                <a:latin typeface="Aptos"/>
                <a:ea typeface="Aptos"/>
                <a:cs typeface="Aptos"/>
              </a:rPr>
              <a:t>RENEWAL ENGINE</a:t>
            </a:r>
          </a:p>
        </p:txBody>
      </p:sp>
      <p:sp>
        <p:nvSpPr>
          <p:cNvPr id="17" name="">
            <a:extLst xmlns:a="http://schemas.openxmlformats.org/drawingml/2006/main">
              <a:ext uri="{FF2B5EF4-FFF2-40B4-BE49-F238E27FC236}">
                <a16:creationId xmlns:a16="http://schemas.microsoft.com/office/drawing/2014/main" id="{BF1BA36E-EA3F-40C7-95C5-10FE3700DBDD}"/>
              </a:ext>
            </a:extLst>
          </p:cNvPr>
          <p:cNvSpPr>
            <a:spLocks xmlns:a="http://schemas.openxmlformats.org/drawingml/2006/main" noGrp="1"/>
          </p:cNvSpPr>
          <p:nvPr/>
        </p:nvSpPr>
        <p:spPr>
          <a:xfrm xmlns:a="http://schemas.openxmlformats.org/drawingml/2006/main">
            <a:off x="666750" y="4714875"/>
            <a:ext cx="323850" cy="323850"/>
          </a:xfrm>
          <a:prstGeom xmlns:a="http://schemas.openxmlformats.org/drawingml/2006/main" prst="roundRect">
            <a:avLst>
              <a:gd name="adj" fmla="val 50000"/>
            </a:avLst>
          </a:prstGeom>
          <a:solidFill xmlns:a="http://schemas.openxmlformats.org/drawingml/2006/main">
            <a:srgbClr val="D6F57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D2E25"/>
                </a:solidFill>
                <a:latin typeface="Aptos"/>
                <a:ea typeface="Aptos"/>
                <a:cs typeface="Aptos"/>
              </a:defRPr>
            </a:pPr>
            <a:r>
              <a:rPr sz="1350" b="1">
                <a:solidFill>
                  <a:srgbClr val="0D2E25"/>
                </a:solidFill>
                <a:latin typeface="Aptos"/>
                <a:ea typeface="Aptos"/>
                <a:cs typeface="Aptos"/>
              </a:rPr>
              <a:t>1</a:t>
            </a:r>
          </a:p>
        </p:txBody>
      </p:sp>
      <p:sp>
        <p:nvSpPr>
          <p:cNvPr id="18" name="">
            <a:extLst xmlns:a="http://schemas.openxmlformats.org/drawingml/2006/main">
              <a:ext uri="{FF2B5EF4-FFF2-40B4-BE49-F238E27FC236}">
                <a16:creationId xmlns:a16="http://schemas.microsoft.com/office/drawing/2014/main" id="{218B9D23-4EC1-440C-B720-6DD07010992B}"/>
              </a:ext>
            </a:extLst>
          </p:cNvPr>
          <p:cNvSpPr>
            <a:spLocks xmlns:a="http://schemas.openxmlformats.org/drawingml/2006/main" noGrp="1"/>
          </p:cNvSpPr>
          <p:nvPr/>
        </p:nvSpPr>
        <p:spPr>
          <a:xfrm xmlns:a="http://schemas.openxmlformats.org/drawingml/2006/main">
            <a:off x="1085850" y="4610100"/>
            <a:ext cx="1600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08251E"/>
                </a:solidFill>
                <a:latin typeface="Aptos"/>
                <a:ea typeface="Aptos"/>
                <a:cs typeface="Aptos"/>
              </a:defRPr>
            </a:pPr>
            <a:r>
              <a:rPr sz="1425" b="1">
                <a:solidFill>
                  <a:srgbClr val="08251E"/>
                </a:solidFill>
                <a:latin typeface="Aptos"/>
                <a:ea typeface="Aptos"/>
                <a:cs typeface="Aptos"/>
              </a:rPr>
              <a:t>Find due</a:t>
            </a:r>
          </a:p>
          <a:p xmlns:a="http://schemas.openxmlformats.org/drawingml/2006/main">
            <a:pPr algn="l">
              <a:defRPr sz="1425" b="1">
                <a:solidFill>
                  <a:srgbClr val="08251E"/>
                </a:solidFill>
                <a:latin typeface="Aptos"/>
                <a:ea typeface="Aptos"/>
                <a:cs typeface="Aptos"/>
              </a:defRPr>
            </a:pPr>
            <a:r>
              <a:rPr sz="1425" b="1">
                <a:solidFill>
                  <a:srgbClr val="08251E"/>
                </a:solidFill>
                <a:latin typeface="Aptos"/>
                <a:ea typeface="Aptos"/>
                <a:cs typeface="Aptos"/>
              </a:rPr>
              <a:t>subscription</a:t>
            </a:r>
          </a:p>
        </p:txBody>
      </p:sp>
      <p:sp>
        <p:nvSpPr>
          <p:cNvPr id="19" name="">
            <a:extLst xmlns:a="http://schemas.openxmlformats.org/drawingml/2006/main">
              <a:ext uri="{FF2B5EF4-FFF2-40B4-BE49-F238E27FC236}">
                <a16:creationId xmlns:a16="http://schemas.microsoft.com/office/drawing/2014/main" id="{51333CC4-44CB-4764-95B1-DDF035B48013}"/>
              </a:ext>
            </a:extLst>
          </p:cNvPr>
          <p:cNvSpPr>
            <a:spLocks xmlns:a="http://schemas.openxmlformats.org/drawingml/2006/main" noGrp="1"/>
          </p:cNvSpPr>
          <p:nvPr/>
        </p:nvSpPr>
        <p:spPr>
          <a:xfrm xmlns:a="http://schemas.openxmlformats.org/drawingml/2006/main">
            <a:off x="2619375" y="4867275"/>
            <a:ext cx="190500" cy="19050"/>
          </a:xfrm>
          <a:prstGeom xmlns:a="http://schemas.openxmlformats.org/drawingml/2006/main" prst="rect">
            <a:avLst/>
          </a:prstGeom>
          <a:solidFill xmlns:a="http://schemas.openxmlformats.org/drawingml/2006/main">
            <a:srgbClr val="1A6C52"/>
          </a:solidFill>
          <a:ln xmlns:a="http://schemas.openxmlformats.org/drawingml/2006/main" w="0">
            <a:solidFill>
              <a:srgbClr val="1A6C52"/>
            </a:solidFill>
          </a:ln>
        </p:spPr>
      </p:sp>
      <p:sp>
        <p:nvSpPr>
          <p:cNvPr id="20" name="">
            <a:extLst xmlns:a="http://schemas.openxmlformats.org/drawingml/2006/main">
              <a:ext uri="{FF2B5EF4-FFF2-40B4-BE49-F238E27FC236}">
                <a16:creationId xmlns:a16="http://schemas.microsoft.com/office/drawing/2014/main" id="{03377336-398E-42D1-BA22-09F656CD4400}"/>
              </a:ext>
            </a:extLst>
          </p:cNvPr>
          <p:cNvSpPr>
            <a:spLocks xmlns:a="http://schemas.openxmlformats.org/drawingml/2006/main" noGrp="1"/>
          </p:cNvSpPr>
          <p:nvPr/>
        </p:nvSpPr>
        <p:spPr>
          <a:xfrm xmlns:a="http://schemas.openxmlformats.org/drawingml/2006/main">
            <a:off x="2857500" y="4714875"/>
            <a:ext cx="323850" cy="323850"/>
          </a:xfrm>
          <a:prstGeom xmlns:a="http://schemas.openxmlformats.org/drawingml/2006/main" prst="roundRect">
            <a:avLst>
              <a:gd name="adj" fmla="val 50000"/>
            </a:avLst>
          </a:prstGeom>
          <a:solidFill xmlns:a="http://schemas.openxmlformats.org/drawingml/2006/main">
            <a:srgbClr val="D6F57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D2E25"/>
                </a:solidFill>
                <a:latin typeface="Aptos"/>
                <a:ea typeface="Aptos"/>
                <a:cs typeface="Aptos"/>
              </a:defRPr>
            </a:pPr>
            <a:r>
              <a:rPr sz="1350" b="1">
                <a:solidFill>
                  <a:srgbClr val="0D2E25"/>
                </a:solidFill>
                <a:latin typeface="Aptos"/>
                <a:ea typeface="Aptos"/>
                <a:cs typeface="Aptos"/>
              </a:rPr>
              <a:t>2</a:t>
            </a:r>
          </a:p>
        </p:txBody>
      </p:sp>
      <p:sp>
        <p:nvSpPr>
          <p:cNvPr id="21" name="">
            <a:extLst xmlns:a="http://schemas.openxmlformats.org/drawingml/2006/main">
              <a:ext uri="{FF2B5EF4-FFF2-40B4-BE49-F238E27FC236}">
                <a16:creationId xmlns:a16="http://schemas.microsoft.com/office/drawing/2014/main" id="{6875B4FC-6251-4BC7-A39B-2B473ACF6357}"/>
              </a:ext>
            </a:extLst>
          </p:cNvPr>
          <p:cNvSpPr>
            <a:spLocks xmlns:a="http://schemas.openxmlformats.org/drawingml/2006/main" noGrp="1"/>
          </p:cNvSpPr>
          <p:nvPr/>
        </p:nvSpPr>
        <p:spPr>
          <a:xfrm xmlns:a="http://schemas.openxmlformats.org/drawingml/2006/main">
            <a:off x="3276600" y="4610100"/>
            <a:ext cx="1600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08251E"/>
                </a:solidFill>
                <a:latin typeface="Aptos"/>
                <a:ea typeface="Aptos"/>
                <a:cs typeface="Aptos"/>
              </a:defRPr>
            </a:pPr>
            <a:r>
              <a:rPr sz="1425" b="1">
                <a:solidFill>
                  <a:srgbClr val="08251E"/>
                </a:solidFill>
                <a:latin typeface="Aptos"/>
                <a:ea typeface="Aptos"/>
                <a:cs typeface="Aptos"/>
              </a:rPr>
              <a:t>Lock idempotent</a:t>
            </a:r>
          </a:p>
          <a:p xmlns:a="http://schemas.openxmlformats.org/drawingml/2006/main">
            <a:pPr algn="l">
              <a:defRPr sz="1425" b="1">
                <a:solidFill>
                  <a:srgbClr val="08251E"/>
                </a:solidFill>
                <a:latin typeface="Aptos"/>
                <a:ea typeface="Aptos"/>
                <a:cs typeface="Aptos"/>
              </a:defRPr>
            </a:pPr>
            <a:r>
              <a:rPr sz="1425" b="1">
                <a:solidFill>
                  <a:srgbClr val="08251E"/>
                </a:solidFill>
                <a:latin typeface="Aptos"/>
                <a:ea typeface="Aptos"/>
                <a:cs typeface="Aptos"/>
              </a:rPr>
              <a:t>cycle</a:t>
            </a:r>
          </a:p>
        </p:txBody>
      </p:sp>
      <p:sp>
        <p:nvSpPr>
          <p:cNvPr id="22" name="">
            <a:extLst xmlns:a="http://schemas.openxmlformats.org/drawingml/2006/main">
              <a:ext uri="{FF2B5EF4-FFF2-40B4-BE49-F238E27FC236}">
                <a16:creationId xmlns:a16="http://schemas.microsoft.com/office/drawing/2014/main" id="{BA3FA734-901D-4D10-B590-8D8BD5E3D139}"/>
              </a:ext>
            </a:extLst>
          </p:cNvPr>
          <p:cNvSpPr>
            <a:spLocks xmlns:a="http://schemas.openxmlformats.org/drawingml/2006/main" noGrp="1"/>
          </p:cNvSpPr>
          <p:nvPr/>
        </p:nvSpPr>
        <p:spPr>
          <a:xfrm xmlns:a="http://schemas.openxmlformats.org/drawingml/2006/main">
            <a:off x="4810125" y="4867275"/>
            <a:ext cx="190500" cy="19050"/>
          </a:xfrm>
          <a:prstGeom xmlns:a="http://schemas.openxmlformats.org/drawingml/2006/main" prst="rect">
            <a:avLst/>
          </a:prstGeom>
          <a:solidFill xmlns:a="http://schemas.openxmlformats.org/drawingml/2006/main">
            <a:srgbClr val="1A6C52"/>
          </a:solidFill>
          <a:ln xmlns:a="http://schemas.openxmlformats.org/drawingml/2006/main" w="0">
            <a:solidFill>
              <a:srgbClr val="1A6C52"/>
            </a:solidFill>
          </a:ln>
        </p:spPr>
      </p:sp>
      <p:sp>
        <p:nvSpPr>
          <p:cNvPr id="23" name="">
            <a:extLst xmlns:a="http://schemas.openxmlformats.org/drawingml/2006/main">
              <a:ext uri="{FF2B5EF4-FFF2-40B4-BE49-F238E27FC236}">
                <a16:creationId xmlns:a16="http://schemas.microsoft.com/office/drawing/2014/main" id="{609F3ED1-95E0-4C4F-82E5-AF5049DCA0C4}"/>
              </a:ext>
            </a:extLst>
          </p:cNvPr>
          <p:cNvSpPr>
            <a:spLocks xmlns:a="http://schemas.openxmlformats.org/drawingml/2006/main" noGrp="1"/>
          </p:cNvSpPr>
          <p:nvPr/>
        </p:nvSpPr>
        <p:spPr>
          <a:xfrm xmlns:a="http://schemas.openxmlformats.org/drawingml/2006/main">
            <a:off x="5048250" y="4714875"/>
            <a:ext cx="323850" cy="323850"/>
          </a:xfrm>
          <a:prstGeom xmlns:a="http://schemas.openxmlformats.org/drawingml/2006/main" prst="roundRect">
            <a:avLst>
              <a:gd name="adj" fmla="val 50000"/>
            </a:avLst>
          </a:prstGeom>
          <a:solidFill xmlns:a="http://schemas.openxmlformats.org/drawingml/2006/main">
            <a:srgbClr val="D6F57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D2E25"/>
                </a:solidFill>
                <a:latin typeface="Aptos"/>
                <a:ea typeface="Aptos"/>
                <a:cs typeface="Aptos"/>
              </a:defRPr>
            </a:pPr>
            <a:r>
              <a:rPr sz="1350" b="1">
                <a:solidFill>
                  <a:srgbClr val="0D2E25"/>
                </a:solidFill>
                <a:latin typeface="Aptos"/>
                <a:ea typeface="Aptos"/>
                <a:cs typeface="Aptos"/>
              </a:rPr>
              <a:t>3</a:t>
            </a:r>
          </a:p>
        </p:txBody>
      </p:sp>
      <p:sp>
        <p:nvSpPr>
          <p:cNvPr id="24" name="">
            <a:extLst xmlns:a="http://schemas.openxmlformats.org/drawingml/2006/main">
              <a:ext uri="{FF2B5EF4-FFF2-40B4-BE49-F238E27FC236}">
                <a16:creationId xmlns:a16="http://schemas.microsoft.com/office/drawing/2014/main" id="{EC70BA82-01B5-47A7-AE0F-801960681F28}"/>
              </a:ext>
            </a:extLst>
          </p:cNvPr>
          <p:cNvSpPr>
            <a:spLocks xmlns:a="http://schemas.openxmlformats.org/drawingml/2006/main" noGrp="1"/>
          </p:cNvSpPr>
          <p:nvPr/>
        </p:nvSpPr>
        <p:spPr>
          <a:xfrm xmlns:a="http://schemas.openxmlformats.org/drawingml/2006/main">
            <a:off x="5467350" y="4610100"/>
            <a:ext cx="1600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08251E"/>
                </a:solidFill>
                <a:latin typeface="Aptos"/>
                <a:ea typeface="Aptos"/>
                <a:cs typeface="Aptos"/>
              </a:defRPr>
            </a:pPr>
            <a:r>
              <a:rPr sz="1425" b="1">
                <a:solidFill>
                  <a:srgbClr val="08251E"/>
                </a:solidFill>
                <a:latin typeface="Aptos"/>
                <a:ea typeface="Aptos"/>
                <a:cs typeface="Aptos"/>
              </a:rPr>
              <a:t>Price plan, usage</a:t>
            </a:r>
          </a:p>
          <a:p xmlns:a="http://schemas.openxmlformats.org/drawingml/2006/main">
            <a:pPr algn="l">
              <a:defRPr sz="1425" b="1">
                <a:solidFill>
                  <a:srgbClr val="08251E"/>
                </a:solidFill>
                <a:latin typeface="Aptos"/>
                <a:ea typeface="Aptos"/>
                <a:cs typeface="Aptos"/>
              </a:defRPr>
            </a:pPr>
            <a:r>
              <a:rPr sz="1425" b="1">
                <a:solidFill>
                  <a:srgbClr val="08251E"/>
                </a:solidFill>
                <a:latin typeface="Aptos"/>
                <a:ea typeface="Aptos"/>
                <a:cs typeface="Aptos"/>
              </a:rPr>
              <a:t>and proration</a:t>
            </a:r>
          </a:p>
        </p:txBody>
      </p:sp>
      <p:sp>
        <p:nvSpPr>
          <p:cNvPr id="25" name="">
            <a:extLst xmlns:a="http://schemas.openxmlformats.org/drawingml/2006/main">
              <a:ext uri="{FF2B5EF4-FFF2-40B4-BE49-F238E27FC236}">
                <a16:creationId xmlns:a16="http://schemas.microsoft.com/office/drawing/2014/main" id="{4CCEBF89-178D-4611-B070-34F897EAD557}"/>
              </a:ext>
            </a:extLst>
          </p:cNvPr>
          <p:cNvSpPr>
            <a:spLocks xmlns:a="http://schemas.openxmlformats.org/drawingml/2006/main" noGrp="1"/>
          </p:cNvSpPr>
          <p:nvPr/>
        </p:nvSpPr>
        <p:spPr>
          <a:xfrm xmlns:a="http://schemas.openxmlformats.org/drawingml/2006/main">
            <a:off x="7000875" y="4867275"/>
            <a:ext cx="190500" cy="19050"/>
          </a:xfrm>
          <a:prstGeom xmlns:a="http://schemas.openxmlformats.org/drawingml/2006/main" prst="rect">
            <a:avLst/>
          </a:prstGeom>
          <a:solidFill xmlns:a="http://schemas.openxmlformats.org/drawingml/2006/main">
            <a:srgbClr val="1A6C52"/>
          </a:solidFill>
          <a:ln xmlns:a="http://schemas.openxmlformats.org/drawingml/2006/main" w="0">
            <a:solidFill>
              <a:srgbClr val="1A6C52"/>
            </a:solidFill>
          </a:ln>
        </p:spPr>
      </p:sp>
      <p:sp>
        <p:nvSpPr>
          <p:cNvPr id="26" name="">
            <a:extLst xmlns:a="http://schemas.openxmlformats.org/drawingml/2006/main">
              <a:ext uri="{FF2B5EF4-FFF2-40B4-BE49-F238E27FC236}">
                <a16:creationId xmlns:a16="http://schemas.microsoft.com/office/drawing/2014/main" id="{2A48F896-75C7-4DF8-9F1A-32462D215961}"/>
              </a:ext>
            </a:extLst>
          </p:cNvPr>
          <p:cNvSpPr>
            <a:spLocks xmlns:a="http://schemas.openxmlformats.org/drawingml/2006/main" noGrp="1"/>
          </p:cNvSpPr>
          <p:nvPr/>
        </p:nvSpPr>
        <p:spPr>
          <a:xfrm xmlns:a="http://schemas.openxmlformats.org/drawingml/2006/main">
            <a:off x="7239000" y="4714875"/>
            <a:ext cx="323850" cy="323850"/>
          </a:xfrm>
          <a:prstGeom xmlns:a="http://schemas.openxmlformats.org/drawingml/2006/main" prst="roundRect">
            <a:avLst>
              <a:gd name="adj" fmla="val 50000"/>
            </a:avLst>
          </a:prstGeom>
          <a:solidFill xmlns:a="http://schemas.openxmlformats.org/drawingml/2006/main">
            <a:srgbClr val="D6F57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D2E25"/>
                </a:solidFill>
                <a:latin typeface="Aptos"/>
                <a:ea typeface="Aptos"/>
                <a:cs typeface="Aptos"/>
              </a:defRPr>
            </a:pPr>
            <a:r>
              <a:rPr sz="1350" b="1">
                <a:solidFill>
                  <a:srgbClr val="0D2E25"/>
                </a:solidFill>
                <a:latin typeface="Aptos"/>
                <a:ea typeface="Aptos"/>
                <a:cs typeface="Aptos"/>
              </a:rPr>
              <a:t>4</a:t>
            </a:r>
          </a:p>
        </p:txBody>
      </p:sp>
      <p:sp>
        <p:nvSpPr>
          <p:cNvPr id="27" name="">
            <a:extLst xmlns:a="http://schemas.openxmlformats.org/drawingml/2006/main">
              <a:ext uri="{FF2B5EF4-FFF2-40B4-BE49-F238E27FC236}">
                <a16:creationId xmlns:a16="http://schemas.microsoft.com/office/drawing/2014/main" id="{A27F2F29-AAD3-4873-8588-1EAC25FABD33}"/>
              </a:ext>
            </a:extLst>
          </p:cNvPr>
          <p:cNvSpPr>
            <a:spLocks xmlns:a="http://schemas.openxmlformats.org/drawingml/2006/main" noGrp="1"/>
          </p:cNvSpPr>
          <p:nvPr/>
        </p:nvSpPr>
        <p:spPr>
          <a:xfrm xmlns:a="http://schemas.openxmlformats.org/drawingml/2006/main">
            <a:off x="7658100" y="4610100"/>
            <a:ext cx="1600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08251E"/>
                </a:solidFill>
                <a:latin typeface="Aptos"/>
                <a:ea typeface="Aptos"/>
                <a:cs typeface="Aptos"/>
              </a:defRPr>
            </a:pPr>
            <a:r>
              <a:rPr sz="1425" b="1">
                <a:solidFill>
                  <a:srgbClr val="08251E"/>
                </a:solidFill>
                <a:latin typeface="Aptos"/>
                <a:ea typeface="Aptos"/>
                <a:cs typeface="Aptos"/>
              </a:rPr>
              <a:t>Apply regional</a:t>
            </a:r>
          </a:p>
          <a:p xmlns:a="http://schemas.openxmlformats.org/drawingml/2006/main">
            <a:pPr algn="l">
              <a:defRPr sz="1425" b="1">
                <a:solidFill>
                  <a:srgbClr val="08251E"/>
                </a:solidFill>
                <a:latin typeface="Aptos"/>
                <a:ea typeface="Aptos"/>
                <a:cs typeface="Aptos"/>
              </a:defRPr>
            </a:pPr>
            <a:r>
              <a:rPr sz="1425" b="1">
                <a:solidFill>
                  <a:srgbClr val="08251E"/>
                </a:solidFill>
                <a:latin typeface="Aptos"/>
                <a:ea typeface="Aptos"/>
                <a:cs typeface="Aptos"/>
              </a:rPr>
              <a:t>tax</a:t>
            </a:r>
          </a:p>
        </p:txBody>
      </p:sp>
      <p:sp>
        <p:nvSpPr>
          <p:cNvPr id="28" name="">
            <a:extLst xmlns:a="http://schemas.openxmlformats.org/drawingml/2006/main">
              <a:ext uri="{FF2B5EF4-FFF2-40B4-BE49-F238E27FC236}">
                <a16:creationId xmlns:a16="http://schemas.microsoft.com/office/drawing/2014/main" id="{8197AA7E-83D5-4ECA-9950-9CAD6CDFFBC9}"/>
              </a:ext>
            </a:extLst>
          </p:cNvPr>
          <p:cNvSpPr>
            <a:spLocks xmlns:a="http://schemas.openxmlformats.org/drawingml/2006/main" noGrp="1"/>
          </p:cNvSpPr>
          <p:nvPr/>
        </p:nvSpPr>
        <p:spPr>
          <a:xfrm xmlns:a="http://schemas.openxmlformats.org/drawingml/2006/main">
            <a:off x="9191625" y="4867275"/>
            <a:ext cx="190500" cy="19050"/>
          </a:xfrm>
          <a:prstGeom xmlns:a="http://schemas.openxmlformats.org/drawingml/2006/main" prst="rect">
            <a:avLst/>
          </a:prstGeom>
          <a:solidFill xmlns:a="http://schemas.openxmlformats.org/drawingml/2006/main">
            <a:srgbClr val="1A6C52"/>
          </a:solidFill>
          <a:ln xmlns:a="http://schemas.openxmlformats.org/drawingml/2006/main" w="0">
            <a:solidFill>
              <a:srgbClr val="1A6C52"/>
            </a:solidFill>
          </a:ln>
        </p:spPr>
      </p:sp>
      <p:sp>
        <p:nvSpPr>
          <p:cNvPr id="29" name="">
            <a:extLst xmlns:a="http://schemas.openxmlformats.org/drawingml/2006/main">
              <a:ext uri="{FF2B5EF4-FFF2-40B4-BE49-F238E27FC236}">
                <a16:creationId xmlns:a16="http://schemas.microsoft.com/office/drawing/2014/main" id="{743B6C18-9B12-403B-992D-915491FBF428}"/>
              </a:ext>
            </a:extLst>
          </p:cNvPr>
          <p:cNvSpPr>
            <a:spLocks xmlns:a="http://schemas.openxmlformats.org/drawingml/2006/main" noGrp="1"/>
          </p:cNvSpPr>
          <p:nvPr/>
        </p:nvSpPr>
        <p:spPr>
          <a:xfrm xmlns:a="http://schemas.openxmlformats.org/drawingml/2006/main">
            <a:off x="9429750" y="4714875"/>
            <a:ext cx="323850" cy="323850"/>
          </a:xfrm>
          <a:prstGeom xmlns:a="http://schemas.openxmlformats.org/drawingml/2006/main" prst="roundRect">
            <a:avLst>
              <a:gd name="adj" fmla="val 50000"/>
            </a:avLst>
          </a:prstGeom>
          <a:solidFill xmlns:a="http://schemas.openxmlformats.org/drawingml/2006/main">
            <a:srgbClr val="D6F57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D2E25"/>
                </a:solidFill>
                <a:latin typeface="Aptos"/>
                <a:ea typeface="Aptos"/>
                <a:cs typeface="Aptos"/>
              </a:defRPr>
            </a:pPr>
            <a:r>
              <a:rPr sz="1350" b="1">
                <a:solidFill>
                  <a:srgbClr val="0D2E25"/>
                </a:solidFill>
                <a:latin typeface="Aptos"/>
                <a:ea typeface="Aptos"/>
                <a:cs typeface="Aptos"/>
              </a:rPr>
              <a:t>5</a:t>
            </a:r>
          </a:p>
        </p:txBody>
      </p:sp>
      <p:sp>
        <p:nvSpPr>
          <p:cNvPr id="30" name="">
            <a:extLst xmlns:a="http://schemas.openxmlformats.org/drawingml/2006/main">
              <a:ext uri="{FF2B5EF4-FFF2-40B4-BE49-F238E27FC236}">
                <a16:creationId xmlns:a16="http://schemas.microsoft.com/office/drawing/2014/main" id="{77010DB5-2232-401E-8149-6737A33287C0}"/>
              </a:ext>
            </a:extLst>
          </p:cNvPr>
          <p:cNvSpPr>
            <a:spLocks xmlns:a="http://schemas.openxmlformats.org/drawingml/2006/main" noGrp="1"/>
          </p:cNvSpPr>
          <p:nvPr/>
        </p:nvSpPr>
        <p:spPr>
          <a:xfrm xmlns:a="http://schemas.openxmlformats.org/drawingml/2006/main">
            <a:off x="9848850" y="4610100"/>
            <a:ext cx="1600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08251E"/>
                </a:solidFill>
                <a:latin typeface="Aptos"/>
                <a:ea typeface="Aptos"/>
                <a:cs typeface="Aptos"/>
              </a:defRPr>
            </a:pPr>
            <a:r>
              <a:rPr sz="1425" b="1">
                <a:solidFill>
                  <a:srgbClr val="08251E"/>
                </a:solidFill>
                <a:latin typeface="Aptos"/>
                <a:ea typeface="Aptos"/>
                <a:cs typeface="Aptos"/>
              </a:rPr>
              <a:t>Persist invoice</a:t>
            </a:r>
          </a:p>
          <a:p xmlns:a="http://schemas.openxmlformats.org/drawingml/2006/main">
            <a:pPr algn="l">
              <a:defRPr sz="1425" b="1">
                <a:solidFill>
                  <a:srgbClr val="08251E"/>
                </a:solidFill>
                <a:latin typeface="Aptos"/>
                <a:ea typeface="Aptos"/>
                <a:cs typeface="Aptos"/>
              </a:defRPr>
            </a:pPr>
            <a:r>
              <a:rPr sz="1425" b="1">
                <a:solidFill>
                  <a:srgbClr val="08251E"/>
                </a:solidFill>
                <a:latin typeface="Aptos"/>
                <a:ea typeface="Aptos"/>
                <a:cs typeface="Aptos"/>
              </a:rPr>
              <a:t>and next period</a:t>
            </a:r>
          </a:p>
        </p:txBody>
      </p:sp>
      <p:sp>
        <p:nvSpPr>
          <p:cNvPr id="31" name="">
            <a:extLst xmlns:a="http://schemas.openxmlformats.org/drawingml/2006/main">
              <a:ext uri="{FF2B5EF4-FFF2-40B4-BE49-F238E27FC236}">
                <a16:creationId xmlns:a16="http://schemas.microsoft.com/office/drawing/2014/main" id="{E850D99A-349C-445F-95A3-F451308C4689}"/>
              </a:ext>
            </a:extLst>
          </p:cNvPr>
          <p:cNvSpPr>
            <a:spLocks xmlns:a="http://schemas.openxmlformats.org/drawingml/2006/main" noGrp="1"/>
          </p:cNvSpPr>
          <p:nvPr/>
        </p:nvSpPr>
        <p:spPr>
          <a:xfrm xmlns:a="http://schemas.openxmlformats.org/drawingml/2006/main">
            <a:off x="628650" y="647700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1A6C52"/>
                </a:solidFill>
                <a:latin typeface="Aptos"/>
                <a:ea typeface="Aptos"/>
                <a:cs typeface="Aptos"/>
              </a:defRPr>
            </a:pPr>
            <a:r>
              <a:rPr sz="975" b="1">
                <a:solidFill>
                  <a:srgbClr val="1A6C52"/>
                </a:solidFill>
                <a:latin typeface="Aptos"/>
                <a:ea typeface="Aptos"/>
                <a:cs typeface="Aptos"/>
              </a:rPr>
              <a:t>BillFlow AI</a:t>
            </a:r>
          </a:p>
        </p:txBody>
      </p:sp>
      <p:sp>
        <p:nvSpPr>
          <p:cNvPr id="32" name="">
            <a:extLst xmlns:a="http://schemas.openxmlformats.org/drawingml/2006/main">
              <a:ext uri="{FF2B5EF4-FFF2-40B4-BE49-F238E27FC236}">
                <a16:creationId xmlns:a16="http://schemas.microsoft.com/office/drawing/2014/main" id="{DEE23CFD-440B-468D-943B-1A2FDD14BD58}"/>
              </a:ext>
            </a:extLst>
          </p:cNvPr>
          <p:cNvSpPr>
            <a:spLocks xmlns:a="http://schemas.openxmlformats.org/drawingml/2006/main" noGrp="1"/>
          </p:cNvSpPr>
          <p:nvPr/>
        </p:nvSpPr>
        <p:spPr>
          <a:xfrm xmlns:a="http://schemas.openxmlformats.org/drawingml/2006/main">
            <a:off x="11049000" y="6477000"/>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66736E"/>
                </a:solidFill>
                <a:latin typeface="Aptos"/>
                <a:ea typeface="Aptos"/>
                <a:cs typeface="Aptos"/>
              </a:defRPr>
            </a:pPr>
            <a:r>
              <a:rPr sz="975" b="1">
                <a:solidFill>
                  <a:srgbClr val="66736E"/>
                </a:solidFill>
                <a:latin typeface="Aptos"/>
                <a:ea typeface="Aptos"/>
                <a:cs typeface="Aptos"/>
              </a:rPr>
              <a:t>05</a:t>
            </a:r>
          </a:p>
        </p:txBody>
      </p:sp>
    </p:spTree>
    <p:extLst>
      <p:ext uri="{BB962C8B-B14F-4D97-AF65-F5344CB8AC3E}">
        <p14:creationId xmlns:p14="http://schemas.microsoft.com/office/powerpoint/2010/main" val="1277788521"/>
      </p:ext>
    </p:extLst>
  </p:cSld>
</p:sld>
</file>

<file path=ppt/slides/slide6.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84AE04B0-5EA4-4B86-AB14-0D5961215A03}"/>
              </a:ext>
            </a:extLst>
          </p:cNvPr>
          <p:cNvSpPr>
            <a:spLocks xmlns:a="http://schemas.openxmlformats.org/drawingml/2006/main" noGrp="1"/>
          </p:cNvSpPr>
          <p:nvPr/>
        </p:nvSpPr>
        <p:spPr>
          <a:xfrm xmlns:a="http://schemas.openxmlformats.org/drawingml/2006/main">
            <a:off x="628650" y="28575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1A6C52"/>
                </a:solidFill>
                <a:latin typeface="Aptos"/>
                <a:ea typeface="Aptos"/>
                <a:cs typeface="Aptos"/>
              </a:defRPr>
            </a:pPr>
            <a:r>
              <a:rPr sz="1200" b="1">
                <a:solidFill>
                  <a:srgbClr val="1A6C52"/>
                </a:solidFill>
                <a:latin typeface="Aptos"/>
                <a:ea typeface="Aptos"/>
                <a:cs typeface="Aptos"/>
              </a:rPr>
              <a:t>06</a:t>
            </a:r>
          </a:p>
        </p:txBody>
      </p:sp>
      <p:sp>
        <p:nvSpPr>
          <p:cNvPr id="2" name="">
            <a:extLst xmlns:a="http://schemas.openxmlformats.org/drawingml/2006/main">
              <a:ext uri="{FF2B5EF4-FFF2-40B4-BE49-F238E27FC236}">
                <a16:creationId xmlns:a16="http://schemas.microsoft.com/office/drawing/2014/main" id="{BDB0C248-8D8A-418D-B557-DE2A49775E32}"/>
              </a:ext>
            </a:extLst>
          </p:cNvPr>
          <p:cNvSpPr>
            <a:spLocks xmlns:a="http://schemas.openxmlformats.org/drawingml/2006/main" noGrp="1"/>
          </p:cNvSpPr>
          <p:nvPr/>
        </p:nvSpPr>
        <p:spPr>
          <a:xfrm xmlns:a="http://schemas.openxmlformats.org/drawingml/2006/main">
            <a:off x="628650" y="60960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251E"/>
                </a:solidFill>
                <a:latin typeface="Aptos"/>
                <a:ea typeface="Aptos"/>
                <a:cs typeface="Aptos"/>
              </a:defRPr>
            </a:pPr>
            <a:r>
              <a:rPr sz="3225" b="1">
                <a:solidFill>
                  <a:srgbClr val="08251E"/>
                </a:solidFill>
                <a:latin typeface="Aptos"/>
                <a:ea typeface="Aptos"/>
                <a:cs typeface="Aptos"/>
              </a:rPr>
              <a:t>Billing operator journey</a:t>
            </a:r>
          </a:p>
        </p:txBody>
      </p:sp>
      <p:sp>
        <p:nvSpPr>
          <p:cNvPr id="3" name="">
            <a:extLst xmlns:a="http://schemas.openxmlformats.org/drawingml/2006/main">
              <a:ext uri="{FF2B5EF4-FFF2-40B4-BE49-F238E27FC236}">
                <a16:creationId xmlns:a16="http://schemas.microsoft.com/office/drawing/2014/main" id="{953ACE90-B0D0-4C31-AD87-539B3AC7D972}"/>
              </a:ext>
            </a:extLst>
          </p:cNvPr>
          <p:cNvSpPr>
            <a:spLocks xmlns:a="http://schemas.openxmlformats.org/drawingml/2006/main" noGrp="1"/>
          </p:cNvSpPr>
          <p:nvPr/>
        </p:nvSpPr>
        <p:spPr>
          <a:xfrm xmlns:a="http://schemas.openxmlformats.org/drawingml/2006/main">
            <a:off x="647700" y="114300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36E"/>
                </a:solidFill>
                <a:latin typeface="Aptos"/>
                <a:ea typeface="Aptos"/>
                <a:cs typeface="Aptos"/>
              </a:defRPr>
            </a:pPr>
            <a:r>
              <a:rPr sz="1425" b="0">
                <a:solidFill>
                  <a:srgbClr val="66736E"/>
                </a:solidFill>
                <a:latin typeface="Aptos"/>
                <a:ea typeface="Aptos"/>
                <a:cs typeface="Aptos"/>
              </a:rPr>
              <a:t>Each action remains visible, reversible where appropriate and linked to audit evidence</a:t>
            </a:r>
          </a:p>
        </p:txBody>
      </p:sp>
      <p:sp>
        <p:nvSpPr>
          <p:cNvPr id="4" name="">
            <a:extLst xmlns:a="http://schemas.openxmlformats.org/drawingml/2006/main">
              <a:ext uri="{FF2B5EF4-FFF2-40B4-BE49-F238E27FC236}">
                <a16:creationId xmlns:a16="http://schemas.microsoft.com/office/drawing/2014/main" id="{D4B37F55-3C1A-4981-AE74-04D906C5BD38}"/>
              </a:ext>
            </a:extLst>
          </p:cNvPr>
          <p:cNvSpPr>
            <a:spLocks xmlns:a="http://schemas.openxmlformats.org/drawingml/2006/main" noGrp="1"/>
          </p:cNvSpPr>
          <p:nvPr/>
        </p:nvSpPr>
        <p:spPr>
          <a:xfrm xmlns:a="http://schemas.openxmlformats.org/drawingml/2006/main">
            <a:off x="628650" y="1581150"/>
            <a:ext cx="10934700" cy="19050"/>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sp>
        <p:nvSpPr>
          <p:cNvPr id="5" name="">
            <a:extLst xmlns:a="http://schemas.openxmlformats.org/drawingml/2006/main">
              <a:ext uri="{FF2B5EF4-FFF2-40B4-BE49-F238E27FC236}">
                <a16:creationId xmlns:a16="http://schemas.microsoft.com/office/drawing/2014/main" id="{E8E75DA4-E314-4BB2-BD01-8895BACE480E}"/>
              </a:ext>
            </a:extLst>
          </p:cNvPr>
          <p:cNvSpPr>
            <a:spLocks xmlns:a="http://schemas.openxmlformats.org/drawingml/2006/main" noGrp="1"/>
          </p:cNvSpPr>
          <p:nvPr/>
        </p:nvSpPr>
        <p:spPr>
          <a:xfrm xmlns:a="http://schemas.openxmlformats.org/drawingml/2006/main">
            <a:off x="723900" y="1952625"/>
            <a:ext cx="552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A6C52"/>
                </a:solidFill>
                <a:latin typeface="Aptos"/>
                <a:ea typeface="Aptos"/>
                <a:cs typeface="Aptos"/>
              </a:defRPr>
            </a:pPr>
            <a:r>
              <a:rPr sz="1875" b="1">
                <a:solidFill>
                  <a:srgbClr val="1A6C52"/>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53B68091-328B-4D5E-A783-0FD9DA2E4FB8}"/>
              </a:ext>
            </a:extLst>
          </p:cNvPr>
          <p:cNvSpPr>
            <a:spLocks xmlns:a="http://schemas.openxmlformats.org/drawingml/2006/main" noGrp="1"/>
          </p:cNvSpPr>
          <p:nvPr/>
        </p:nvSpPr>
        <p:spPr>
          <a:xfrm xmlns:a="http://schemas.openxmlformats.org/drawingml/2006/main">
            <a:off x="1428750" y="191452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08251E"/>
                </a:solidFill>
                <a:latin typeface="Aptos"/>
                <a:ea typeface="Aptos"/>
                <a:cs typeface="Aptos"/>
              </a:defRPr>
            </a:pPr>
            <a:r>
              <a:rPr sz="2025" b="1">
                <a:solidFill>
                  <a:srgbClr val="08251E"/>
                </a:solidFill>
                <a:latin typeface="Aptos"/>
                <a:ea typeface="Aptos"/>
                <a:cs typeface="Aptos"/>
              </a:rPr>
              <a:t>Define offers</a:t>
            </a:r>
          </a:p>
        </p:txBody>
      </p:sp>
      <p:sp>
        <p:nvSpPr>
          <p:cNvPr id="7" name="">
            <a:extLst xmlns:a="http://schemas.openxmlformats.org/drawingml/2006/main">
              <a:ext uri="{FF2B5EF4-FFF2-40B4-BE49-F238E27FC236}">
                <a16:creationId xmlns:a16="http://schemas.microsoft.com/office/drawing/2014/main" id="{5841F75A-0489-4628-BD17-1925672DD6D2}"/>
              </a:ext>
            </a:extLst>
          </p:cNvPr>
          <p:cNvSpPr>
            <a:spLocks xmlns:a="http://schemas.openxmlformats.org/drawingml/2006/main" noGrp="1"/>
          </p:cNvSpPr>
          <p:nvPr/>
        </p:nvSpPr>
        <p:spPr>
          <a:xfrm xmlns:a="http://schemas.openxmlformats.org/drawingml/2006/main">
            <a:off x="1428750" y="2295525"/>
            <a:ext cx="428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36E"/>
                </a:solidFill>
                <a:latin typeface="Aptos"/>
                <a:ea typeface="Aptos"/>
                <a:cs typeface="Aptos"/>
              </a:defRPr>
            </a:pPr>
            <a:r>
              <a:rPr sz="1350" b="0">
                <a:solidFill>
                  <a:srgbClr val="66736E"/>
                </a:solidFill>
                <a:latin typeface="Aptos"/>
                <a:ea typeface="Aptos"/>
                <a:cs typeface="Aptos"/>
              </a:rPr>
              <a:t>Monthly or annual plans, entitlements, trials and archive policy</a:t>
            </a:r>
          </a:p>
        </p:txBody>
      </p:sp>
      <p:sp>
        <p:nvSpPr>
          <p:cNvPr id="8" name="">
            <a:extLst xmlns:a="http://schemas.openxmlformats.org/drawingml/2006/main">
              <a:ext uri="{FF2B5EF4-FFF2-40B4-BE49-F238E27FC236}">
                <a16:creationId xmlns:a16="http://schemas.microsoft.com/office/drawing/2014/main" id="{C34701F5-3F03-45DD-B069-281E13170FCA}"/>
              </a:ext>
            </a:extLst>
          </p:cNvPr>
          <p:cNvSpPr>
            <a:spLocks xmlns:a="http://schemas.openxmlformats.org/drawingml/2006/main" noGrp="1"/>
          </p:cNvSpPr>
          <p:nvPr/>
        </p:nvSpPr>
        <p:spPr>
          <a:xfrm xmlns:a="http://schemas.openxmlformats.org/drawingml/2006/main">
            <a:off x="1428750" y="2905125"/>
            <a:ext cx="4095750" cy="9525"/>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sp>
        <p:nvSpPr>
          <p:cNvPr id="9" name="">
            <a:extLst xmlns:a="http://schemas.openxmlformats.org/drawingml/2006/main">
              <a:ext uri="{FF2B5EF4-FFF2-40B4-BE49-F238E27FC236}">
                <a16:creationId xmlns:a16="http://schemas.microsoft.com/office/drawing/2014/main" id="{E6BAD2BC-8661-47A9-9125-78EA0342770A}"/>
              </a:ext>
            </a:extLst>
          </p:cNvPr>
          <p:cNvSpPr>
            <a:spLocks xmlns:a="http://schemas.openxmlformats.org/drawingml/2006/main" noGrp="1"/>
          </p:cNvSpPr>
          <p:nvPr/>
        </p:nvSpPr>
        <p:spPr>
          <a:xfrm xmlns:a="http://schemas.openxmlformats.org/drawingml/2006/main">
            <a:off x="6343650" y="1952625"/>
            <a:ext cx="552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A6C52"/>
                </a:solidFill>
                <a:latin typeface="Aptos"/>
                <a:ea typeface="Aptos"/>
                <a:cs typeface="Aptos"/>
              </a:defRPr>
            </a:pPr>
            <a:r>
              <a:rPr sz="1875" b="1">
                <a:solidFill>
                  <a:srgbClr val="1A6C52"/>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5CEC8610-41A4-49E4-A584-3032EE3F464B}"/>
              </a:ext>
            </a:extLst>
          </p:cNvPr>
          <p:cNvSpPr>
            <a:spLocks xmlns:a="http://schemas.openxmlformats.org/drawingml/2006/main" noGrp="1"/>
          </p:cNvSpPr>
          <p:nvPr/>
        </p:nvSpPr>
        <p:spPr>
          <a:xfrm xmlns:a="http://schemas.openxmlformats.org/drawingml/2006/main">
            <a:off x="7048500" y="191452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08251E"/>
                </a:solidFill>
                <a:latin typeface="Aptos"/>
                <a:ea typeface="Aptos"/>
                <a:cs typeface="Aptos"/>
              </a:defRPr>
            </a:pPr>
            <a:r>
              <a:rPr sz="2025" b="1">
                <a:solidFill>
                  <a:srgbClr val="08251E"/>
                </a:solidFill>
                <a:latin typeface="Aptos"/>
                <a:ea typeface="Aptos"/>
                <a:cs typeface="Aptos"/>
              </a:rPr>
              <a:t>Onboard customers</a:t>
            </a:r>
          </a:p>
        </p:txBody>
      </p:sp>
      <p:sp>
        <p:nvSpPr>
          <p:cNvPr id="11" name="">
            <a:extLst xmlns:a="http://schemas.openxmlformats.org/drawingml/2006/main">
              <a:ext uri="{FF2B5EF4-FFF2-40B4-BE49-F238E27FC236}">
                <a16:creationId xmlns:a16="http://schemas.microsoft.com/office/drawing/2014/main" id="{EBE54198-FC57-4503-BA53-A975D902FCC4}"/>
              </a:ext>
            </a:extLst>
          </p:cNvPr>
          <p:cNvSpPr>
            <a:spLocks xmlns:a="http://schemas.openxmlformats.org/drawingml/2006/main" noGrp="1"/>
          </p:cNvSpPr>
          <p:nvPr/>
        </p:nvSpPr>
        <p:spPr>
          <a:xfrm xmlns:a="http://schemas.openxmlformats.org/drawingml/2006/main">
            <a:off x="7048500" y="2295525"/>
            <a:ext cx="428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36E"/>
                </a:solidFill>
                <a:latin typeface="Aptos"/>
                <a:ea typeface="Aptos"/>
                <a:cs typeface="Aptos"/>
              </a:defRPr>
            </a:pPr>
            <a:r>
              <a:rPr sz="1350" b="0">
                <a:solidFill>
                  <a:srgbClr val="66736E"/>
                </a:solidFill>
                <a:latin typeface="Aptos"/>
                <a:ea typeface="Aptos"/>
                <a:cs typeface="Aptos"/>
              </a:rPr>
              <a:t>Billing identity, address, jurisdiction and tax ID</a:t>
            </a:r>
          </a:p>
        </p:txBody>
      </p:sp>
      <p:sp>
        <p:nvSpPr>
          <p:cNvPr id="12" name="">
            <a:extLst xmlns:a="http://schemas.openxmlformats.org/drawingml/2006/main">
              <a:ext uri="{FF2B5EF4-FFF2-40B4-BE49-F238E27FC236}">
                <a16:creationId xmlns:a16="http://schemas.microsoft.com/office/drawing/2014/main" id="{0CCEBB63-CD21-44EB-92C2-37C71F8E0863}"/>
              </a:ext>
            </a:extLst>
          </p:cNvPr>
          <p:cNvSpPr>
            <a:spLocks xmlns:a="http://schemas.openxmlformats.org/drawingml/2006/main" noGrp="1"/>
          </p:cNvSpPr>
          <p:nvPr/>
        </p:nvSpPr>
        <p:spPr>
          <a:xfrm xmlns:a="http://schemas.openxmlformats.org/drawingml/2006/main">
            <a:off x="7048500" y="2905125"/>
            <a:ext cx="4095750" cy="9525"/>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sp>
        <p:nvSpPr>
          <p:cNvPr id="13" name="">
            <a:extLst xmlns:a="http://schemas.openxmlformats.org/drawingml/2006/main">
              <a:ext uri="{FF2B5EF4-FFF2-40B4-BE49-F238E27FC236}">
                <a16:creationId xmlns:a16="http://schemas.microsoft.com/office/drawing/2014/main" id="{8965DA93-F25D-4D47-966B-B40C6ED4ABC8}"/>
              </a:ext>
            </a:extLst>
          </p:cNvPr>
          <p:cNvSpPr>
            <a:spLocks xmlns:a="http://schemas.openxmlformats.org/drawingml/2006/main" noGrp="1"/>
          </p:cNvSpPr>
          <p:nvPr/>
        </p:nvSpPr>
        <p:spPr>
          <a:xfrm xmlns:a="http://schemas.openxmlformats.org/drawingml/2006/main">
            <a:off x="723900" y="3238500"/>
            <a:ext cx="552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A6C52"/>
                </a:solidFill>
                <a:latin typeface="Aptos"/>
                <a:ea typeface="Aptos"/>
                <a:cs typeface="Aptos"/>
              </a:defRPr>
            </a:pPr>
            <a:r>
              <a:rPr sz="1875" b="1">
                <a:solidFill>
                  <a:srgbClr val="1A6C52"/>
                </a:solidFill>
                <a:latin typeface="Aptos"/>
                <a:ea typeface="Aptos"/>
                <a:cs typeface="Aptos"/>
              </a:rPr>
              <a:t>03</a:t>
            </a:r>
          </a:p>
        </p:txBody>
      </p:sp>
      <p:sp>
        <p:nvSpPr>
          <p:cNvPr id="14" name="">
            <a:extLst xmlns:a="http://schemas.openxmlformats.org/drawingml/2006/main">
              <a:ext uri="{FF2B5EF4-FFF2-40B4-BE49-F238E27FC236}">
                <a16:creationId xmlns:a16="http://schemas.microsoft.com/office/drawing/2014/main" id="{9FE67395-EB3F-4A70-B82A-AFB85E7A34E4}"/>
              </a:ext>
            </a:extLst>
          </p:cNvPr>
          <p:cNvSpPr>
            <a:spLocks xmlns:a="http://schemas.openxmlformats.org/drawingml/2006/main" noGrp="1"/>
          </p:cNvSpPr>
          <p:nvPr/>
        </p:nvSpPr>
        <p:spPr>
          <a:xfrm xmlns:a="http://schemas.openxmlformats.org/drawingml/2006/main">
            <a:off x="1428750" y="3200400"/>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08251E"/>
                </a:solidFill>
                <a:latin typeface="Aptos"/>
                <a:ea typeface="Aptos"/>
                <a:cs typeface="Aptos"/>
              </a:defRPr>
            </a:pPr>
            <a:r>
              <a:rPr sz="2025" b="1">
                <a:solidFill>
                  <a:srgbClr val="08251E"/>
                </a:solidFill>
                <a:latin typeface="Aptos"/>
                <a:ea typeface="Aptos"/>
                <a:cs typeface="Aptos"/>
              </a:rPr>
              <a:t>Run subscriptions</a:t>
            </a:r>
          </a:p>
        </p:txBody>
      </p:sp>
      <p:sp>
        <p:nvSpPr>
          <p:cNvPr id="15" name="">
            <a:extLst xmlns:a="http://schemas.openxmlformats.org/drawingml/2006/main">
              <a:ext uri="{FF2B5EF4-FFF2-40B4-BE49-F238E27FC236}">
                <a16:creationId xmlns:a16="http://schemas.microsoft.com/office/drawing/2014/main" id="{051CBDB3-22BF-4328-B9FC-DB8F24918B54}"/>
              </a:ext>
            </a:extLst>
          </p:cNvPr>
          <p:cNvSpPr>
            <a:spLocks xmlns:a="http://schemas.openxmlformats.org/drawingml/2006/main" noGrp="1"/>
          </p:cNvSpPr>
          <p:nvPr/>
        </p:nvSpPr>
        <p:spPr>
          <a:xfrm xmlns:a="http://schemas.openxmlformats.org/drawingml/2006/main">
            <a:off x="1428750" y="3581400"/>
            <a:ext cx="428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36E"/>
                </a:solidFill>
                <a:latin typeface="Aptos"/>
                <a:ea typeface="Aptos"/>
                <a:cs typeface="Aptos"/>
              </a:defRPr>
            </a:pPr>
            <a:r>
              <a:rPr sz="1350" b="0">
                <a:solidFill>
                  <a:srgbClr val="66736E"/>
                </a:solidFill>
                <a:latin typeface="Aptos"/>
                <a:ea typeface="Aptos"/>
                <a:cs typeface="Aptos"/>
              </a:rPr>
              <a:t>Trial, plan change, pause, resume and cancellation timing</a:t>
            </a:r>
          </a:p>
        </p:txBody>
      </p:sp>
      <p:sp>
        <p:nvSpPr>
          <p:cNvPr id="16" name="">
            <a:extLst xmlns:a="http://schemas.openxmlformats.org/drawingml/2006/main">
              <a:ext uri="{FF2B5EF4-FFF2-40B4-BE49-F238E27FC236}">
                <a16:creationId xmlns:a16="http://schemas.microsoft.com/office/drawing/2014/main" id="{7EEC38A5-C066-410B-892A-C8816A58CF86}"/>
              </a:ext>
            </a:extLst>
          </p:cNvPr>
          <p:cNvSpPr>
            <a:spLocks xmlns:a="http://schemas.openxmlformats.org/drawingml/2006/main" noGrp="1"/>
          </p:cNvSpPr>
          <p:nvPr/>
        </p:nvSpPr>
        <p:spPr>
          <a:xfrm xmlns:a="http://schemas.openxmlformats.org/drawingml/2006/main">
            <a:off x="1428750" y="4191000"/>
            <a:ext cx="4095750" cy="9525"/>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sp>
        <p:nvSpPr>
          <p:cNvPr id="17" name="">
            <a:extLst xmlns:a="http://schemas.openxmlformats.org/drawingml/2006/main">
              <a:ext uri="{FF2B5EF4-FFF2-40B4-BE49-F238E27FC236}">
                <a16:creationId xmlns:a16="http://schemas.microsoft.com/office/drawing/2014/main" id="{81538042-5295-42B5-A568-A8F7CC22187D}"/>
              </a:ext>
            </a:extLst>
          </p:cNvPr>
          <p:cNvSpPr>
            <a:spLocks xmlns:a="http://schemas.openxmlformats.org/drawingml/2006/main" noGrp="1"/>
          </p:cNvSpPr>
          <p:nvPr/>
        </p:nvSpPr>
        <p:spPr>
          <a:xfrm xmlns:a="http://schemas.openxmlformats.org/drawingml/2006/main">
            <a:off x="6343650" y="3238500"/>
            <a:ext cx="552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A6C52"/>
                </a:solidFill>
                <a:latin typeface="Aptos"/>
                <a:ea typeface="Aptos"/>
                <a:cs typeface="Aptos"/>
              </a:defRPr>
            </a:pPr>
            <a:r>
              <a:rPr sz="1875" b="1">
                <a:solidFill>
                  <a:srgbClr val="1A6C52"/>
                </a:solidFill>
                <a:latin typeface="Aptos"/>
                <a:ea typeface="Aptos"/>
                <a:cs typeface="Aptos"/>
              </a:rPr>
              <a:t>04</a:t>
            </a:r>
          </a:p>
        </p:txBody>
      </p:sp>
      <p:sp>
        <p:nvSpPr>
          <p:cNvPr id="18" name="">
            <a:extLst xmlns:a="http://schemas.openxmlformats.org/drawingml/2006/main">
              <a:ext uri="{FF2B5EF4-FFF2-40B4-BE49-F238E27FC236}">
                <a16:creationId xmlns:a16="http://schemas.microsoft.com/office/drawing/2014/main" id="{6B468E96-6199-400A-BF82-4D37ABCAFAE7}"/>
              </a:ext>
            </a:extLst>
          </p:cNvPr>
          <p:cNvSpPr>
            <a:spLocks xmlns:a="http://schemas.openxmlformats.org/drawingml/2006/main" noGrp="1"/>
          </p:cNvSpPr>
          <p:nvPr/>
        </p:nvSpPr>
        <p:spPr>
          <a:xfrm xmlns:a="http://schemas.openxmlformats.org/drawingml/2006/main">
            <a:off x="7048500" y="3200400"/>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08251E"/>
                </a:solidFill>
                <a:latin typeface="Aptos"/>
                <a:ea typeface="Aptos"/>
                <a:cs typeface="Aptos"/>
              </a:defRPr>
            </a:pPr>
            <a:r>
              <a:rPr sz="2025" b="1">
                <a:solidFill>
                  <a:srgbClr val="08251E"/>
                </a:solidFill>
                <a:latin typeface="Aptos"/>
                <a:ea typeface="Aptos"/>
                <a:cs typeface="Aptos"/>
              </a:rPr>
              <a:t>Collect revenue</a:t>
            </a:r>
          </a:p>
        </p:txBody>
      </p:sp>
      <p:sp>
        <p:nvSpPr>
          <p:cNvPr id="19" name="">
            <a:extLst xmlns:a="http://schemas.openxmlformats.org/drawingml/2006/main">
              <a:ext uri="{FF2B5EF4-FFF2-40B4-BE49-F238E27FC236}">
                <a16:creationId xmlns:a16="http://schemas.microsoft.com/office/drawing/2014/main" id="{86E8AC99-095E-472E-9F8F-249BC5B0DDD6}"/>
              </a:ext>
            </a:extLst>
          </p:cNvPr>
          <p:cNvSpPr>
            <a:spLocks xmlns:a="http://schemas.openxmlformats.org/drawingml/2006/main" noGrp="1"/>
          </p:cNvSpPr>
          <p:nvPr/>
        </p:nvSpPr>
        <p:spPr>
          <a:xfrm xmlns:a="http://schemas.openxmlformats.org/drawingml/2006/main">
            <a:off x="7048500" y="3581400"/>
            <a:ext cx="428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36E"/>
                </a:solidFill>
                <a:latin typeface="Aptos"/>
                <a:ea typeface="Aptos"/>
                <a:cs typeface="Aptos"/>
              </a:defRPr>
            </a:pPr>
            <a:r>
              <a:rPr sz="1350" b="0">
                <a:solidFill>
                  <a:srgbClr val="66736E"/>
                </a:solidFill>
                <a:latin typeface="Aptos"/>
                <a:ea typeface="Aptos"/>
                <a:cs typeface="Aptos"/>
              </a:rPr>
              <a:t>Itemized invoices, signed events and persisted PDF downloads</a:t>
            </a:r>
          </a:p>
        </p:txBody>
      </p:sp>
      <p:sp>
        <p:nvSpPr>
          <p:cNvPr id="20" name="">
            <a:extLst xmlns:a="http://schemas.openxmlformats.org/drawingml/2006/main">
              <a:ext uri="{FF2B5EF4-FFF2-40B4-BE49-F238E27FC236}">
                <a16:creationId xmlns:a16="http://schemas.microsoft.com/office/drawing/2014/main" id="{60C9C635-D08C-4910-9A69-7F1AFD50A6B3}"/>
              </a:ext>
            </a:extLst>
          </p:cNvPr>
          <p:cNvSpPr>
            <a:spLocks xmlns:a="http://schemas.openxmlformats.org/drawingml/2006/main" noGrp="1"/>
          </p:cNvSpPr>
          <p:nvPr/>
        </p:nvSpPr>
        <p:spPr>
          <a:xfrm xmlns:a="http://schemas.openxmlformats.org/drawingml/2006/main">
            <a:off x="7048500" y="4191000"/>
            <a:ext cx="4095750" cy="9525"/>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sp>
        <p:nvSpPr>
          <p:cNvPr id="21" name="">
            <a:extLst xmlns:a="http://schemas.openxmlformats.org/drawingml/2006/main">
              <a:ext uri="{FF2B5EF4-FFF2-40B4-BE49-F238E27FC236}">
                <a16:creationId xmlns:a16="http://schemas.microsoft.com/office/drawing/2014/main" id="{8B4045C8-A9F6-4CC6-9721-A770F45238D8}"/>
              </a:ext>
            </a:extLst>
          </p:cNvPr>
          <p:cNvSpPr>
            <a:spLocks xmlns:a="http://schemas.openxmlformats.org/drawingml/2006/main" noGrp="1"/>
          </p:cNvSpPr>
          <p:nvPr/>
        </p:nvSpPr>
        <p:spPr>
          <a:xfrm xmlns:a="http://schemas.openxmlformats.org/drawingml/2006/main">
            <a:off x="723900" y="4524375"/>
            <a:ext cx="552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A6C52"/>
                </a:solidFill>
                <a:latin typeface="Aptos"/>
                <a:ea typeface="Aptos"/>
                <a:cs typeface="Aptos"/>
              </a:defRPr>
            </a:pPr>
            <a:r>
              <a:rPr sz="1875" b="1">
                <a:solidFill>
                  <a:srgbClr val="1A6C52"/>
                </a:solidFill>
                <a:latin typeface="Aptos"/>
                <a:ea typeface="Aptos"/>
                <a:cs typeface="Aptos"/>
              </a:rPr>
              <a:t>05</a:t>
            </a:r>
          </a:p>
        </p:txBody>
      </p:sp>
      <p:sp>
        <p:nvSpPr>
          <p:cNvPr id="22" name="">
            <a:extLst xmlns:a="http://schemas.openxmlformats.org/drawingml/2006/main">
              <a:ext uri="{FF2B5EF4-FFF2-40B4-BE49-F238E27FC236}">
                <a16:creationId xmlns:a16="http://schemas.microsoft.com/office/drawing/2014/main" id="{3B56BA26-1682-4C74-98F2-8AC85CE80844}"/>
              </a:ext>
            </a:extLst>
          </p:cNvPr>
          <p:cNvSpPr>
            <a:spLocks xmlns:a="http://schemas.openxmlformats.org/drawingml/2006/main" noGrp="1"/>
          </p:cNvSpPr>
          <p:nvPr/>
        </p:nvSpPr>
        <p:spPr>
          <a:xfrm xmlns:a="http://schemas.openxmlformats.org/drawingml/2006/main">
            <a:off x="1428750" y="448627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08251E"/>
                </a:solidFill>
                <a:latin typeface="Aptos"/>
                <a:ea typeface="Aptos"/>
                <a:cs typeface="Aptos"/>
              </a:defRPr>
            </a:pPr>
            <a:r>
              <a:rPr sz="2025" b="1">
                <a:solidFill>
                  <a:srgbClr val="08251E"/>
                </a:solidFill>
                <a:latin typeface="Aptos"/>
                <a:ea typeface="Aptos"/>
                <a:cs typeface="Aptos"/>
              </a:rPr>
              <a:t>Recover failures</a:t>
            </a:r>
          </a:p>
        </p:txBody>
      </p:sp>
      <p:sp>
        <p:nvSpPr>
          <p:cNvPr id="23" name="">
            <a:extLst xmlns:a="http://schemas.openxmlformats.org/drawingml/2006/main">
              <a:ext uri="{FF2B5EF4-FFF2-40B4-BE49-F238E27FC236}">
                <a16:creationId xmlns:a16="http://schemas.microsoft.com/office/drawing/2014/main" id="{39BB1D2A-C9AE-4D18-8E51-49ADFDB7CACD}"/>
              </a:ext>
            </a:extLst>
          </p:cNvPr>
          <p:cNvSpPr>
            <a:spLocks xmlns:a="http://schemas.openxmlformats.org/drawingml/2006/main" noGrp="1"/>
          </p:cNvSpPr>
          <p:nvPr/>
        </p:nvSpPr>
        <p:spPr>
          <a:xfrm xmlns:a="http://schemas.openxmlformats.org/drawingml/2006/main">
            <a:off x="1428750" y="4867275"/>
            <a:ext cx="428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36E"/>
                </a:solidFill>
                <a:latin typeface="Aptos"/>
                <a:ea typeface="Aptos"/>
                <a:cs typeface="Aptos"/>
              </a:defRPr>
            </a:pPr>
            <a:r>
              <a:rPr sz="1350" b="0">
                <a:solidFill>
                  <a:srgbClr val="66736E"/>
                </a:solidFill>
                <a:latin typeface="Aptos"/>
                <a:ea typeface="Aptos"/>
                <a:cs typeface="Aptos"/>
              </a:rPr>
              <a:t>Past due status with bounded day 1, 3 and 7 attempts</a:t>
            </a:r>
          </a:p>
        </p:txBody>
      </p:sp>
      <p:sp>
        <p:nvSpPr>
          <p:cNvPr id="24" name="">
            <a:extLst xmlns:a="http://schemas.openxmlformats.org/drawingml/2006/main">
              <a:ext uri="{FF2B5EF4-FFF2-40B4-BE49-F238E27FC236}">
                <a16:creationId xmlns:a16="http://schemas.microsoft.com/office/drawing/2014/main" id="{E937823C-86BF-4B66-B6A4-785F01E0823A}"/>
              </a:ext>
            </a:extLst>
          </p:cNvPr>
          <p:cNvSpPr>
            <a:spLocks xmlns:a="http://schemas.openxmlformats.org/drawingml/2006/main" noGrp="1"/>
          </p:cNvSpPr>
          <p:nvPr/>
        </p:nvSpPr>
        <p:spPr>
          <a:xfrm xmlns:a="http://schemas.openxmlformats.org/drawingml/2006/main">
            <a:off x="1428750" y="5476875"/>
            <a:ext cx="4095750" cy="9525"/>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sp>
        <p:nvSpPr>
          <p:cNvPr id="25" name="">
            <a:extLst xmlns:a="http://schemas.openxmlformats.org/drawingml/2006/main">
              <a:ext uri="{FF2B5EF4-FFF2-40B4-BE49-F238E27FC236}">
                <a16:creationId xmlns:a16="http://schemas.microsoft.com/office/drawing/2014/main" id="{D6D8F26F-8D3F-444C-952C-3F0CA8A21822}"/>
              </a:ext>
            </a:extLst>
          </p:cNvPr>
          <p:cNvSpPr>
            <a:spLocks xmlns:a="http://schemas.openxmlformats.org/drawingml/2006/main" noGrp="1"/>
          </p:cNvSpPr>
          <p:nvPr/>
        </p:nvSpPr>
        <p:spPr>
          <a:xfrm xmlns:a="http://schemas.openxmlformats.org/drawingml/2006/main">
            <a:off x="6343650" y="4524375"/>
            <a:ext cx="552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A6C52"/>
                </a:solidFill>
                <a:latin typeface="Aptos"/>
                <a:ea typeface="Aptos"/>
                <a:cs typeface="Aptos"/>
              </a:defRPr>
            </a:pPr>
            <a:r>
              <a:rPr sz="1875" b="1">
                <a:solidFill>
                  <a:srgbClr val="1A6C52"/>
                </a:solidFill>
                <a:latin typeface="Aptos"/>
                <a:ea typeface="Aptos"/>
                <a:cs typeface="Aptos"/>
              </a:rPr>
              <a:t>06</a:t>
            </a:r>
          </a:p>
        </p:txBody>
      </p:sp>
      <p:sp>
        <p:nvSpPr>
          <p:cNvPr id="26" name="">
            <a:extLst xmlns:a="http://schemas.openxmlformats.org/drawingml/2006/main">
              <a:ext uri="{FF2B5EF4-FFF2-40B4-BE49-F238E27FC236}">
                <a16:creationId xmlns:a16="http://schemas.microsoft.com/office/drawing/2014/main" id="{EB3CD1DF-6F99-4DB3-8426-74D0A04679BD}"/>
              </a:ext>
            </a:extLst>
          </p:cNvPr>
          <p:cNvSpPr>
            <a:spLocks xmlns:a="http://schemas.openxmlformats.org/drawingml/2006/main" noGrp="1"/>
          </p:cNvSpPr>
          <p:nvPr/>
        </p:nvSpPr>
        <p:spPr>
          <a:xfrm xmlns:a="http://schemas.openxmlformats.org/drawingml/2006/main">
            <a:off x="7048500" y="448627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08251E"/>
                </a:solidFill>
                <a:latin typeface="Aptos"/>
                <a:ea typeface="Aptos"/>
                <a:cs typeface="Aptos"/>
              </a:defRPr>
            </a:pPr>
            <a:r>
              <a:rPr sz="2025" b="1">
                <a:solidFill>
                  <a:srgbClr val="08251E"/>
                </a:solidFill>
                <a:latin typeface="Aptos"/>
                <a:ea typeface="Aptos"/>
                <a:cs typeface="Aptos"/>
              </a:rPr>
              <a:t>Prove the record</a:t>
            </a:r>
          </a:p>
        </p:txBody>
      </p:sp>
      <p:sp>
        <p:nvSpPr>
          <p:cNvPr id="27" name="">
            <a:extLst xmlns:a="http://schemas.openxmlformats.org/drawingml/2006/main">
              <a:ext uri="{FF2B5EF4-FFF2-40B4-BE49-F238E27FC236}">
                <a16:creationId xmlns:a16="http://schemas.microsoft.com/office/drawing/2014/main" id="{ADD888BB-1EFE-4488-833A-5F67788F720F}"/>
              </a:ext>
            </a:extLst>
          </p:cNvPr>
          <p:cNvSpPr>
            <a:spLocks xmlns:a="http://schemas.openxmlformats.org/drawingml/2006/main" noGrp="1"/>
          </p:cNvSpPr>
          <p:nvPr/>
        </p:nvSpPr>
        <p:spPr>
          <a:xfrm xmlns:a="http://schemas.openxmlformats.org/drawingml/2006/main">
            <a:off x="7048500" y="4867275"/>
            <a:ext cx="428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36E"/>
                </a:solidFill>
                <a:latin typeface="Aptos"/>
                <a:ea typeface="Aptos"/>
                <a:cs typeface="Aptos"/>
              </a:defRPr>
            </a:pPr>
            <a:r>
              <a:rPr sz="1350" b="0">
                <a:solidFill>
                  <a:srgbClr val="66736E"/>
                </a:solidFill>
                <a:latin typeface="Aptos"/>
                <a:ea typeface="Aptos"/>
                <a:cs typeface="Aptos"/>
              </a:rPr>
              <a:t>Refund lines, tax summaries, notifications and customer audit history</a:t>
            </a:r>
          </a:p>
        </p:txBody>
      </p:sp>
      <p:sp>
        <p:nvSpPr>
          <p:cNvPr id="28" name="">
            <a:extLst xmlns:a="http://schemas.openxmlformats.org/drawingml/2006/main">
              <a:ext uri="{FF2B5EF4-FFF2-40B4-BE49-F238E27FC236}">
                <a16:creationId xmlns:a16="http://schemas.microsoft.com/office/drawing/2014/main" id="{CE91D6D9-F41C-4BB2-9E17-F7F18A2676E0}"/>
              </a:ext>
            </a:extLst>
          </p:cNvPr>
          <p:cNvSpPr>
            <a:spLocks xmlns:a="http://schemas.openxmlformats.org/drawingml/2006/main" noGrp="1"/>
          </p:cNvSpPr>
          <p:nvPr/>
        </p:nvSpPr>
        <p:spPr>
          <a:xfrm xmlns:a="http://schemas.openxmlformats.org/drawingml/2006/main">
            <a:off x="7048500" y="5476875"/>
            <a:ext cx="4095750" cy="9525"/>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sp>
        <p:nvSpPr>
          <p:cNvPr id="29" name="">
            <a:extLst xmlns:a="http://schemas.openxmlformats.org/drawingml/2006/main">
              <a:ext uri="{FF2B5EF4-FFF2-40B4-BE49-F238E27FC236}">
                <a16:creationId xmlns:a16="http://schemas.microsoft.com/office/drawing/2014/main" id="{B55FD606-AE6E-4AF7-9E21-D47EDDF72244}"/>
              </a:ext>
            </a:extLst>
          </p:cNvPr>
          <p:cNvSpPr>
            <a:spLocks xmlns:a="http://schemas.openxmlformats.org/drawingml/2006/main" noGrp="1"/>
          </p:cNvSpPr>
          <p:nvPr/>
        </p:nvSpPr>
        <p:spPr>
          <a:xfrm xmlns:a="http://schemas.openxmlformats.org/drawingml/2006/main">
            <a:off x="628650" y="647700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1A6C52"/>
                </a:solidFill>
                <a:latin typeface="Aptos"/>
                <a:ea typeface="Aptos"/>
                <a:cs typeface="Aptos"/>
              </a:defRPr>
            </a:pPr>
            <a:r>
              <a:rPr sz="975" b="1">
                <a:solidFill>
                  <a:srgbClr val="1A6C52"/>
                </a:solidFill>
                <a:latin typeface="Aptos"/>
                <a:ea typeface="Aptos"/>
                <a:cs typeface="Aptos"/>
              </a:rPr>
              <a:t>BillFlow AI</a:t>
            </a:r>
          </a:p>
        </p:txBody>
      </p:sp>
      <p:sp>
        <p:nvSpPr>
          <p:cNvPr id="30" name="">
            <a:extLst xmlns:a="http://schemas.openxmlformats.org/drawingml/2006/main">
              <a:ext uri="{FF2B5EF4-FFF2-40B4-BE49-F238E27FC236}">
                <a16:creationId xmlns:a16="http://schemas.microsoft.com/office/drawing/2014/main" id="{E3D28039-F2D4-4B71-9125-10DAA3A502C8}"/>
              </a:ext>
            </a:extLst>
          </p:cNvPr>
          <p:cNvSpPr>
            <a:spLocks xmlns:a="http://schemas.openxmlformats.org/drawingml/2006/main" noGrp="1"/>
          </p:cNvSpPr>
          <p:nvPr/>
        </p:nvSpPr>
        <p:spPr>
          <a:xfrm xmlns:a="http://schemas.openxmlformats.org/drawingml/2006/main">
            <a:off x="11049000" y="6477000"/>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66736E"/>
                </a:solidFill>
                <a:latin typeface="Aptos"/>
                <a:ea typeface="Aptos"/>
                <a:cs typeface="Aptos"/>
              </a:defRPr>
            </a:pPr>
            <a:r>
              <a:rPr sz="975" b="1">
                <a:solidFill>
                  <a:srgbClr val="66736E"/>
                </a:solidFill>
                <a:latin typeface="Aptos"/>
                <a:ea typeface="Aptos"/>
                <a:cs typeface="Aptos"/>
              </a:rPr>
              <a:t>06</a:t>
            </a:r>
          </a:p>
        </p:txBody>
      </p:sp>
    </p:spTree>
    <p:extLst>
      <p:ext uri="{BB962C8B-B14F-4D97-AF65-F5344CB8AC3E}">
        <p14:creationId xmlns:p14="http://schemas.microsoft.com/office/powerpoint/2010/main" val="468069983"/>
      </p:ext>
    </p:extLst>
  </p:cSld>
</p:sld>
</file>

<file path=ppt/slides/slide7.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9098C66-1F4F-45E0-B81E-E4466BBB8987}"/>
              </a:ext>
            </a:extLst>
          </p:cNvPr>
          <p:cNvSpPr>
            <a:spLocks xmlns:a="http://schemas.openxmlformats.org/drawingml/2006/main" noGrp="1"/>
          </p:cNvSpPr>
          <p:nvPr/>
        </p:nvSpPr>
        <p:spPr>
          <a:xfrm xmlns:a="http://schemas.openxmlformats.org/drawingml/2006/main">
            <a:off x="628650" y="28575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1A6C52"/>
                </a:solidFill>
                <a:latin typeface="Aptos"/>
                <a:ea typeface="Aptos"/>
                <a:cs typeface="Aptos"/>
              </a:defRPr>
            </a:pPr>
            <a:r>
              <a:rPr sz="1200" b="1">
                <a:solidFill>
                  <a:srgbClr val="1A6C52"/>
                </a:solidFill>
                <a:latin typeface="Aptos"/>
                <a:ea typeface="Aptos"/>
                <a:cs typeface="Aptos"/>
              </a:rPr>
              <a:t>07</a:t>
            </a:r>
          </a:p>
        </p:txBody>
      </p:sp>
      <p:sp>
        <p:nvSpPr>
          <p:cNvPr id="2" name="">
            <a:extLst xmlns:a="http://schemas.openxmlformats.org/drawingml/2006/main">
              <a:ext uri="{FF2B5EF4-FFF2-40B4-BE49-F238E27FC236}">
                <a16:creationId xmlns:a16="http://schemas.microsoft.com/office/drawing/2014/main" id="{CB73EFDB-10A5-43F9-A243-D913E9AEF494}"/>
              </a:ext>
            </a:extLst>
          </p:cNvPr>
          <p:cNvSpPr>
            <a:spLocks xmlns:a="http://schemas.openxmlformats.org/drawingml/2006/main" noGrp="1"/>
          </p:cNvSpPr>
          <p:nvPr/>
        </p:nvSpPr>
        <p:spPr>
          <a:xfrm xmlns:a="http://schemas.openxmlformats.org/drawingml/2006/main">
            <a:off x="628650" y="60960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251E"/>
                </a:solidFill>
                <a:latin typeface="Aptos"/>
                <a:ea typeface="Aptos"/>
                <a:cs typeface="Aptos"/>
              </a:defRPr>
            </a:pPr>
            <a:r>
              <a:rPr sz="3225" b="1">
                <a:solidFill>
                  <a:srgbClr val="08251E"/>
                </a:solidFill>
                <a:latin typeface="Aptos"/>
                <a:ea typeface="Aptos"/>
                <a:cs typeface="Aptos"/>
              </a:rPr>
              <a:t>Seeded demo confirms the full financial path</a:t>
            </a:r>
          </a:p>
        </p:txBody>
      </p:sp>
      <p:sp>
        <p:nvSpPr>
          <p:cNvPr id="3" name="">
            <a:extLst xmlns:a="http://schemas.openxmlformats.org/drawingml/2006/main">
              <a:ext uri="{FF2B5EF4-FFF2-40B4-BE49-F238E27FC236}">
                <a16:creationId xmlns:a16="http://schemas.microsoft.com/office/drawing/2014/main" id="{29A9C94E-27C6-4B4B-81F3-17D10C3A651B}"/>
              </a:ext>
            </a:extLst>
          </p:cNvPr>
          <p:cNvSpPr>
            <a:spLocks xmlns:a="http://schemas.openxmlformats.org/drawingml/2006/main" noGrp="1"/>
          </p:cNvSpPr>
          <p:nvPr/>
        </p:nvSpPr>
        <p:spPr>
          <a:xfrm xmlns:a="http://schemas.openxmlformats.org/drawingml/2006/main">
            <a:off x="647700" y="114300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36E"/>
                </a:solidFill>
                <a:latin typeface="Aptos"/>
                <a:ea typeface="Aptos"/>
                <a:cs typeface="Aptos"/>
              </a:defRPr>
            </a:pPr>
            <a:r>
              <a:rPr sz="1425" b="0">
                <a:solidFill>
                  <a:srgbClr val="66736E"/>
                </a:solidFill>
                <a:latin typeface="Aptos"/>
                <a:ea typeface="Aptos"/>
                <a:cs typeface="Aptos"/>
              </a:rPr>
              <a:t>Operational snapshot after deterministic invoices, payments and one failed annual renewal</a:t>
            </a:r>
          </a:p>
        </p:txBody>
      </p:sp>
      <p:sp>
        <p:nvSpPr>
          <p:cNvPr id="4" name="">
            <a:extLst xmlns:a="http://schemas.openxmlformats.org/drawingml/2006/main">
              <a:ext uri="{FF2B5EF4-FFF2-40B4-BE49-F238E27FC236}">
                <a16:creationId xmlns:a16="http://schemas.microsoft.com/office/drawing/2014/main" id="{186A3DD3-46BB-4093-970B-1CFFCE5A0BD4}"/>
              </a:ext>
            </a:extLst>
          </p:cNvPr>
          <p:cNvSpPr>
            <a:spLocks xmlns:a="http://schemas.openxmlformats.org/drawingml/2006/main" noGrp="1"/>
          </p:cNvSpPr>
          <p:nvPr/>
        </p:nvSpPr>
        <p:spPr>
          <a:xfrm xmlns:a="http://schemas.openxmlformats.org/drawingml/2006/main">
            <a:off x="628650" y="1581150"/>
            <a:ext cx="10934700" cy="19050"/>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graphicFrame>
        <p:nvGraphicFramePr>
          <p:cNvPr id="28" name="Chart"/>
          <p:cNvGraphicFramePr/>
          <p:nvPr/>
        </p:nvGraphicFramePr>
        <p:xfrm>
          <a:off xmlns:a="http://schemas.openxmlformats.org/drawingml/2006/main" x="666750" y="2000250"/>
          <a:ext xmlns:a="http://schemas.openxmlformats.org/drawingml/2006/main" cx="6572250" cy="3429000"/>
        </p:xfrm>
        <a:graphic xmlns:a="http://schemas.openxmlformats.org/drawingml/2006/main">
          <a:graphicData uri="http://schemas.openxmlformats.org/drawingml/2006/chart">
            <c:chart xmlns:r="http://schemas.openxmlformats.org/officeDocument/2006/relationships" xmlns:c="http://schemas.openxmlformats.org/drawingml/2006/chart" r:id="R2a51c9d2d33748ed"/>
          </a:graphicData>
        </a:graphic>
      </p:graphicFrame>
      <p:sp>
        <p:nvSpPr>
          <p:cNvPr id="6" name="">
            <a:extLst xmlns:a="http://schemas.openxmlformats.org/drawingml/2006/main">
              <a:ext uri="{FF2B5EF4-FFF2-40B4-BE49-F238E27FC236}">
                <a16:creationId xmlns:a16="http://schemas.microsoft.com/office/drawing/2014/main" id="{3747DF28-CF69-477D-BA4A-51F458BFCDE4}"/>
              </a:ext>
            </a:extLst>
          </p:cNvPr>
          <p:cNvSpPr>
            <a:spLocks xmlns:a="http://schemas.openxmlformats.org/drawingml/2006/main" noGrp="1"/>
          </p:cNvSpPr>
          <p:nvPr/>
        </p:nvSpPr>
        <p:spPr>
          <a:xfrm xmlns:a="http://schemas.openxmlformats.org/drawingml/2006/main">
            <a:off x="876300" y="184785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1A6C52"/>
                </a:solidFill>
                <a:latin typeface="Aptos"/>
                <a:ea typeface="Aptos"/>
                <a:cs typeface="Aptos"/>
              </a:defRPr>
            </a:pPr>
            <a:r>
              <a:rPr sz="1350" b="1">
                <a:solidFill>
                  <a:srgbClr val="1A6C52"/>
                </a:solidFill>
                <a:latin typeface="Aptos"/>
                <a:ea typeface="Aptos"/>
                <a:cs typeface="Aptos"/>
              </a:rPr>
              <a:t>Collected revenue by plan</a:t>
            </a:r>
          </a:p>
        </p:txBody>
      </p:sp>
      <p:sp>
        <p:nvSpPr>
          <p:cNvPr id="7" name="">
            <a:extLst xmlns:a="http://schemas.openxmlformats.org/drawingml/2006/main">
              <a:ext uri="{FF2B5EF4-FFF2-40B4-BE49-F238E27FC236}">
                <a16:creationId xmlns:a16="http://schemas.microsoft.com/office/drawing/2014/main" id="{EB1AC310-4A9D-47A9-B9C7-909B1A18C3C1}"/>
              </a:ext>
            </a:extLst>
          </p:cNvPr>
          <p:cNvSpPr>
            <a:spLocks xmlns:a="http://schemas.openxmlformats.org/drawingml/2006/main" noGrp="1"/>
          </p:cNvSpPr>
          <p:nvPr/>
        </p:nvSpPr>
        <p:spPr>
          <a:xfrm xmlns:a="http://schemas.openxmlformats.org/drawingml/2006/main">
            <a:off x="7953375" y="2076450"/>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600" b="1">
                <a:solidFill>
                  <a:srgbClr val="0D2E25"/>
                </a:solidFill>
                <a:latin typeface="Aptos"/>
                <a:ea typeface="Aptos"/>
                <a:cs typeface="Aptos"/>
              </a:defRPr>
            </a:pPr>
            <a:r>
              <a:rPr sz="3600" b="1">
                <a:solidFill>
                  <a:srgbClr val="0D2E25"/>
                </a:solidFill>
                <a:latin typeface="Aptos"/>
                <a:ea typeface="Aptos"/>
                <a:cs typeface="Aptos"/>
              </a:rPr>
              <a:t>INR 2,999</a:t>
            </a:r>
          </a:p>
        </p:txBody>
      </p:sp>
      <p:sp>
        <p:nvSpPr>
          <p:cNvPr id="8" name="">
            <a:extLst xmlns:a="http://schemas.openxmlformats.org/drawingml/2006/main">
              <a:ext uri="{FF2B5EF4-FFF2-40B4-BE49-F238E27FC236}">
                <a16:creationId xmlns:a16="http://schemas.microsoft.com/office/drawing/2014/main" id="{42E8F596-B632-4045-AA38-C10785C09F1B}"/>
              </a:ext>
            </a:extLst>
          </p:cNvPr>
          <p:cNvSpPr>
            <a:spLocks xmlns:a="http://schemas.openxmlformats.org/drawingml/2006/main" noGrp="1"/>
          </p:cNvSpPr>
          <p:nvPr/>
        </p:nvSpPr>
        <p:spPr>
          <a:xfrm xmlns:a="http://schemas.openxmlformats.org/drawingml/2006/main">
            <a:off x="8001000" y="27241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36E"/>
                </a:solidFill>
                <a:latin typeface="Aptos"/>
                <a:ea typeface="Aptos"/>
                <a:cs typeface="Aptos"/>
              </a:defRPr>
            </a:pPr>
            <a:r>
              <a:rPr sz="1350" b="0">
                <a:solidFill>
                  <a:srgbClr val="66736E"/>
                </a:solidFill>
                <a:latin typeface="Aptos"/>
                <a:ea typeface="Aptos"/>
                <a:cs typeface="Aptos"/>
              </a:rPr>
              <a:t>Monthly recurring revenue</a:t>
            </a:r>
          </a:p>
        </p:txBody>
      </p:sp>
      <p:sp>
        <p:nvSpPr>
          <p:cNvPr id="9" name="">
            <a:extLst xmlns:a="http://schemas.openxmlformats.org/drawingml/2006/main">
              <a:ext uri="{FF2B5EF4-FFF2-40B4-BE49-F238E27FC236}">
                <a16:creationId xmlns:a16="http://schemas.microsoft.com/office/drawing/2014/main" id="{81AF5492-104F-42DA-8D64-4781FE57ACA3}"/>
              </a:ext>
            </a:extLst>
          </p:cNvPr>
          <p:cNvSpPr>
            <a:spLocks xmlns:a="http://schemas.openxmlformats.org/drawingml/2006/main" noGrp="1"/>
          </p:cNvSpPr>
          <p:nvPr/>
        </p:nvSpPr>
        <p:spPr>
          <a:xfrm xmlns:a="http://schemas.openxmlformats.org/drawingml/2006/main">
            <a:off x="7953375" y="3333750"/>
            <a:ext cx="45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A6C52"/>
                </a:solidFill>
                <a:latin typeface="Aptos"/>
                <a:ea typeface="Aptos"/>
                <a:cs typeface="Aptos"/>
              </a:defRPr>
            </a:pPr>
            <a:r>
              <a:rPr sz="2250" b="1">
                <a:solidFill>
                  <a:srgbClr val="1A6C52"/>
                </a:solidFill>
                <a:latin typeface="Aptos"/>
                <a:ea typeface="Aptos"/>
                <a:cs typeface="Aptos"/>
              </a:rPr>
              <a:t>1</a:t>
            </a:r>
          </a:p>
        </p:txBody>
      </p:sp>
      <p:sp>
        <p:nvSpPr>
          <p:cNvPr id="10" name="">
            <a:extLst xmlns:a="http://schemas.openxmlformats.org/drawingml/2006/main">
              <a:ext uri="{FF2B5EF4-FFF2-40B4-BE49-F238E27FC236}">
                <a16:creationId xmlns:a16="http://schemas.microsoft.com/office/drawing/2014/main" id="{16524035-994D-4D60-8CC1-6C385AC1546F}"/>
              </a:ext>
            </a:extLst>
          </p:cNvPr>
          <p:cNvSpPr>
            <a:spLocks xmlns:a="http://schemas.openxmlformats.org/drawingml/2006/main" noGrp="1"/>
          </p:cNvSpPr>
          <p:nvPr/>
        </p:nvSpPr>
        <p:spPr>
          <a:xfrm xmlns:a="http://schemas.openxmlformats.org/drawingml/2006/main">
            <a:off x="8448675" y="3371850"/>
            <a:ext cx="1200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36E"/>
                </a:solidFill>
                <a:latin typeface="Aptos"/>
                <a:ea typeface="Aptos"/>
                <a:cs typeface="Aptos"/>
              </a:defRPr>
            </a:pPr>
            <a:r>
              <a:rPr sz="1275" b="0">
                <a:solidFill>
                  <a:srgbClr val="66736E"/>
                </a:solidFill>
                <a:latin typeface="Aptos"/>
                <a:ea typeface="Aptos"/>
                <a:cs typeface="Aptos"/>
              </a:rPr>
              <a:t>active</a:t>
            </a:r>
          </a:p>
        </p:txBody>
      </p:sp>
      <p:sp>
        <p:nvSpPr>
          <p:cNvPr id="11" name="">
            <a:extLst xmlns:a="http://schemas.openxmlformats.org/drawingml/2006/main">
              <a:ext uri="{FF2B5EF4-FFF2-40B4-BE49-F238E27FC236}">
                <a16:creationId xmlns:a16="http://schemas.microsoft.com/office/drawing/2014/main" id="{7200121F-8F3B-4119-90CB-7873E9B73621}"/>
              </a:ext>
            </a:extLst>
          </p:cNvPr>
          <p:cNvSpPr>
            <a:spLocks xmlns:a="http://schemas.openxmlformats.org/drawingml/2006/main" noGrp="1"/>
          </p:cNvSpPr>
          <p:nvPr/>
        </p:nvSpPr>
        <p:spPr>
          <a:xfrm xmlns:a="http://schemas.openxmlformats.org/drawingml/2006/main">
            <a:off x="9667875" y="3333750"/>
            <a:ext cx="45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A6C52"/>
                </a:solidFill>
                <a:latin typeface="Aptos"/>
                <a:ea typeface="Aptos"/>
                <a:cs typeface="Aptos"/>
              </a:defRPr>
            </a:pPr>
            <a:r>
              <a:rPr sz="2250" b="1">
                <a:solidFill>
                  <a:srgbClr val="1A6C52"/>
                </a:solidFill>
                <a:latin typeface="Aptos"/>
                <a:ea typeface="Aptos"/>
                <a:cs typeface="Aptos"/>
              </a:rPr>
              <a:t>1</a:t>
            </a:r>
          </a:p>
        </p:txBody>
      </p:sp>
      <p:sp>
        <p:nvSpPr>
          <p:cNvPr id="12" name="">
            <a:extLst xmlns:a="http://schemas.openxmlformats.org/drawingml/2006/main">
              <a:ext uri="{FF2B5EF4-FFF2-40B4-BE49-F238E27FC236}">
                <a16:creationId xmlns:a16="http://schemas.microsoft.com/office/drawing/2014/main" id="{3E944348-728F-4CB7-942C-D4FB5554244A}"/>
              </a:ext>
            </a:extLst>
          </p:cNvPr>
          <p:cNvSpPr>
            <a:spLocks xmlns:a="http://schemas.openxmlformats.org/drawingml/2006/main" noGrp="1"/>
          </p:cNvSpPr>
          <p:nvPr/>
        </p:nvSpPr>
        <p:spPr>
          <a:xfrm xmlns:a="http://schemas.openxmlformats.org/drawingml/2006/main">
            <a:off x="10163175" y="3371850"/>
            <a:ext cx="1200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36E"/>
                </a:solidFill>
                <a:latin typeface="Aptos"/>
                <a:ea typeface="Aptos"/>
                <a:cs typeface="Aptos"/>
              </a:defRPr>
            </a:pPr>
            <a:r>
              <a:rPr sz="1275" b="0">
                <a:solidFill>
                  <a:srgbClr val="66736E"/>
                </a:solidFill>
                <a:latin typeface="Aptos"/>
                <a:ea typeface="Aptos"/>
                <a:cs typeface="Aptos"/>
              </a:rPr>
              <a:t>trial</a:t>
            </a:r>
          </a:p>
        </p:txBody>
      </p:sp>
      <p:sp>
        <p:nvSpPr>
          <p:cNvPr id="13" name="">
            <a:extLst xmlns:a="http://schemas.openxmlformats.org/drawingml/2006/main">
              <a:ext uri="{FF2B5EF4-FFF2-40B4-BE49-F238E27FC236}">
                <a16:creationId xmlns:a16="http://schemas.microsoft.com/office/drawing/2014/main" id="{4AE40FA0-972A-47F0-A7FA-EAB34D9B6D3F}"/>
              </a:ext>
            </a:extLst>
          </p:cNvPr>
          <p:cNvSpPr>
            <a:spLocks xmlns:a="http://schemas.openxmlformats.org/drawingml/2006/main" noGrp="1"/>
          </p:cNvSpPr>
          <p:nvPr/>
        </p:nvSpPr>
        <p:spPr>
          <a:xfrm xmlns:a="http://schemas.openxmlformats.org/drawingml/2006/main">
            <a:off x="7953375" y="4076700"/>
            <a:ext cx="45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C65F4B"/>
                </a:solidFill>
                <a:latin typeface="Aptos"/>
                <a:ea typeface="Aptos"/>
                <a:cs typeface="Aptos"/>
              </a:defRPr>
            </a:pPr>
            <a:r>
              <a:rPr sz="2250" b="1">
                <a:solidFill>
                  <a:srgbClr val="C65F4B"/>
                </a:solidFill>
                <a:latin typeface="Aptos"/>
                <a:ea typeface="Aptos"/>
                <a:cs typeface="Aptos"/>
              </a:rPr>
              <a:t>1</a:t>
            </a:r>
          </a:p>
        </p:txBody>
      </p:sp>
      <p:sp>
        <p:nvSpPr>
          <p:cNvPr id="14" name="">
            <a:extLst xmlns:a="http://schemas.openxmlformats.org/drawingml/2006/main">
              <a:ext uri="{FF2B5EF4-FFF2-40B4-BE49-F238E27FC236}">
                <a16:creationId xmlns:a16="http://schemas.microsoft.com/office/drawing/2014/main" id="{D84A930E-BD94-49A9-ADDA-3760FA94B129}"/>
              </a:ext>
            </a:extLst>
          </p:cNvPr>
          <p:cNvSpPr>
            <a:spLocks xmlns:a="http://schemas.openxmlformats.org/drawingml/2006/main" noGrp="1"/>
          </p:cNvSpPr>
          <p:nvPr/>
        </p:nvSpPr>
        <p:spPr>
          <a:xfrm xmlns:a="http://schemas.openxmlformats.org/drawingml/2006/main">
            <a:off x="8448675" y="4114800"/>
            <a:ext cx="1200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36E"/>
                </a:solidFill>
                <a:latin typeface="Aptos"/>
                <a:ea typeface="Aptos"/>
                <a:cs typeface="Aptos"/>
              </a:defRPr>
            </a:pPr>
            <a:r>
              <a:rPr sz="1275" b="0">
                <a:solidFill>
                  <a:srgbClr val="66736E"/>
                </a:solidFill>
                <a:latin typeface="Aptos"/>
                <a:ea typeface="Aptos"/>
                <a:cs typeface="Aptos"/>
              </a:rPr>
              <a:t>past due</a:t>
            </a:r>
          </a:p>
        </p:txBody>
      </p:sp>
      <p:sp>
        <p:nvSpPr>
          <p:cNvPr id="15" name="">
            <a:extLst xmlns:a="http://schemas.openxmlformats.org/drawingml/2006/main">
              <a:ext uri="{FF2B5EF4-FFF2-40B4-BE49-F238E27FC236}">
                <a16:creationId xmlns:a16="http://schemas.microsoft.com/office/drawing/2014/main" id="{5FAED737-9B61-4376-84C6-F387AD15DB68}"/>
              </a:ext>
            </a:extLst>
          </p:cNvPr>
          <p:cNvSpPr>
            <a:spLocks xmlns:a="http://schemas.openxmlformats.org/drawingml/2006/main" noGrp="1"/>
          </p:cNvSpPr>
          <p:nvPr/>
        </p:nvSpPr>
        <p:spPr>
          <a:xfrm xmlns:a="http://schemas.openxmlformats.org/drawingml/2006/main">
            <a:off x="9667875" y="4076700"/>
            <a:ext cx="45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A6C52"/>
                </a:solidFill>
                <a:latin typeface="Aptos"/>
                <a:ea typeface="Aptos"/>
                <a:cs typeface="Aptos"/>
              </a:defRPr>
            </a:pPr>
            <a:r>
              <a:rPr sz="2250" b="1">
                <a:solidFill>
                  <a:srgbClr val="1A6C52"/>
                </a:solidFill>
                <a:latin typeface="Aptos"/>
                <a:ea typeface="Aptos"/>
                <a:cs typeface="Aptos"/>
              </a:rPr>
              <a:t>1</a:t>
            </a:r>
          </a:p>
        </p:txBody>
      </p:sp>
      <p:sp>
        <p:nvSpPr>
          <p:cNvPr id="16" name="">
            <a:extLst xmlns:a="http://schemas.openxmlformats.org/drawingml/2006/main">
              <a:ext uri="{FF2B5EF4-FFF2-40B4-BE49-F238E27FC236}">
                <a16:creationId xmlns:a16="http://schemas.microsoft.com/office/drawing/2014/main" id="{85FD889F-7046-4BE9-BA97-20498EEF465D}"/>
              </a:ext>
            </a:extLst>
          </p:cNvPr>
          <p:cNvSpPr>
            <a:spLocks xmlns:a="http://schemas.openxmlformats.org/drawingml/2006/main" noGrp="1"/>
          </p:cNvSpPr>
          <p:nvPr/>
        </p:nvSpPr>
        <p:spPr>
          <a:xfrm xmlns:a="http://schemas.openxmlformats.org/drawingml/2006/main">
            <a:off x="10163175" y="4114800"/>
            <a:ext cx="1200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36E"/>
                </a:solidFill>
                <a:latin typeface="Aptos"/>
                <a:ea typeface="Aptos"/>
                <a:cs typeface="Aptos"/>
              </a:defRPr>
            </a:pPr>
            <a:r>
              <a:rPr sz="1275" b="0">
                <a:solidFill>
                  <a:srgbClr val="66736E"/>
                </a:solidFill>
                <a:latin typeface="Aptos"/>
                <a:ea typeface="Aptos"/>
                <a:cs typeface="Aptos"/>
              </a:rPr>
              <a:t>cancelled</a:t>
            </a:r>
          </a:p>
        </p:txBody>
      </p:sp>
      <p:sp>
        <p:nvSpPr>
          <p:cNvPr id="17" name="">
            <a:extLst xmlns:a="http://schemas.openxmlformats.org/drawingml/2006/main">
              <a:ext uri="{FF2B5EF4-FFF2-40B4-BE49-F238E27FC236}">
                <a16:creationId xmlns:a16="http://schemas.microsoft.com/office/drawing/2014/main" id="{08DBE277-03E2-492B-96A0-7A83E1D1C796}"/>
              </a:ext>
            </a:extLst>
          </p:cNvPr>
          <p:cNvSpPr>
            <a:spLocks xmlns:a="http://schemas.openxmlformats.org/drawingml/2006/main" noGrp="1"/>
          </p:cNvSpPr>
          <p:nvPr/>
        </p:nvSpPr>
        <p:spPr>
          <a:xfrm xmlns:a="http://schemas.openxmlformats.org/drawingml/2006/main">
            <a:off x="7953375" y="4819650"/>
            <a:ext cx="45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A6C52"/>
                </a:solidFill>
                <a:latin typeface="Aptos"/>
                <a:ea typeface="Aptos"/>
                <a:cs typeface="Aptos"/>
              </a:defRPr>
            </a:pPr>
            <a:r>
              <a:rPr sz="2250" b="1">
                <a:solidFill>
                  <a:srgbClr val="1A6C52"/>
                </a:solidFill>
                <a:latin typeface="Aptos"/>
                <a:ea typeface="Aptos"/>
                <a:cs typeface="Aptos"/>
              </a:rPr>
              <a:t>8</a:t>
            </a:r>
          </a:p>
        </p:txBody>
      </p:sp>
      <p:sp>
        <p:nvSpPr>
          <p:cNvPr id="18" name="">
            <a:extLst xmlns:a="http://schemas.openxmlformats.org/drawingml/2006/main">
              <a:ext uri="{FF2B5EF4-FFF2-40B4-BE49-F238E27FC236}">
                <a16:creationId xmlns:a16="http://schemas.microsoft.com/office/drawing/2014/main" id="{E95991C7-7F78-44A6-9707-4765A000B0D1}"/>
              </a:ext>
            </a:extLst>
          </p:cNvPr>
          <p:cNvSpPr>
            <a:spLocks xmlns:a="http://schemas.openxmlformats.org/drawingml/2006/main" noGrp="1"/>
          </p:cNvSpPr>
          <p:nvPr/>
        </p:nvSpPr>
        <p:spPr>
          <a:xfrm xmlns:a="http://schemas.openxmlformats.org/drawingml/2006/main">
            <a:off x="8448675" y="4857750"/>
            <a:ext cx="1200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36E"/>
                </a:solidFill>
                <a:latin typeface="Aptos"/>
                <a:ea typeface="Aptos"/>
                <a:cs typeface="Aptos"/>
              </a:defRPr>
            </a:pPr>
            <a:r>
              <a:rPr sz="1275" b="0">
                <a:solidFill>
                  <a:srgbClr val="66736E"/>
                </a:solidFill>
                <a:latin typeface="Aptos"/>
                <a:ea typeface="Aptos"/>
                <a:cs typeface="Aptos"/>
              </a:rPr>
              <a:t>invoices</a:t>
            </a:r>
          </a:p>
        </p:txBody>
      </p:sp>
      <p:sp>
        <p:nvSpPr>
          <p:cNvPr id="19" name="">
            <a:extLst xmlns:a="http://schemas.openxmlformats.org/drawingml/2006/main">
              <a:ext uri="{FF2B5EF4-FFF2-40B4-BE49-F238E27FC236}">
                <a16:creationId xmlns:a16="http://schemas.microsoft.com/office/drawing/2014/main" id="{11136BAB-B07E-4EF5-9AC5-847F6CA72ED4}"/>
              </a:ext>
            </a:extLst>
          </p:cNvPr>
          <p:cNvSpPr>
            <a:spLocks xmlns:a="http://schemas.openxmlformats.org/drawingml/2006/main" noGrp="1"/>
          </p:cNvSpPr>
          <p:nvPr/>
        </p:nvSpPr>
        <p:spPr>
          <a:xfrm xmlns:a="http://schemas.openxmlformats.org/drawingml/2006/main">
            <a:off x="9667875" y="4819650"/>
            <a:ext cx="45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A6C52"/>
                </a:solidFill>
                <a:latin typeface="Aptos"/>
                <a:ea typeface="Aptos"/>
                <a:cs typeface="Aptos"/>
              </a:defRPr>
            </a:pPr>
            <a:r>
              <a:rPr sz="2250" b="1">
                <a:solidFill>
                  <a:srgbClr val="1A6C52"/>
                </a:solidFill>
                <a:latin typeface="Aptos"/>
                <a:ea typeface="Aptos"/>
                <a:cs typeface="Aptos"/>
              </a:rPr>
              <a:t>3</a:t>
            </a:r>
          </a:p>
        </p:txBody>
      </p:sp>
      <p:sp>
        <p:nvSpPr>
          <p:cNvPr id="20" name="">
            <a:extLst xmlns:a="http://schemas.openxmlformats.org/drawingml/2006/main">
              <a:ext uri="{FF2B5EF4-FFF2-40B4-BE49-F238E27FC236}">
                <a16:creationId xmlns:a16="http://schemas.microsoft.com/office/drawing/2014/main" id="{58B3CD26-CE35-4EB0-87A8-57E7317B8100}"/>
              </a:ext>
            </a:extLst>
          </p:cNvPr>
          <p:cNvSpPr>
            <a:spLocks xmlns:a="http://schemas.openxmlformats.org/drawingml/2006/main" noGrp="1"/>
          </p:cNvSpPr>
          <p:nvPr/>
        </p:nvSpPr>
        <p:spPr>
          <a:xfrm xmlns:a="http://schemas.openxmlformats.org/drawingml/2006/main">
            <a:off x="10163175" y="4857750"/>
            <a:ext cx="1200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36E"/>
                </a:solidFill>
                <a:latin typeface="Aptos"/>
                <a:ea typeface="Aptos"/>
                <a:cs typeface="Aptos"/>
              </a:defRPr>
            </a:pPr>
            <a:r>
              <a:rPr sz="1275" b="0">
                <a:solidFill>
                  <a:srgbClr val="66736E"/>
                </a:solidFill>
                <a:latin typeface="Aptos"/>
                <a:ea typeface="Aptos"/>
                <a:cs typeface="Aptos"/>
              </a:rPr>
              <a:t>queued retries</a:t>
            </a:r>
          </a:p>
        </p:txBody>
      </p:sp>
      <p:sp>
        <p:nvSpPr>
          <p:cNvPr id="21" name="">
            <a:extLst xmlns:a="http://schemas.openxmlformats.org/drawingml/2006/main">
              <a:ext uri="{FF2B5EF4-FFF2-40B4-BE49-F238E27FC236}">
                <a16:creationId xmlns:a16="http://schemas.microsoft.com/office/drawing/2014/main" id="{5CB7A6F4-6E9F-414E-9EAA-0C5FAE3C5CAA}"/>
              </a:ext>
            </a:extLst>
          </p:cNvPr>
          <p:cNvSpPr>
            <a:spLocks xmlns:a="http://schemas.openxmlformats.org/drawingml/2006/main" noGrp="1"/>
          </p:cNvSpPr>
          <p:nvPr/>
        </p:nvSpPr>
        <p:spPr>
          <a:xfrm xmlns:a="http://schemas.openxmlformats.org/drawingml/2006/main">
            <a:off x="723900" y="5810250"/>
            <a:ext cx="838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i="1">
                <a:solidFill>
                  <a:srgbClr val="66736E"/>
                </a:solidFill>
                <a:latin typeface="Aptos"/>
                <a:ea typeface="Aptos"/>
                <a:cs typeface="Aptos"/>
              </a:defRPr>
            </a:pPr>
            <a:r>
              <a:rPr sz="1125" b="0" i="1">
                <a:solidFill>
                  <a:srgbClr val="66736E"/>
                </a:solidFill>
                <a:latin typeface="Aptos"/>
                <a:ea typeface="Aptos"/>
                <a:cs typeface="Aptos"/>
              </a:rPr>
              <a:t>Seed data only. Revenue values are paid amounts including configured tax.</a:t>
            </a:r>
          </a:p>
        </p:txBody>
      </p:sp>
      <p:sp>
        <p:nvSpPr>
          <p:cNvPr id="22" name="">
            <a:extLst xmlns:a="http://schemas.openxmlformats.org/drawingml/2006/main">
              <a:ext uri="{FF2B5EF4-FFF2-40B4-BE49-F238E27FC236}">
                <a16:creationId xmlns:a16="http://schemas.microsoft.com/office/drawing/2014/main" id="{2419A48B-46F7-4BFF-901A-323A5B81D9CF}"/>
              </a:ext>
            </a:extLst>
          </p:cNvPr>
          <p:cNvSpPr>
            <a:spLocks xmlns:a="http://schemas.openxmlformats.org/drawingml/2006/main" noGrp="1"/>
          </p:cNvSpPr>
          <p:nvPr/>
        </p:nvSpPr>
        <p:spPr>
          <a:xfrm xmlns:a="http://schemas.openxmlformats.org/drawingml/2006/main">
            <a:off x="628650" y="647700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1A6C52"/>
                </a:solidFill>
                <a:latin typeface="Aptos"/>
                <a:ea typeface="Aptos"/>
                <a:cs typeface="Aptos"/>
              </a:defRPr>
            </a:pPr>
            <a:r>
              <a:rPr sz="975" b="1">
                <a:solidFill>
                  <a:srgbClr val="1A6C52"/>
                </a:solidFill>
                <a:latin typeface="Aptos"/>
                <a:ea typeface="Aptos"/>
                <a:cs typeface="Aptos"/>
              </a:rPr>
              <a:t>BillFlow AI</a:t>
            </a:r>
          </a:p>
        </p:txBody>
      </p:sp>
      <p:sp>
        <p:nvSpPr>
          <p:cNvPr id="23" name="">
            <a:extLst xmlns:a="http://schemas.openxmlformats.org/drawingml/2006/main">
              <a:ext uri="{FF2B5EF4-FFF2-40B4-BE49-F238E27FC236}">
                <a16:creationId xmlns:a16="http://schemas.microsoft.com/office/drawing/2014/main" id="{B521F7D7-002A-4CCE-B4F5-84BC46F56039}"/>
              </a:ext>
            </a:extLst>
          </p:cNvPr>
          <p:cNvSpPr>
            <a:spLocks xmlns:a="http://schemas.openxmlformats.org/drawingml/2006/main" noGrp="1"/>
          </p:cNvSpPr>
          <p:nvPr/>
        </p:nvSpPr>
        <p:spPr>
          <a:xfrm xmlns:a="http://schemas.openxmlformats.org/drawingml/2006/main">
            <a:off x="11049000" y="6477000"/>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66736E"/>
                </a:solidFill>
                <a:latin typeface="Aptos"/>
                <a:ea typeface="Aptos"/>
                <a:cs typeface="Aptos"/>
              </a:defRPr>
            </a:pPr>
            <a:r>
              <a:rPr sz="975" b="1">
                <a:solidFill>
                  <a:srgbClr val="66736E"/>
                </a:solidFill>
                <a:latin typeface="Aptos"/>
                <a:ea typeface="Aptos"/>
                <a:cs typeface="Aptos"/>
              </a:rPr>
              <a:t>07</a:t>
            </a:r>
          </a:p>
        </p:txBody>
      </p:sp>
    </p:spTree>
    <p:extLst>
      <p:ext uri="{BB962C8B-B14F-4D97-AF65-F5344CB8AC3E}">
        <p14:creationId xmlns:p14="http://schemas.microsoft.com/office/powerpoint/2010/main" val="390807424"/>
      </p:ext>
    </p:extLst>
  </p:cSld>
</p:sld>
</file>

<file path=ppt/slides/slide8.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cxnSp>
        <p:nvCxnSpPr>
          <p:cNvPr id="27" name=""/>
          <p:cNvCxnSpPr>
            <a:stCxn xmlns:a="http://schemas.openxmlformats.org/drawingml/2006/main" id="9" idx="2"/>
            <a:endCxn xmlns:a="http://schemas.openxmlformats.org/drawingml/2006/main" id="10" idx="0"/>
          </p:cNvCxnSpPr>
          <p:nvPr/>
        </p:nvCxnSpPr>
        <p:spPr>
          <a:xfrm xmlns:a="http://schemas.openxmlformats.org/drawingml/2006/main">
            <a:off x="9715500" y="2562225"/>
            <a:ext cx="142875" cy="628650"/>
          </a:xfrm>
          <a:prstGeom xmlns:a="http://schemas.openxmlformats.org/drawingml/2006/main" prst="bentConnector4">
            <a:avLst>
              <a:gd name="adj1" fmla="val 0"/>
              <a:gd name="adj2" fmla="val 50000"/>
            </a:avLst>
          </a:prstGeom>
          <a:ln xmlns:a="http://schemas.openxmlformats.org/drawingml/2006/main" w="19050">
            <a:solidFill>
              <a:srgbClr val="C65F4B"/>
            </a:solidFill>
            <a:prstDash val="solid"/>
            <a:tailEnd type="triangle" w="sm" len="sm"/>
          </a:ln>
        </p:spPr>
      </p:cxnSp>
      <p:cxnSp>
        <p:nvCxnSpPr>
          <p:cNvPr id="28" name=""/>
          <p:cNvCxnSpPr>
            <a:stCxn xmlns:a="http://schemas.openxmlformats.org/drawingml/2006/main" id="8" idx="3"/>
            <a:endCxn xmlns:a="http://schemas.openxmlformats.org/drawingml/2006/main" id="9" idx="1"/>
          </p:cNvCxnSpPr>
          <p:nvPr/>
        </p:nvCxnSpPr>
        <p:spPr>
          <a:xfrm xmlns:a="http://schemas.openxmlformats.org/drawingml/2006/main">
            <a:off x="8429625" y="2257425"/>
            <a:ext cx="619125" cy="0"/>
          </a:xfrm>
          <a:prstGeom xmlns:a="http://schemas.openxmlformats.org/drawingml/2006/main" prst="straightConnector1">
            <a:avLst/>
          </a:prstGeom>
          <a:ln xmlns:a="http://schemas.openxmlformats.org/drawingml/2006/main" w="19050">
            <a:solidFill>
              <a:srgbClr val="E3A13B"/>
            </a:solidFill>
            <a:prstDash val="solid"/>
            <a:tailEnd type="triangle" w="sm" len="sm"/>
          </a:ln>
        </p:spPr>
      </p:cxnSp>
      <p:cxnSp>
        <p:nvCxnSpPr>
          <p:cNvPr id="29" name=""/>
          <p:cNvCxnSpPr>
            <a:stCxn xmlns:a="http://schemas.openxmlformats.org/drawingml/2006/main" id="7" idx="3"/>
            <a:endCxn xmlns:a="http://schemas.openxmlformats.org/drawingml/2006/main" id="8" idx="1"/>
          </p:cNvCxnSpPr>
          <p:nvPr/>
        </p:nvCxnSpPr>
        <p:spPr>
          <a:xfrm xmlns:a="http://schemas.openxmlformats.org/drawingml/2006/main">
            <a:off x="6477000" y="2257425"/>
            <a:ext cx="619125" cy="0"/>
          </a:xfrm>
          <a:prstGeom xmlns:a="http://schemas.openxmlformats.org/drawingml/2006/main" prst="straightConnector1">
            <a:avLst/>
          </a:prstGeom>
          <a:ln xmlns:a="http://schemas.openxmlformats.org/drawingml/2006/main" w="19050">
            <a:solidFill>
              <a:srgbClr val="E3A13B"/>
            </a:solidFill>
            <a:prstDash val="solid"/>
            <a:tailEnd type="triangle" w="sm" len="sm"/>
          </a:ln>
        </p:spPr>
      </p:cxnSp>
      <p:cxnSp>
        <p:nvCxnSpPr>
          <p:cNvPr id="30" name=""/>
          <p:cNvCxnSpPr>
            <a:stCxn xmlns:a="http://schemas.openxmlformats.org/drawingml/2006/main" id="6" idx="3"/>
            <a:endCxn xmlns:a="http://schemas.openxmlformats.org/drawingml/2006/main" id="7" idx="1"/>
          </p:cNvCxnSpPr>
          <p:nvPr/>
        </p:nvCxnSpPr>
        <p:spPr>
          <a:xfrm xmlns:a="http://schemas.openxmlformats.org/drawingml/2006/main" flipV="1">
            <a:off x="4429125" y="2257425"/>
            <a:ext cx="714375" cy="428625"/>
          </a:xfrm>
          <a:prstGeom xmlns:a="http://schemas.openxmlformats.org/drawingml/2006/main" prst="bentConnector3">
            <a:avLst>
              <a:gd name="adj1" fmla="val 50000"/>
            </a:avLst>
          </a:prstGeom>
          <a:ln xmlns:a="http://schemas.openxmlformats.org/drawingml/2006/main" w="19050">
            <a:solidFill>
              <a:srgbClr val="E3A13B"/>
            </a:solidFill>
            <a:prstDash val="solid"/>
            <a:tailEnd type="triangle" w="sm" len="sm"/>
          </a:ln>
        </p:spPr>
      </p:cxn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2247900" y="2686050"/>
            <a:ext cx="609600" cy="0"/>
          </a:xfrm>
          <a:prstGeom xmlns:a="http://schemas.openxmlformats.org/drawingml/2006/main" prst="straightConnector1">
            <a:avLst/>
          </a:prstGeom>
          <a:ln xmlns:a="http://schemas.openxmlformats.org/drawingml/2006/main" w="19050">
            <a:solidFill>
              <a:srgbClr val="C65F4B"/>
            </a:solidFill>
            <a:prstDash val="solid"/>
            <a:tailEnd type="triangle" w="sm" len="sm"/>
          </a:ln>
        </p:spPr>
      </p:cxnSp>
      <p:sp>
        <p:nvSpPr>
          <p:cNvPr id="32" name="">
            <a:extLst xmlns:a="http://schemas.openxmlformats.org/drawingml/2006/main">
              <a:ext uri="{FF2B5EF4-FFF2-40B4-BE49-F238E27FC236}">
                <a16:creationId xmlns:a16="http://schemas.microsoft.com/office/drawing/2014/main" id="{D24ACF8C-A69F-4298-A37C-3648C428FAD0}"/>
              </a:ext>
            </a:extLst>
          </p:cNvPr>
          <p:cNvSpPr>
            <a:spLocks xmlns:a="http://schemas.openxmlformats.org/drawingml/2006/main" noGrp="1"/>
          </p:cNvSpPr>
          <p:nvPr/>
        </p:nvSpPr>
        <p:spPr>
          <a:xfrm xmlns:a="http://schemas.openxmlformats.org/drawingml/2006/main">
            <a:off x="628650" y="28575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1A6C52"/>
                </a:solidFill>
                <a:latin typeface="Aptos"/>
                <a:ea typeface="Aptos"/>
                <a:cs typeface="Aptos"/>
              </a:defRPr>
            </a:pPr>
            <a:r>
              <a:rPr sz="1200" b="1">
                <a:solidFill>
                  <a:srgbClr val="1A6C52"/>
                </a:solidFill>
                <a:latin typeface="Aptos"/>
                <a:ea typeface="Aptos"/>
                <a:cs typeface="Aptos"/>
              </a:rPr>
              <a:t>08</a:t>
            </a:r>
          </a:p>
        </p:txBody>
      </p:sp>
      <p:sp>
        <p:nvSpPr>
          <p:cNvPr id="2" name="">
            <a:extLst xmlns:a="http://schemas.openxmlformats.org/drawingml/2006/main">
              <a:ext uri="{FF2B5EF4-FFF2-40B4-BE49-F238E27FC236}">
                <a16:creationId xmlns:a16="http://schemas.microsoft.com/office/drawing/2014/main" id="{562528C4-D0D2-4888-84E6-4A4AAB572F5C}"/>
              </a:ext>
            </a:extLst>
          </p:cNvPr>
          <p:cNvSpPr>
            <a:spLocks xmlns:a="http://schemas.openxmlformats.org/drawingml/2006/main" noGrp="1"/>
          </p:cNvSpPr>
          <p:nvPr/>
        </p:nvSpPr>
        <p:spPr>
          <a:xfrm xmlns:a="http://schemas.openxmlformats.org/drawingml/2006/main">
            <a:off x="628650" y="60960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251E"/>
                </a:solidFill>
                <a:latin typeface="Aptos"/>
                <a:ea typeface="Aptos"/>
                <a:cs typeface="Aptos"/>
              </a:defRPr>
            </a:pPr>
            <a:r>
              <a:rPr sz="3225" b="1">
                <a:solidFill>
                  <a:srgbClr val="08251E"/>
                </a:solidFill>
                <a:latin typeface="Aptos"/>
                <a:ea typeface="Aptos"/>
                <a:cs typeface="Aptos"/>
              </a:rPr>
              <a:t>Payment recovery has a bounded end state</a:t>
            </a:r>
          </a:p>
        </p:txBody>
      </p:sp>
      <p:sp>
        <p:nvSpPr>
          <p:cNvPr id="3" name="">
            <a:extLst xmlns:a="http://schemas.openxmlformats.org/drawingml/2006/main">
              <a:ext uri="{FF2B5EF4-FFF2-40B4-BE49-F238E27FC236}">
                <a16:creationId xmlns:a16="http://schemas.microsoft.com/office/drawing/2014/main" id="{54B1717F-9B0B-41E5-A12A-01AA886A0D45}"/>
              </a:ext>
            </a:extLst>
          </p:cNvPr>
          <p:cNvSpPr>
            <a:spLocks xmlns:a="http://schemas.openxmlformats.org/drawingml/2006/main" noGrp="1"/>
          </p:cNvSpPr>
          <p:nvPr/>
        </p:nvSpPr>
        <p:spPr>
          <a:xfrm xmlns:a="http://schemas.openxmlformats.org/drawingml/2006/main">
            <a:off x="647700" y="114300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36E"/>
                </a:solidFill>
                <a:latin typeface="Aptos"/>
                <a:ea typeface="Aptos"/>
                <a:cs typeface="Aptos"/>
              </a:defRPr>
            </a:pPr>
            <a:r>
              <a:rPr sz="1425" b="0">
                <a:solidFill>
                  <a:srgbClr val="66736E"/>
                </a:solidFill>
                <a:latin typeface="Aptos"/>
                <a:ea typeface="Aptos"/>
                <a:cs typeface="Aptos"/>
              </a:rPr>
              <a:t>Signed events and idempotency protect every attempt</a:t>
            </a:r>
          </a:p>
        </p:txBody>
      </p:sp>
      <p:sp>
        <p:nvSpPr>
          <p:cNvPr id="4" name="">
            <a:extLst xmlns:a="http://schemas.openxmlformats.org/drawingml/2006/main">
              <a:ext uri="{FF2B5EF4-FFF2-40B4-BE49-F238E27FC236}">
                <a16:creationId xmlns:a16="http://schemas.microsoft.com/office/drawing/2014/main" id="{954AA410-7011-4DF0-8A72-0AC6D4B36566}"/>
              </a:ext>
            </a:extLst>
          </p:cNvPr>
          <p:cNvSpPr>
            <a:spLocks xmlns:a="http://schemas.openxmlformats.org/drawingml/2006/main" noGrp="1"/>
          </p:cNvSpPr>
          <p:nvPr/>
        </p:nvSpPr>
        <p:spPr>
          <a:xfrm xmlns:a="http://schemas.openxmlformats.org/drawingml/2006/main">
            <a:off x="628650" y="1581150"/>
            <a:ext cx="10934700" cy="19050"/>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sp>
        <p:nvSpPr>
          <p:cNvPr id="5" name="">
            <a:extLst xmlns:a="http://schemas.openxmlformats.org/drawingml/2006/main">
              <a:ext uri="{FF2B5EF4-FFF2-40B4-BE49-F238E27FC236}">
                <a16:creationId xmlns:a16="http://schemas.microsoft.com/office/drawing/2014/main" id="{A74782CC-5AD4-40EC-9CBB-BC7EC2E3F6F9}"/>
              </a:ext>
            </a:extLst>
          </p:cNvPr>
          <p:cNvSpPr>
            <a:spLocks xmlns:a="http://schemas.openxmlformats.org/drawingml/2006/main" noGrp="1"/>
          </p:cNvSpPr>
          <p:nvPr/>
        </p:nvSpPr>
        <p:spPr>
          <a:xfrm xmlns:a="http://schemas.openxmlformats.org/drawingml/2006/main">
            <a:off x="628650" y="2286000"/>
            <a:ext cx="1619250" cy="800100"/>
          </a:xfrm>
          <a:prstGeom xmlns:a="http://schemas.openxmlformats.org/drawingml/2006/main" prst="roundRect">
            <a:avLst>
              <a:gd name="adj" fmla="val 16667"/>
            </a:avLst>
          </a:prstGeom>
          <a:solidFill xmlns:a="http://schemas.openxmlformats.org/drawingml/2006/main">
            <a:srgbClr val="FCE8E4"/>
          </a:solidFill>
          <a:ln xmlns:a="http://schemas.openxmlformats.org/drawingml/2006/main" w="9525">
            <a:solidFill>
              <a:srgbClr val="D7E1DA"/>
            </a:solidFill>
            <a:prstDash val="solid"/>
          </a:ln>
        </p:spPr>
        <p:txBody>
          <a:bodyPr xmlns:a="http://schemas.openxmlformats.org/drawingml/2006/main" anchor="ctr">
            <a:noAutofit/>
          </a:bodyPr>
          <a:lstStyle xmlns:a="http://schemas.openxmlformats.org/drawingml/2006/main"/>
          <a:p xmlns:a="http://schemas.openxmlformats.org/drawingml/2006/main">
            <a:pPr algn="ctr">
              <a:defRPr sz="1500" b="1">
                <a:solidFill>
                  <a:srgbClr val="C65F4B"/>
                </a:solidFill>
                <a:latin typeface="Aptos"/>
                <a:ea typeface="Aptos"/>
                <a:cs typeface="Aptos"/>
              </a:defRPr>
            </a:pPr>
            <a:r>
              <a:rPr sz="1500" b="1">
                <a:solidFill>
                  <a:srgbClr val="C65F4B"/>
                </a:solidFill>
                <a:latin typeface="Aptos"/>
                <a:ea typeface="Aptos"/>
                <a:cs typeface="Aptos"/>
              </a:rPr>
              <a:t>PAYMENT</a:t>
            </a:r>
          </a:p>
          <a:p xmlns:a="http://schemas.openxmlformats.org/drawingml/2006/main">
            <a:pPr algn="ctr">
              <a:defRPr sz="1500" b="1">
                <a:solidFill>
                  <a:srgbClr val="C65F4B"/>
                </a:solidFill>
                <a:latin typeface="Aptos"/>
                <a:ea typeface="Aptos"/>
                <a:cs typeface="Aptos"/>
              </a:defRPr>
            </a:pPr>
            <a:r>
              <a:rPr sz="1500" b="1">
                <a:solidFill>
                  <a:srgbClr val="C65F4B"/>
                </a:solidFill>
                <a:latin typeface="Aptos"/>
                <a:ea typeface="Aptos"/>
                <a:cs typeface="Aptos"/>
              </a:rPr>
              <a:t>FAILED</a:t>
            </a:r>
          </a:p>
        </p:txBody>
      </p:sp>
      <p:sp>
        <p:nvSpPr>
          <p:cNvPr id="6" name="">
            <a:extLst xmlns:a="http://schemas.openxmlformats.org/drawingml/2006/main">
              <a:ext uri="{FF2B5EF4-FFF2-40B4-BE49-F238E27FC236}">
                <a16:creationId xmlns:a16="http://schemas.microsoft.com/office/drawing/2014/main" id="{75E56D08-CDAE-427C-A59F-F0FE1DD7BD9D}"/>
              </a:ext>
            </a:extLst>
          </p:cNvPr>
          <p:cNvSpPr>
            <a:spLocks xmlns:a="http://schemas.openxmlformats.org/drawingml/2006/main" noGrp="1"/>
          </p:cNvSpPr>
          <p:nvPr/>
        </p:nvSpPr>
        <p:spPr>
          <a:xfrm xmlns:a="http://schemas.openxmlformats.org/drawingml/2006/main">
            <a:off x="2857500" y="2286000"/>
            <a:ext cx="1571625" cy="800100"/>
          </a:xfrm>
          <a:prstGeom xmlns:a="http://schemas.openxmlformats.org/drawingml/2006/main" prst="roundRect">
            <a:avLst>
              <a:gd name="adj" fmla="val 16667"/>
            </a:avLst>
          </a:prstGeom>
          <a:solidFill xmlns:a="http://schemas.openxmlformats.org/drawingml/2006/main">
            <a:srgbClr val="FFF2D4"/>
          </a:solidFill>
          <a:ln xmlns:a="http://schemas.openxmlformats.org/drawingml/2006/main" w="9525">
            <a:solidFill>
              <a:srgbClr val="D7E1DA"/>
            </a:solidFill>
            <a:prstDash val="solid"/>
          </a:ln>
        </p:spPr>
        <p:txBody>
          <a:bodyPr xmlns:a="http://schemas.openxmlformats.org/drawingml/2006/main" anchor="ctr">
            <a:noAutofit/>
          </a:bodyPr>
          <a:lstStyle xmlns:a="http://schemas.openxmlformats.org/drawingml/2006/main"/>
          <a:p xmlns:a="http://schemas.openxmlformats.org/drawingml/2006/main">
            <a:pPr algn="ctr">
              <a:defRPr sz="1500" b="1">
                <a:solidFill>
                  <a:srgbClr val="E3A13B"/>
                </a:solidFill>
                <a:latin typeface="Aptos"/>
                <a:ea typeface="Aptos"/>
                <a:cs typeface="Aptos"/>
              </a:defRPr>
            </a:pPr>
            <a:r>
              <a:rPr sz="1500" b="1">
                <a:solidFill>
                  <a:srgbClr val="E3A13B"/>
                </a:solidFill>
                <a:latin typeface="Aptos"/>
                <a:ea typeface="Aptos"/>
                <a:cs typeface="Aptos"/>
              </a:rPr>
              <a:t>PAST DUE</a:t>
            </a:r>
          </a:p>
        </p:txBody>
      </p:sp>
      <p:sp>
        <p:nvSpPr>
          <p:cNvPr id="7" name="">
            <a:extLst xmlns:a="http://schemas.openxmlformats.org/drawingml/2006/main">
              <a:ext uri="{FF2B5EF4-FFF2-40B4-BE49-F238E27FC236}">
                <a16:creationId xmlns:a16="http://schemas.microsoft.com/office/drawing/2014/main" id="{2D0E72C1-8379-4C98-A576-C5108EFA9476}"/>
              </a:ext>
            </a:extLst>
          </p:cNvPr>
          <p:cNvSpPr>
            <a:spLocks xmlns:a="http://schemas.openxmlformats.org/drawingml/2006/main" noGrp="1"/>
          </p:cNvSpPr>
          <p:nvPr/>
        </p:nvSpPr>
        <p:spPr>
          <a:xfrm xmlns:a="http://schemas.openxmlformats.org/drawingml/2006/main">
            <a:off x="5143500" y="1952625"/>
            <a:ext cx="1333500" cy="609600"/>
          </a:xfrm>
          <a:prstGeom xmlns:a="http://schemas.openxmlformats.org/drawingml/2006/main" prst="roundRect">
            <a:avLst>
              <a:gd name="adj" fmla="val 21875"/>
            </a:avLst>
          </a:prstGeom>
          <a:solidFill xmlns:a="http://schemas.openxmlformats.org/drawingml/2006/main">
            <a:srgbClr val="FFFFFF"/>
          </a:solidFill>
          <a:ln xmlns:a="http://schemas.openxmlformats.org/drawingml/2006/main" w="9525">
            <a:solidFill>
              <a:srgbClr val="D7E1DA"/>
            </a:solidFill>
            <a:prstDash val="solid"/>
          </a:ln>
        </p:spPr>
        <p:txBody>
          <a:bodyPr xmlns:a="http://schemas.openxmlformats.org/drawingml/2006/main" anchor="ctr">
            <a:noAutofit/>
          </a:bodyPr>
          <a:lstStyle xmlns:a="http://schemas.openxmlformats.org/drawingml/2006/main"/>
          <a:p xmlns:a="http://schemas.openxmlformats.org/drawingml/2006/main">
            <a:pPr algn="ctr">
              <a:defRPr sz="1500" b="1">
                <a:solidFill>
                  <a:srgbClr val="08251E"/>
                </a:solidFill>
                <a:latin typeface="Aptos"/>
                <a:ea typeface="Aptos"/>
                <a:cs typeface="Aptos"/>
              </a:defRPr>
            </a:pPr>
            <a:r>
              <a:rPr sz="1500" b="1">
                <a:solidFill>
                  <a:srgbClr val="08251E"/>
                </a:solidFill>
                <a:latin typeface="Aptos"/>
                <a:ea typeface="Aptos"/>
                <a:cs typeface="Aptos"/>
              </a:rPr>
              <a:t>DAY 1</a:t>
            </a:r>
          </a:p>
        </p:txBody>
      </p:sp>
      <p:sp>
        <p:nvSpPr>
          <p:cNvPr id="8" name="">
            <a:extLst xmlns:a="http://schemas.openxmlformats.org/drawingml/2006/main">
              <a:ext uri="{FF2B5EF4-FFF2-40B4-BE49-F238E27FC236}">
                <a16:creationId xmlns:a16="http://schemas.microsoft.com/office/drawing/2014/main" id="{3E80C440-4D99-4FCC-BB08-A006AC24D27F}"/>
              </a:ext>
            </a:extLst>
          </p:cNvPr>
          <p:cNvSpPr>
            <a:spLocks xmlns:a="http://schemas.openxmlformats.org/drawingml/2006/main" noGrp="1"/>
          </p:cNvSpPr>
          <p:nvPr/>
        </p:nvSpPr>
        <p:spPr>
          <a:xfrm xmlns:a="http://schemas.openxmlformats.org/drawingml/2006/main">
            <a:off x="7096125" y="1952625"/>
            <a:ext cx="1333500" cy="609600"/>
          </a:xfrm>
          <a:prstGeom xmlns:a="http://schemas.openxmlformats.org/drawingml/2006/main" prst="roundRect">
            <a:avLst>
              <a:gd name="adj" fmla="val 21875"/>
            </a:avLst>
          </a:prstGeom>
          <a:solidFill xmlns:a="http://schemas.openxmlformats.org/drawingml/2006/main">
            <a:srgbClr val="FFFFFF"/>
          </a:solidFill>
          <a:ln xmlns:a="http://schemas.openxmlformats.org/drawingml/2006/main" w="9525">
            <a:solidFill>
              <a:srgbClr val="D7E1DA"/>
            </a:solidFill>
            <a:prstDash val="solid"/>
          </a:ln>
        </p:spPr>
        <p:txBody>
          <a:bodyPr xmlns:a="http://schemas.openxmlformats.org/drawingml/2006/main" anchor="ctr">
            <a:noAutofit/>
          </a:bodyPr>
          <a:lstStyle xmlns:a="http://schemas.openxmlformats.org/drawingml/2006/main"/>
          <a:p xmlns:a="http://schemas.openxmlformats.org/drawingml/2006/main">
            <a:pPr algn="ctr">
              <a:defRPr sz="1500" b="1">
                <a:solidFill>
                  <a:srgbClr val="08251E"/>
                </a:solidFill>
                <a:latin typeface="Aptos"/>
                <a:ea typeface="Aptos"/>
                <a:cs typeface="Aptos"/>
              </a:defRPr>
            </a:pPr>
            <a:r>
              <a:rPr sz="1500" b="1">
                <a:solidFill>
                  <a:srgbClr val="08251E"/>
                </a:solidFill>
                <a:latin typeface="Aptos"/>
                <a:ea typeface="Aptos"/>
                <a:cs typeface="Aptos"/>
              </a:rPr>
              <a:t>DAY 3</a:t>
            </a:r>
          </a:p>
        </p:txBody>
      </p:sp>
      <p:sp>
        <p:nvSpPr>
          <p:cNvPr id="9" name="">
            <a:extLst xmlns:a="http://schemas.openxmlformats.org/drawingml/2006/main">
              <a:ext uri="{FF2B5EF4-FFF2-40B4-BE49-F238E27FC236}">
                <a16:creationId xmlns:a16="http://schemas.microsoft.com/office/drawing/2014/main" id="{6190E00F-0E77-4F10-AC10-78B638E7F10E}"/>
              </a:ext>
            </a:extLst>
          </p:cNvPr>
          <p:cNvSpPr>
            <a:spLocks xmlns:a="http://schemas.openxmlformats.org/drawingml/2006/main" noGrp="1"/>
          </p:cNvSpPr>
          <p:nvPr/>
        </p:nvSpPr>
        <p:spPr>
          <a:xfrm xmlns:a="http://schemas.openxmlformats.org/drawingml/2006/main">
            <a:off x="9048750" y="1952625"/>
            <a:ext cx="1333500" cy="609600"/>
          </a:xfrm>
          <a:prstGeom xmlns:a="http://schemas.openxmlformats.org/drawingml/2006/main" prst="roundRect">
            <a:avLst>
              <a:gd name="adj" fmla="val 21875"/>
            </a:avLst>
          </a:prstGeom>
          <a:solidFill xmlns:a="http://schemas.openxmlformats.org/drawingml/2006/main">
            <a:srgbClr val="FFFFFF"/>
          </a:solidFill>
          <a:ln xmlns:a="http://schemas.openxmlformats.org/drawingml/2006/main" w="9525">
            <a:solidFill>
              <a:srgbClr val="D7E1DA"/>
            </a:solidFill>
            <a:prstDash val="solid"/>
          </a:ln>
        </p:spPr>
        <p:txBody>
          <a:bodyPr xmlns:a="http://schemas.openxmlformats.org/drawingml/2006/main" anchor="ctr">
            <a:noAutofit/>
          </a:bodyPr>
          <a:lstStyle xmlns:a="http://schemas.openxmlformats.org/drawingml/2006/main"/>
          <a:p xmlns:a="http://schemas.openxmlformats.org/drawingml/2006/main">
            <a:pPr algn="ctr">
              <a:defRPr sz="1500" b="1">
                <a:solidFill>
                  <a:srgbClr val="08251E"/>
                </a:solidFill>
                <a:latin typeface="Aptos"/>
                <a:ea typeface="Aptos"/>
                <a:cs typeface="Aptos"/>
              </a:defRPr>
            </a:pPr>
            <a:r>
              <a:rPr sz="1500" b="1">
                <a:solidFill>
                  <a:srgbClr val="08251E"/>
                </a:solidFill>
                <a:latin typeface="Aptos"/>
                <a:ea typeface="Aptos"/>
                <a:cs typeface="Aptos"/>
              </a:rPr>
              <a:t>DAY 7</a:t>
            </a:r>
          </a:p>
        </p:txBody>
      </p:sp>
      <p:sp>
        <p:nvSpPr>
          <p:cNvPr id="10" name="">
            <a:extLst xmlns:a="http://schemas.openxmlformats.org/drawingml/2006/main">
              <a:ext uri="{FF2B5EF4-FFF2-40B4-BE49-F238E27FC236}">
                <a16:creationId xmlns:a16="http://schemas.microsoft.com/office/drawing/2014/main" id="{72084445-5B99-4526-84A3-84394B8DC278}"/>
              </a:ext>
            </a:extLst>
          </p:cNvPr>
          <p:cNvSpPr>
            <a:spLocks xmlns:a="http://schemas.openxmlformats.org/drawingml/2006/main" noGrp="1"/>
          </p:cNvSpPr>
          <p:nvPr/>
        </p:nvSpPr>
        <p:spPr>
          <a:xfrm xmlns:a="http://schemas.openxmlformats.org/drawingml/2006/main">
            <a:off x="9048750" y="3190875"/>
            <a:ext cx="1619250" cy="666750"/>
          </a:xfrm>
          <a:prstGeom xmlns:a="http://schemas.openxmlformats.org/drawingml/2006/main" prst="roundRect">
            <a:avLst>
              <a:gd name="adj" fmla="val 20000"/>
            </a:avLst>
          </a:prstGeom>
          <a:solidFill xmlns:a="http://schemas.openxmlformats.org/drawingml/2006/main">
            <a:srgbClr val="ECEFED"/>
          </a:solidFill>
          <a:ln xmlns:a="http://schemas.openxmlformats.org/drawingml/2006/main" w="9525">
            <a:solidFill>
              <a:srgbClr val="D7E1DA"/>
            </a:solidFill>
            <a:prstDash val="solid"/>
          </a:ln>
        </p:spPr>
        <p:txBody>
          <a:bodyPr xmlns:a="http://schemas.openxmlformats.org/drawingml/2006/main" anchor="ctr">
            <a:noAutofit/>
          </a:bodyPr>
          <a:lstStyle xmlns:a="http://schemas.openxmlformats.org/drawingml/2006/main"/>
          <a:p xmlns:a="http://schemas.openxmlformats.org/drawingml/2006/main">
            <a:pPr algn="ctr">
              <a:defRPr sz="1500" b="1">
                <a:solidFill>
                  <a:srgbClr val="66736E"/>
                </a:solidFill>
                <a:latin typeface="Aptos"/>
                <a:ea typeface="Aptos"/>
                <a:cs typeface="Aptos"/>
              </a:defRPr>
            </a:pPr>
            <a:r>
              <a:rPr sz="1500" b="1">
                <a:solidFill>
                  <a:srgbClr val="66736E"/>
                </a:solidFill>
                <a:latin typeface="Aptos"/>
                <a:ea typeface="Aptos"/>
                <a:cs typeface="Aptos"/>
              </a:rPr>
              <a:t>CANCELLED</a:t>
            </a:r>
          </a:p>
        </p:txBody>
      </p:sp>
      <p:sp>
        <p:nvSpPr>
          <p:cNvPr id="16" name="">
            <a:extLst xmlns:a="http://schemas.openxmlformats.org/drawingml/2006/main">
              <a:ext uri="{FF2B5EF4-FFF2-40B4-BE49-F238E27FC236}">
                <a16:creationId xmlns:a16="http://schemas.microsoft.com/office/drawing/2014/main" id="{C30092A5-678B-4302-85B9-DBCDF6606BAF}"/>
              </a:ext>
            </a:extLst>
          </p:cNvPr>
          <p:cNvSpPr>
            <a:spLocks xmlns:a="http://schemas.openxmlformats.org/drawingml/2006/main" noGrp="1"/>
          </p:cNvSpPr>
          <p:nvPr/>
        </p:nvSpPr>
        <p:spPr>
          <a:xfrm xmlns:a="http://schemas.openxmlformats.org/drawingml/2006/main">
            <a:off x="4905375" y="2971800"/>
            <a:ext cx="3714750" cy="742950"/>
          </a:xfrm>
          <a:prstGeom xmlns:a="http://schemas.openxmlformats.org/drawingml/2006/main" prst="roundRect">
            <a:avLst>
              <a:gd name="adj" fmla="val 15385"/>
            </a:avLst>
          </a:prstGeom>
          <a:solidFill xmlns:a="http://schemas.openxmlformats.org/drawingml/2006/main">
            <a:srgbClr val="E7F1EB"/>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A6C52"/>
                </a:solidFill>
                <a:latin typeface="Aptos"/>
                <a:ea typeface="Aptos"/>
                <a:cs typeface="Aptos"/>
              </a:defRPr>
            </a:pPr>
            <a:r>
              <a:rPr sz="1500" b="1">
                <a:solidFill>
                  <a:srgbClr val="1A6C52"/>
                </a:solidFill>
                <a:latin typeface="Aptos"/>
                <a:ea typeface="Aptos"/>
                <a:cs typeface="Aptos"/>
              </a:rPr>
              <a:t>Any successful retry restores ACTIVE and cancels later queued attempts.</a:t>
            </a:r>
          </a:p>
        </p:txBody>
      </p:sp>
      <p:sp>
        <p:nvSpPr>
          <p:cNvPr id="17" name="">
            <a:extLst xmlns:a="http://schemas.openxmlformats.org/drawingml/2006/main">
              <a:ext uri="{FF2B5EF4-FFF2-40B4-BE49-F238E27FC236}">
                <a16:creationId xmlns:a16="http://schemas.microsoft.com/office/drawing/2014/main" id="{BB7E088D-68A1-4E83-A301-A33D4361D875}"/>
              </a:ext>
            </a:extLst>
          </p:cNvPr>
          <p:cNvSpPr>
            <a:spLocks xmlns:a="http://schemas.openxmlformats.org/drawingml/2006/main" noGrp="1"/>
          </p:cNvSpPr>
          <p:nvPr/>
        </p:nvSpPr>
        <p:spPr>
          <a:xfrm xmlns:a="http://schemas.openxmlformats.org/drawingml/2006/main">
            <a:off x="666750" y="4810125"/>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1A6C52"/>
                </a:solidFill>
                <a:latin typeface="Aptos"/>
                <a:ea typeface="Aptos"/>
                <a:cs typeface="Aptos"/>
              </a:defRPr>
            </a:pPr>
            <a:r>
              <a:rPr sz="1275" b="1">
                <a:solidFill>
                  <a:srgbClr val="1A6C52"/>
                </a:solidFill>
                <a:latin typeface="Aptos"/>
                <a:ea typeface="Aptos"/>
                <a:cs typeface="Aptos"/>
              </a:rPr>
              <a:t>HMAC</a:t>
            </a:r>
          </a:p>
        </p:txBody>
      </p:sp>
      <p:sp>
        <p:nvSpPr>
          <p:cNvPr id="18" name="">
            <a:extLst xmlns:a="http://schemas.openxmlformats.org/drawingml/2006/main">
              <a:ext uri="{FF2B5EF4-FFF2-40B4-BE49-F238E27FC236}">
                <a16:creationId xmlns:a16="http://schemas.microsoft.com/office/drawing/2014/main" id="{52E136D7-51DF-4DB9-A291-27B9C6BF2262}"/>
              </a:ext>
            </a:extLst>
          </p:cNvPr>
          <p:cNvSpPr>
            <a:spLocks xmlns:a="http://schemas.openxmlformats.org/drawingml/2006/main" noGrp="1"/>
          </p:cNvSpPr>
          <p:nvPr/>
        </p:nvSpPr>
        <p:spPr>
          <a:xfrm xmlns:a="http://schemas.openxmlformats.org/drawingml/2006/main">
            <a:off x="666750" y="512445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36E"/>
                </a:solidFill>
                <a:latin typeface="Aptos"/>
                <a:ea typeface="Aptos"/>
                <a:cs typeface="Aptos"/>
              </a:defRPr>
            </a:pPr>
            <a:r>
              <a:rPr sz="1350" b="0">
                <a:solidFill>
                  <a:srgbClr val="66736E"/>
                </a:solidFill>
                <a:latin typeface="Aptos"/>
                <a:ea typeface="Aptos"/>
                <a:cs typeface="Aptos"/>
              </a:rPr>
              <a:t>Constant time signature verification</a:t>
            </a:r>
          </a:p>
        </p:txBody>
      </p:sp>
      <p:sp>
        <p:nvSpPr>
          <p:cNvPr id="19" name="">
            <a:extLst xmlns:a="http://schemas.openxmlformats.org/drawingml/2006/main">
              <a:ext uri="{FF2B5EF4-FFF2-40B4-BE49-F238E27FC236}">
                <a16:creationId xmlns:a16="http://schemas.microsoft.com/office/drawing/2014/main" id="{9557E531-343E-4139-B674-DFE7CD41645A}"/>
              </a:ext>
            </a:extLst>
          </p:cNvPr>
          <p:cNvSpPr>
            <a:spLocks xmlns:a="http://schemas.openxmlformats.org/drawingml/2006/main" noGrp="1"/>
          </p:cNvSpPr>
          <p:nvPr/>
        </p:nvSpPr>
        <p:spPr>
          <a:xfrm xmlns:a="http://schemas.openxmlformats.org/drawingml/2006/main">
            <a:off x="3448050" y="4810125"/>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1A6C52"/>
                </a:solidFill>
                <a:latin typeface="Aptos"/>
                <a:ea typeface="Aptos"/>
                <a:cs typeface="Aptos"/>
              </a:defRPr>
            </a:pPr>
            <a:r>
              <a:rPr sz="1275" b="1">
                <a:solidFill>
                  <a:srgbClr val="1A6C52"/>
                </a:solidFill>
                <a:latin typeface="Aptos"/>
                <a:ea typeface="Aptos"/>
                <a:cs typeface="Aptos"/>
              </a:rPr>
              <a:t>REPLAY</a:t>
            </a:r>
          </a:p>
        </p:txBody>
      </p:sp>
      <p:sp>
        <p:nvSpPr>
          <p:cNvPr id="20" name="">
            <a:extLst xmlns:a="http://schemas.openxmlformats.org/drawingml/2006/main">
              <a:ext uri="{FF2B5EF4-FFF2-40B4-BE49-F238E27FC236}">
                <a16:creationId xmlns:a16="http://schemas.microsoft.com/office/drawing/2014/main" id="{2E6EF126-659E-4E03-8688-E32602556863}"/>
              </a:ext>
            </a:extLst>
          </p:cNvPr>
          <p:cNvSpPr>
            <a:spLocks xmlns:a="http://schemas.openxmlformats.org/drawingml/2006/main" noGrp="1"/>
          </p:cNvSpPr>
          <p:nvPr/>
        </p:nvSpPr>
        <p:spPr>
          <a:xfrm xmlns:a="http://schemas.openxmlformats.org/drawingml/2006/main">
            <a:off x="3448050" y="512445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36E"/>
                </a:solidFill>
                <a:latin typeface="Aptos"/>
                <a:ea typeface="Aptos"/>
                <a:cs typeface="Aptos"/>
              </a:defRPr>
            </a:pPr>
            <a:r>
              <a:rPr sz="1350" b="0">
                <a:solidFill>
                  <a:srgbClr val="66736E"/>
                </a:solidFill>
                <a:latin typeface="Aptos"/>
                <a:ea typeface="Aptos"/>
                <a:cs typeface="Aptos"/>
              </a:rPr>
              <a:t>Unique gateway event ID</a:t>
            </a:r>
          </a:p>
        </p:txBody>
      </p:sp>
      <p:sp>
        <p:nvSpPr>
          <p:cNvPr id="21" name="">
            <a:extLst xmlns:a="http://schemas.openxmlformats.org/drawingml/2006/main">
              <a:ext uri="{FF2B5EF4-FFF2-40B4-BE49-F238E27FC236}">
                <a16:creationId xmlns:a16="http://schemas.microsoft.com/office/drawing/2014/main" id="{94F416EB-5481-46D1-9F81-0AED8027321F}"/>
              </a:ext>
            </a:extLst>
          </p:cNvPr>
          <p:cNvSpPr>
            <a:spLocks xmlns:a="http://schemas.openxmlformats.org/drawingml/2006/main" noGrp="1"/>
          </p:cNvSpPr>
          <p:nvPr/>
        </p:nvSpPr>
        <p:spPr>
          <a:xfrm xmlns:a="http://schemas.openxmlformats.org/drawingml/2006/main">
            <a:off x="6229350" y="4810125"/>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1A6C52"/>
                </a:solidFill>
                <a:latin typeface="Aptos"/>
                <a:ea typeface="Aptos"/>
                <a:cs typeface="Aptos"/>
              </a:defRPr>
            </a:pPr>
            <a:r>
              <a:rPr sz="1275" b="1">
                <a:solidFill>
                  <a:srgbClr val="1A6C52"/>
                </a:solidFill>
                <a:latin typeface="Aptos"/>
                <a:ea typeface="Aptos"/>
                <a:cs typeface="Aptos"/>
              </a:rPr>
              <a:t>MONEY</a:t>
            </a:r>
          </a:p>
        </p:txBody>
      </p:sp>
      <p:sp>
        <p:nvSpPr>
          <p:cNvPr id="22" name="">
            <a:extLst xmlns:a="http://schemas.openxmlformats.org/drawingml/2006/main">
              <a:ext uri="{FF2B5EF4-FFF2-40B4-BE49-F238E27FC236}">
                <a16:creationId xmlns:a16="http://schemas.microsoft.com/office/drawing/2014/main" id="{DBA3B6CD-E254-4F5B-8CEC-FBD7224CBC06}"/>
              </a:ext>
            </a:extLst>
          </p:cNvPr>
          <p:cNvSpPr>
            <a:spLocks xmlns:a="http://schemas.openxmlformats.org/drawingml/2006/main" noGrp="1"/>
          </p:cNvSpPr>
          <p:nvPr/>
        </p:nvSpPr>
        <p:spPr>
          <a:xfrm xmlns:a="http://schemas.openxmlformats.org/drawingml/2006/main">
            <a:off x="6229350" y="512445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36E"/>
                </a:solidFill>
                <a:latin typeface="Aptos"/>
                <a:ea typeface="Aptos"/>
                <a:cs typeface="Aptos"/>
              </a:defRPr>
            </a:pPr>
            <a:r>
              <a:rPr sz="1350" b="0">
                <a:solidFill>
                  <a:srgbClr val="66736E"/>
                </a:solidFill>
                <a:latin typeface="Aptos"/>
                <a:ea typeface="Aptos"/>
                <a:cs typeface="Aptos"/>
              </a:rPr>
              <a:t>Decimal values and refund ceiling</a:t>
            </a:r>
          </a:p>
        </p:txBody>
      </p:sp>
      <p:sp>
        <p:nvSpPr>
          <p:cNvPr id="23" name="">
            <a:extLst xmlns:a="http://schemas.openxmlformats.org/drawingml/2006/main">
              <a:ext uri="{FF2B5EF4-FFF2-40B4-BE49-F238E27FC236}">
                <a16:creationId xmlns:a16="http://schemas.microsoft.com/office/drawing/2014/main" id="{9CE8E994-D65D-4093-B423-E009FC9947BD}"/>
              </a:ext>
            </a:extLst>
          </p:cNvPr>
          <p:cNvSpPr>
            <a:spLocks xmlns:a="http://schemas.openxmlformats.org/drawingml/2006/main" noGrp="1"/>
          </p:cNvSpPr>
          <p:nvPr/>
        </p:nvSpPr>
        <p:spPr>
          <a:xfrm xmlns:a="http://schemas.openxmlformats.org/drawingml/2006/main">
            <a:off x="9010650" y="4810125"/>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1A6C52"/>
                </a:solidFill>
                <a:latin typeface="Aptos"/>
                <a:ea typeface="Aptos"/>
                <a:cs typeface="Aptos"/>
              </a:defRPr>
            </a:pPr>
            <a:r>
              <a:rPr sz="1275" b="1">
                <a:solidFill>
                  <a:srgbClr val="1A6C52"/>
                </a:solidFill>
                <a:latin typeface="Aptos"/>
                <a:ea typeface="Aptos"/>
                <a:cs typeface="Aptos"/>
              </a:rPr>
              <a:t>TENANT</a:t>
            </a:r>
          </a:p>
        </p:txBody>
      </p:sp>
      <p:sp>
        <p:nvSpPr>
          <p:cNvPr id="24" name="">
            <a:extLst xmlns:a="http://schemas.openxmlformats.org/drawingml/2006/main">
              <a:ext uri="{FF2B5EF4-FFF2-40B4-BE49-F238E27FC236}">
                <a16:creationId xmlns:a16="http://schemas.microsoft.com/office/drawing/2014/main" id="{36EC3AC8-88B6-4F2B-8A39-F2845CAC6ABC}"/>
              </a:ext>
            </a:extLst>
          </p:cNvPr>
          <p:cNvSpPr>
            <a:spLocks xmlns:a="http://schemas.openxmlformats.org/drawingml/2006/main" noGrp="1"/>
          </p:cNvSpPr>
          <p:nvPr/>
        </p:nvSpPr>
        <p:spPr>
          <a:xfrm xmlns:a="http://schemas.openxmlformats.org/drawingml/2006/main">
            <a:off x="9010650" y="512445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36E"/>
                </a:solidFill>
                <a:latin typeface="Aptos"/>
                <a:ea typeface="Aptos"/>
                <a:cs typeface="Aptos"/>
              </a:defRPr>
            </a:pPr>
            <a:r>
              <a:rPr sz="1350" b="0">
                <a:solidFill>
                  <a:srgbClr val="66736E"/>
                </a:solidFill>
                <a:latin typeface="Aptos"/>
                <a:ea typeface="Aptos"/>
                <a:cs typeface="Aptos"/>
              </a:rPr>
              <a:t>Owner scope on every resource</a:t>
            </a:r>
          </a:p>
        </p:txBody>
      </p:sp>
      <p:sp>
        <p:nvSpPr>
          <p:cNvPr id="25" name="">
            <a:extLst xmlns:a="http://schemas.openxmlformats.org/drawingml/2006/main">
              <a:ext uri="{FF2B5EF4-FFF2-40B4-BE49-F238E27FC236}">
                <a16:creationId xmlns:a16="http://schemas.microsoft.com/office/drawing/2014/main" id="{5F78E157-B1A1-43CE-9B67-F168A80BC777}"/>
              </a:ext>
            </a:extLst>
          </p:cNvPr>
          <p:cNvSpPr>
            <a:spLocks xmlns:a="http://schemas.openxmlformats.org/drawingml/2006/main" noGrp="1"/>
          </p:cNvSpPr>
          <p:nvPr/>
        </p:nvSpPr>
        <p:spPr>
          <a:xfrm xmlns:a="http://schemas.openxmlformats.org/drawingml/2006/main">
            <a:off x="628650" y="647700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1A6C52"/>
                </a:solidFill>
                <a:latin typeface="Aptos"/>
                <a:ea typeface="Aptos"/>
                <a:cs typeface="Aptos"/>
              </a:defRPr>
            </a:pPr>
            <a:r>
              <a:rPr sz="975" b="1">
                <a:solidFill>
                  <a:srgbClr val="1A6C52"/>
                </a:solidFill>
                <a:latin typeface="Aptos"/>
                <a:ea typeface="Aptos"/>
                <a:cs typeface="Aptos"/>
              </a:rPr>
              <a:t>BillFlow AI</a:t>
            </a:r>
          </a:p>
        </p:txBody>
      </p:sp>
      <p:sp>
        <p:nvSpPr>
          <p:cNvPr id="26" name="">
            <a:extLst xmlns:a="http://schemas.openxmlformats.org/drawingml/2006/main">
              <a:ext uri="{FF2B5EF4-FFF2-40B4-BE49-F238E27FC236}">
                <a16:creationId xmlns:a16="http://schemas.microsoft.com/office/drawing/2014/main" id="{27E0652A-DA1C-4772-B5C6-304F1948FF82}"/>
              </a:ext>
            </a:extLst>
          </p:cNvPr>
          <p:cNvSpPr>
            <a:spLocks xmlns:a="http://schemas.openxmlformats.org/drawingml/2006/main" noGrp="1"/>
          </p:cNvSpPr>
          <p:nvPr/>
        </p:nvSpPr>
        <p:spPr>
          <a:xfrm xmlns:a="http://schemas.openxmlformats.org/drawingml/2006/main">
            <a:off x="11049000" y="6477000"/>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66736E"/>
                </a:solidFill>
                <a:latin typeface="Aptos"/>
                <a:ea typeface="Aptos"/>
                <a:cs typeface="Aptos"/>
              </a:defRPr>
            </a:pPr>
            <a:r>
              <a:rPr sz="975" b="1">
                <a:solidFill>
                  <a:srgbClr val="66736E"/>
                </a:solidFill>
                <a:latin typeface="Aptos"/>
                <a:ea typeface="Aptos"/>
                <a:cs typeface="Aptos"/>
              </a:rPr>
              <a:t>08</a:t>
            </a:r>
          </a:p>
        </p:txBody>
      </p:sp>
    </p:spTree>
    <p:extLst>
      <p:ext uri="{BB962C8B-B14F-4D97-AF65-F5344CB8AC3E}">
        <p14:creationId xmlns:p14="http://schemas.microsoft.com/office/powerpoint/2010/main" val="441523245"/>
      </p:ext>
    </p:extLst>
  </p:cSld>
</p:sld>
</file>

<file path=ppt/slides/slide9.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6A1139C-7B22-4B2A-B2A9-EB89F57C60AB}"/>
              </a:ext>
            </a:extLst>
          </p:cNvPr>
          <p:cNvSpPr>
            <a:spLocks xmlns:a="http://schemas.openxmlformats.org/drawingml/2006/main" noGrp="1"/>
          </p:cNvSpPr>
          <p:nvPr/>
        </p:nvSpPr>
        <p:spPr>
          <a:xfrm xmlns:a="http://schemas.openxmlformats.org/drawingml/2006/main">
            <a:off x="628650" y="28575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1A6C52"/>
                </a:solidFill>
                <a:latin typeface="Aptos"/>
                <a:ea typeface="Aptos"/>
                <a:cs typeface="Aptos"/>
              </a:defRPr>
            </a:pPr>
            <a:r>
              <a:rPr sz="1200" b="1">
                <a:solidFill>
                  <a:srgbClr val="1A6C52"/>
                </a:solidFill>
                <a:latin typeface="Aptos"/>
                <a:ea typeface="Aptos"/>
                <a:cs typeface="Aptos"/>
              </a:rPr>
              <a:t>09</a:t>
            </a:r>
          </a:p>
        </p:txBody>
      </p:sp>
      <p:sp>
        <p:nvSpPr>
          <p:cNvPr id="2" name="">
            <a:extLst xmlns:a="http://schemas.openxmlformats.org/drawingml/2006/main">
              <a:ext uri="{FF2B5EF4-FFF2-40B4-BE49-F238E27FC236}">
                <a16:creationId xmlns:a16="http://schemas.microsoft.com/office/drawing/2014/main" id="{CD77C3C2-2230-4AE6-8704-204BBF5C2E5E}"/>
              </a:ext>
            </a:extLst>
          </p:cNvPr>
          <p:cNvSpPr>
            <a:spLocks xmlns:a="http://schemas.openxmlformats.org/drawingml/2006/main" noGrp="1"/>
          </p:cNvSpPr>
          <p:nvPr/>
        </p:nvSpPr>
        <p:spPr>
          <a:xfrm xmlns:a="http://schemas.openxmlformats.org/drawingml/2006/main">
            <a:off x="628650" y="60960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251E"/>
                </a:solidFill>
                <a:latin typeface="Aptos"/>
                <a:ea typeface="Aptos"/>
                <a:cs typeface="Aptos"/>
              </a:defRPr>
            </a:pPr>
            <a:r>
              <a:rPr sz="3225" b="1">
                <a:solidFill>
                  <a:srgbClr val="08251E"/>
                </a:solidFill>
                <a:latin typeface="Aptos"/>
                <a:ea typeface="Aptos"/>
                <a:cs typeface="Aptos"/>
              </a:rPr>
              <a:t>Verification covers behavior and operating load</a:t>
            </a:r>
          </a:p>
        </p:txBody>
      </p:sp>
      <p:sp>
        <p:nvSpPr>
          <p:cNvPr id="3" name="">
            <a:extLst xmlns:a="http://schemas.openxmlformats.org/drawingml/2006/main">
              <a:ext uri="{FF2B5EF4-FFF2-40B4-BE49-F238E27FC236}">
                <a16:creationId xmlns:a16="http://schemas.microsoft.com/office/drawing/2014/main" id="{1EA762E1-EED4-47FC-8C43-18557B4A4255}"/>
              </a:ext>
            </a:extLst>
          </p:cNvPr>
          <p:cNvSpPr>
            <a:spLocks xmlns:a="http://schemas.openxmlformats.org/drawingml/2006/main" noGrp="1"/>
          </p:cNvSpPr>
          <p:nvPr/>
        </p:nvSpPr>
        <p:spPr>
          <a:xfrm xmlns:a="http://schemas.openxmlformats.org/drawingml/2006/main">
            <a:off x="647700" y="114300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36E"/>
                </a:solidFill>
                <a:latin typeface="Aptos"/>
                <a:ea typeface="Aptos"/>
                <a:cs typeface="Aptos"/>
              </a:defRPr>
            </a:pPr>
            <a:r>
              <a:rPr sz="1425" b="0">
                <a:solidFill>
                  <a:srgbClr val="66736E"/>
                </a:solidFill>
                <a:latin typeface="Aptos"/>
                <a:ea typeface="Aptos"/>
                <a:cs typeface="Aptos"/>
              </a:rPr>
              <a:t>The local benchmark completed 783 requests with zero failures</a:t>
            </a:r>
          </a:p>
        </p:txBody>
      </p:sp>
      <p:sp>
        <p:nvSpPr>
          <p:cNvPr id="4" name="">
            <a:extLst xmlns:a="http://schemas.openxmlformats.org/drawingml/2006/main">
              <a:ext uri="{FF2B5EF4-FFF2-40B4-BE49-F238E27FC236}">
                <a16:creationId xmlns:a16="http://schemas.microsoft.com/office/drawing/2014/main" id="{0B5C4DD0-4CEC-44E9-A615-A7E356D0E372}"/>
              </a:ext>
            </a:extLst>
          </p:cNvPr>
          <p:cNvSpPr>
            <a:spLocks xmlns:a="http://schemas.openxmlformats.org/drawingml/2006/main" noGrp="1"/>
          </p:cNvSpPr>
          <p:nvPr/>
        </p:nvSpPr>
        <p:spPr>
          <a:xfrm xmlns:a="http://schemas.openxmlformats.org/drawingml/2006/main">
            <a:off x="628650" y="1581150"/>
            <a:ext cx="10934700" cy="19050"/>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graphicFrame>
        <p:nvGraphicFramePr>
          <p:cNvPr id="20" name="Chart"/>
          <p:cNvGraphicFramePr/>
          <p:nvPr/>
        </p:nvGraphicFramePr>
        <p:xfrm>
          <a:off xmlns:a="http://schemas.openxmlformats.org/drawingml/2006/main" x="666750" y="2000250"/>
          <a:ext xmlns:a="http://schemas.openxmlformats.org/drawingml/2006/main" cx="6667500" cy="3524250"/>
        </p:xfrm>
        <a:graphic xmlns:a="http://schemas.openxmlformats.org/drawingml/2006/main">
          <a:graphicData uri="http://schemas.openxmlformats.org/drawingml/2006/chart">
            <c:chart xmlns:r="http://schemas.openxmlformats.org/officeDocument/2006/relationships" xmlns:c="http://schemas.openxmlformats.org/drawingml/2006/chart" r:id="R797f34ff95f545fc"/>
          </a:graphicData>
        </a:graphic>
      </p:graphicFrame>
      <p:sp>
        <p:nvSpPr>
          <p:cNvPr id="6" name="">
            <a:extLst xmlns:a="http://schemas.openxmlformats.org/drawingml/2006/main">
              <a:ext uri="{FF2B5EF4-FFF2-40B4-BE49-F238E27FC236}">
                <a16:creationId xmlns:a16="http://schemas.microsoft.com/office/drawing/2014/main" id="{E5252A96-B004-49DD-A188-E8CF2A674E87}"/>
              </a:ext>
            </a:extLst>
          </p:cNvPr>
          <p:cNvSpPr>
            <a:spLocks xmlns:a="http://schemas.openxmlformats.org/drawingml/2006/main" noGrp="1"/>
          </p:cNvSpPr>
          <p:nvPr/>
        </p:nvSpPr>
        <p:spPr>
          <a:xfrm xmlns:a="http://schemas.openxmlformats.org/drawingml/2006/main">
            <a:off x="876300" y="1847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1A6C52"/>
                </a:solidFill>
                <a:latin typeface="Aptos"/>
                <a:ea typeface="Aptos"/>
                <a:cs typeface="Aptos"/>
              </a:defRPr>
            </a:pPr>
            <a:r>
              <a:rPr sz="1350" b="1">
                <a:solidFill>
                  <a:srgbClr val="1A6C52"/>
                </a:solidFill>
                <a:latin typeface="Aptos"/>
                <a:ea typeface="Aptos"/>
                <a:cs typeface="Aptos"/>
              </a:rPr>
              <a:t>Average API response time</a:t>
            </a:r>
          </a:p>
        </p:txBody>
      </p:sp>
      <p:sp>
        <p:nvSpPr>
          <p:cNvPr id="7" name="">
            <a:extLst xmlns:a="http://schemas.openxmlformats.org/drawingml/2006/main">
              <a:ext uri="{FF2B5EF4-FFF2-40B4-BE49-F238E27FC236}">
                <a16:creationId xmlns:a16="http://schemas.microsoft.com/office/drawing/2014/main" id="{361CDBB9-B76D-425E-9506-46C58BFE4866}"/>
              </a:ext>
            </a:extLst>
          </p:cNvPr>
          <p:cNvSpPr>
            <a:spLocks xmlns:a="http://schemas.openxmlformats.org/drawingml/2006/main" noGrp="1"/>
          </p:cNvSpPr>
          <p:nvPr/>
        </p:nvSpPr>
        <p:spPr>
          <a:xfrm xmlns:a="http://schemas.openxmlformats.org/drawingml/2006/main">
            <a:off x="8096250" y="2047875"/>
            <a:ext cx="114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350" b="1">
                <a:solidFill>
                  <a:srgbClr val="0D2E25"/>
                </a:solidFill>
                <a:latin typeface="Aptos"/>
                <a:ea typeface="Aptos"/>
                <a:cs typeface="Aptos"/>
              </a:defRPr>
            </a:pPr>
            <a:r>
              <a:rPr sz="4350" b="1">
                <a:solidFill>
                  <a:srgbClr val="0D2E25"/>
                </a:solidFill>
                <a:latin typeface="Aptos"/>
                <a:ea typeface="Aptos"/>
                <a:cs typeface="Aptos"/>
              </a:rPr>
              <a:t>21</a:t>
            </a:r>
          </a:p>
        </p:txBody>
      </p:sp>
      <p:sp>
        <p:nvSpPr>
          <p:cNvPr id="8" name="">
            <a:extLst xmlns:a="http://schemas.openxmlformats.org/drawingml/2006/main">
              <a:ext uri="{FF2B5EF4-FFF2-40B4-BE49-F238E27FC236}">
                <a16:creationId xmlns:a16="http://schemas.microsoft.com/office/drawing/2014/main" id="{423C5D9F-81EE-4D4E-8389-B3C45910DACE}"/>
              </a:ext>
            </a:extLst>
          </p:cNvPr>
          <p:cNvSpPr>
            <a:spLocks xmlns:a="http://schemas.openxmlformats.org/drawingml/2006/main" noGrp="1"/>
          </p:cNvSpPr>
          <p:nvPr/>
        </p:nvSpPr>
        <p:spPr>
          <a:xfrm xmlns:a="http://schemas.openxmlformats.org/drawingml/2006/main">
            <a:off x="8096250" y="2686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36E"/>
                </a:solidFill>
                <a:latin typeface="Aptos"/>
                <a:ea typeface="Aptos"/>
                <a:cs typeface="Aptos"/>
              </a:defRPr>
            </a:pPr>
            <a:r>
              <a:rPr sz="1350" b="0">
                <a:solidFill>
                  <a:srgbClr val="66736E"/>
                </a:solidFill>
                <a:latin typeface="Aptos"/>
                <a:ea typeface="Aptos"/>
                <a:cs typeface="Aptos"/>
              </a:rPr>
              <a:t>backend tests passed</a:t>
            </a:r>
          </a:p>
        </p:txBody>
      </p:sp>
      <p:sp>
        <p:nvSpPr>
          <p:cNvPr id="9" name="">
            <a:extLst xmlns:a="http://schemas.openxmlformats.org/drawingml/2006/main">
              <a:ext uri="{FF2B5EF4-FFF2-40B4-BE49-F238E27FC236}">
                <a16:creationId xmlns:a16="http://schemas.microsoft.com/office/drawing/2014/main" id="{E196E5FA-1536-49E8-9D55-7F1184225C7D}"/>
              </a:ext>
            </a:extLst>
          </p:cNvPr>
          <p:cNvSpPr>
            <a:spLocks xmlns:a="http://schemas.openxmlformats.org/drawingml/2006/main" noGrp="1"/>
          </p:cNvSpPr>
          <p:nvPr/>
        </p:nvSpPr>
        <p:spPr>
          <a:xfrm xmlns:a="http://schemas.openxmlformats.org/drawingml/2006/main">
            <a:off x="8096250" y="3286125"/>
            <a:ext cx="114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350" b="1">
                <a:solidFill>
                  <a:srgbClr val="1A6C52"/>
                </a:solidFill>
                <a:latin typeface="Aptos"/>
                <a:ea typeface="Aptos"/>
                <a:cs typeface="Aptos"/>
              </a:defRPr>
            </a:pPr>
            <a:r>
              <a:rPr sz="4350" b="1">
                <a:solidFill>
                  <a:srgbClr val="1A6C52"/>
                </a:solidFill>
                <a:latin typeface="Aptos"/>
                <a:ea typeface="Aptos"/>
                <a:cs typeface="Aptos"/>
              </a:rPr>
              <a:t>0</a:t>
            </a:r>
          </a:p>
        </p:txBody>
      </p:sp>
      <p:sp>
        <p:nvSpPr>
          <p:cNvPr id="10" name="">
            <a:extLst xmlns:a="http://schemas.openxmlformats.org/drawingml/2006/main">
              <a:ext uri="{FF2B5EF4-FFF2-40B4-BE49-F238E27FC236}">
                <a16:creationId xmlns:a16="http://schemas.microsoft.com/office/drawing/2014/main" id="{BBFF841C-DE88-4650-9590-9C6F5BFC3368}"/>
              </a:ext>
            </a:extLst>
          </p:cNvPr>
          <p:cNvSpPr>
            <a:spLocks xmlns:a="http://schemas.openxmlformats.org/drawingml/2006/main" noGrp="1"/>
          </p:cNvSpPr>
          <p:nvPr/>
        </p:nvSpPr>
        <p:spPr>
          <a:xfrm xmlns:a="http://schemas.openxmlformats.org/drawingml/2006/main">
            <a:off x="8096250" y="39243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36E"/>
                </a:solidFill>
                <a:latin typeface="Aptos"/>
                <a:ea typeface="Aptos"/>
                <a:cs typeface="Aptos"/>
              </a:defRPr>
            </a:pPr>
            <a:r>
              <a:rPr sz="1350" b="0">
                <a:solidFill>
                  <a:srgbClr val="66736E"/>
                </a:solidFill>
                <a:latin typeface="Aptos"/>
                <a:ea typeface="Aptos"/>
                <a:cs typeface="Aptos"/>
              </a:rPr>
              <a:t>load test failures</a:t>
            </a:r>
          </a:p>
        </p:txBody>
      </p:sp>
      <p:sp>
        <p:nvSpPr>
          <p:cNvPr id="11" name="">
            <a:extLst xmlns:a="http://schemas.openxmlformats.org/drawingml/2006/main">
              <a:ext uri="{FF2B5EF4-FFF2-40B4-BE49-F238E27FC236}">
                <a16:creationId xmlns:a16="http://schemas.microsoft.com/office/drawing/2014/main" id="{F41332AC-DC26-48DD-92F6-FD4137A243E1}"/>
              </a:ext>
            </a:extLst>
          </p:cNvPr>
          <p:cNvSpPr>
            <a:spLocks xmlns:a="http://schemas.openxmlformats.org/drawingml/2006/main" noGrp="1"/>
          </p:cNvSpPr>
          <p:nvPr/>
        </p:nvSpPr>
        <p:spPr>
          <a:xfrm xmlns:a="http://schemas.openxmlformats.org/drawingml/2006/main">
            <a:off x="8096250" y="4524375"/>
            <a:ext cx="209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D2E25"/>
                </a:solidFill>
                <a:latin typeface="Aptos"/>
                <a:ea typeface="Aptos"/>
                <a:cs typeface="Aptos"/>
              </a:defRPr>
            </a:pPr>
            <a:r>
              <a:rPr sz="3900" b="1">
                <a:solidFill>
                  <a:srgbClr val="0D2E25"/>
                </a:solidFill>
                <a:latin typeface="Aptos"/>
                <a:ea typeface="Aptos"/>
                <a:cs typeface="Aptos"/>
              </a:rPr>
              <a:t>49 ms</a:t>
            </a:r>
          </a:p>
        </p:txBody>
      </p:sp>
      <p:sp>
        <p:nvSpPr>
          <p:cNvPr id="12" name="">
            <a:extLst xmlns:a="http://schemas.openxmlformats.org/drawingml/2006/main">
              <a:ext uri="{FF2B5EF4-FFF2-40B4-BE49-F238E27FC236}">
                <a16:creationId xmlns:a16="http://schemas.microsoft.com/office/drawing/2014/main" id="{4C4D2F4A-6A86-497A-BCAC-DE6D3FE74C6B}"/>
              </a:ext>
            </a:extLst>
          </p:cNvPr>
          <p:cNvSpPr>
            <a:spLocks xmlns:a="http://schemas.openxmlformats.org/drawingml/2006/main" noGrp="1"/>
          </p:cNvSpPr>
          <p:nvPr/>
        </p:nvSpPr>
        <p:spPr>
          <a:xfrm xmlns:a="http://schemas.openxmlformats.org/drawingml/2006/main">
            <a:off x="8096250" y="51625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36E"/>
                </a:solidFill>
                <a:latin typeface="Aptos"/>
                <a:ea typeface="Aptos"/>
                <a:cs typeface="Aptos"/>
              </a:defRPr>
            </a:pPr>
            <a:r>
              <a:rPr sz="1350" b="0">
                <a:solidFill>
                  <a:srgbClr val="66736E"/>
                </a:solidFill>
                <a:latin typeface="Aptos"/>
                <a:ea typeface="Aptos"/>
                <a:cs typeface="Aptos"/>
              </a:rPr>
              <a:t>aggregate p95</a:t>
            </a:r>
          </a:p>
        </p:txBody>
      </p:sp>
      <p:sp>
        <p:nvSpPr>
          <p:cNvPr id="13" name="">
            <a:extLst xmlns:a="http://schemas.openxmlformats.org/drawingml/2006/main">
              <a:ext uri="{FF2B5EF4-FFF2-40B4-BE49-F238E27FC236}">
                <a16:creationId xmlns:a16="http://schemas.microsoft.com/office/drawing/2014/main" id="{5FFFC84D-F3BA-4D84-BF59-69A52CE1E7BE}"/>
              </a:ext>
            </a:extLst>
          </p:cNvPr>
          <p:cNvSpPr>
            <a:spLocks xmlns:a="http://schemas.openxmlformats.org/drawingml/2006/main" noGrp="1"/>
          </p:cNvSpPr>
          <p:nvPr/>
        </p:nvSpPr>
        <p:spPr>
          <a:xfrm xmlns:a="http://schemas.openxmlformats.org/drawingml/2006/main">
            <a:off x="762000" y="58674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i="1">
                <a:solidFill>
                  <a:srgbClr val="66736E"/>
                </a:solidFill>
                <a:latin typeface="Aptos"/>
                <a:ea typeface="Aptos"/>
                <a:cs typeface="Aptos"/>
              </a:defRPr>
            </a:pPr>
            <a:r>
              <a:rPr sz="1125" b="0" i="1">
                <a:solidFill>
                  <a:srgbClr val="66736E"/>
                </a:solidFill>
                <a:latin typeface="Aptos"/>
                <a:ea typeface="Aptos"/>
                <a:cs typeface="Aptos"/>
              </a:rPr>
              <a:t>20 users, one Uvicorn process, local SQLite. This development profile is not a production capacity claim.</a:t>
            </a:r>
          </a:p>
        </p:txBody>
      </p:sp>
      <p:sp>
        <p:nvSpPr>
          <p:cNvPr id="14" name="">
            <a:extLst xmlns:a="http://schemas.openxmlformats.org/drawingml/2006/main">
              <a:ext uri="{FF2B5EF4-FFF2-40B4-BE49-F238E27FC236}">
                <a16:creationId xmlns:a16="http://schemas.microsoft.com/office/drawing/2014/main" id="{8488AE99-D7AD-4C88-9010-407F0A31AFA4}"/>
              </a:ext>
            </a:extLst>
          </p:cNvPr>
          <p:cNvSpPr>
            <a:spLocks xmlns:a="http://schemas.openxmlformats.org/drawingml/2006/main" noGrp="1"/>
          </p:cNvSpPr>
          <p:nvPr/>
        </p:nvSpPr>
        <p:spPr>
          <a:xfrm xmlns:a="http://schemas.openxmlformats.org/drawingml/2006/main">
            <a:off x="628650" y="647700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1A6C52"/>
                </a:solidFill>
                <a:latin typeface="Aptos"/>
                <a:ea typeface="Aptos"/>
                <a:cs typeface="Aptos"/>
              </a:defRPr>
            </a:pPr>
            <a:r>
              <a:rPr sz="975" b="1">
                <a:solidFill>
                  <a:srgbClr val="1A6C52"/>
                </a:solidFill>
                <a:latin typeface="Aptos"/>
                <a:ea typeface="Aptos"/>
                <a:cs typeface="Aptos"/>
              </a:rPr>
              <a:t>BillFlow AI</a:t>
            </a:r>
          </a:p>
        </p:txBody>
      </p:sp>
      <p:sp>
        <p:nvSpPr>
          <p:cNvPr id="15" name="">
            <a:extLst xmlns:a="http://schemas.openxmlformats.org/drawingml/2006/main">
              <a:ext uri="{FF2B5EF4-FFF2-40B4-BE49-F238E27FC236}">
                <a16:creationId xmlns:a16="http://schemas.microsoft.com/office/drawing/2014/main" id="{C40CB1EA-EE1F-4F4D-A393-3BD074F5E7F4}"/>
              </a:ext>
            </a:extLst>
          </p:cNvPr>
          <p:cNvSpPr>
            <a:spLocks xmlns:a="http://schemas.openxmlformats.org/drawingml/2006/main" noGrp="1"/>
          </p:cNvSpPr>
          <p:nvPr/>
        </p:nvSpPr>
        <p:spPr>
          <a:xfrm xmlns:a="http://schemas.openxmlformats.org/drawingml/2006/main">
            <a:off x="11049000" y="6477000"/>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66736E"/>
                </a:solidFill>
                <a:latin typeface="Aptos"/>
                <a:ea typeface="Aptos"/>
                <a:cs typeface="Aptos"/>
              </a:defRPr>
            </a:pPr>
            <a:r>
              <a:rPr sz="975" b="1">
                <a:solidFill>
                  <a:srgbClr val="66736E"/>
                </a:solidFill>
                <a:latin typeface="Aptos"/>
                <a:ea typeface="Aptos"/>
                <a:cs typeface="Aptos"/>
              </a:rPr>
              <a:t>09</a:t>
            </a:r>
          </a:p>
        </p:txBody>
      </p:sp>
    </p:spTree>
    <p:extLst>
      <p:ext uri="{BB962C8B-B14F-4D97-AF65-F5344CB8AC3E}">
        <p14:creationId xmlns:p14="http://schemas.microsoft.com/office/powerpoint/2010/main" val="1236721544"/>
      </p:ext>
    </p:extLst>
  </p:cSld>
</p:sld>
</file>

<file path=ppt/slides/slide10.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22534CF-A92B-4552-B231-74D9FEF28BAC}"/>
              </a:ext>
            </a:extLst>
          </p:cNvPr>
          <p:cNvSpPr>
            <a:spLocks xmlns:a="http://schemas.openxmlformats.org/drawingml/2006/main" noGrp="1"/>
          </p:cNvSpPr>
          <p:nvPr/>
        </p:nvSpPr>
        <p:spPr>
          <a:xfrm xmlns:a="http://schemas.openxmlformats.org/drawingml/2006/main">
            <a:off x="628650" y="28575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1A6C52"/>
                </a:solidFill>
                <a:latin typeface="Aptos"/>
                <a:ea typeface="Aptos"/>
                <a:cs typeface="Aptos"/>
              </a:defRPr>
            </a:pPr>
            <a:r>
              <a:rPr sz="1200" b="1">
                <a:solidFill>
                  <a:srgbClr val="1A6C52"/>
                </a:solidFill>
                <a:latin typeface="Aptos"/>
                <a:ea typeface="Aptos"/>
                <a:cs typeface="Aptos"/>
              </a:rPr>
              <a:t>10</a:t>
            </a:r>
          </a:p>
        </p:txBody>
      </p:sp>
      <p:sp>
        <p:nvSpPr>
          <p:cNvPr id="2" name="">
            <a:extLst xmlns:a="http://schemas.openxmlformats.org/drawingml/2006/main">
              <a:ext uri="{FF2B5EF4-FFF2-40B4-BE49-F238E27FC236}">
                <a16:creationId xmlns:a16="http://schemas.microsoft.com/office/drawing/2014/main" id="{9E0C5CB6-1F79-4F04-AAE3-78E44A7FEE87}"/>
              </a:ext>
            </a:extLst>
          </p:cNvPr>
          <p:cNvSpPr>
            <a:spLocks xmlns:a="http://schemas.openxmlformats.org/drawingml/2006/main" noGrp="1"/>
          </p:cNvSpPr>
          <p:nvPr/>
        </p:nvSpPr>
        <p:spPr>
          <a:xfrm xmlns:a="http://schemas.openxmlformats.org/drawingml/2006/main">
            <a:off x="628650" y="60960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251E"/>
                </a:solidFill>
                <a:latin typeface="Aptos"/>
                <a:ea typeface="Aptos"/>
                <a:cs typeface="Aptos"/>
              </a:defRPr>
            </a:pPr>
            <a:r>
              <a:rPr sz="3225" b="1">
                <a:solidFill>
                  <a:srgbClr val="08251E"/>
                </a:solidFill>
                <a:latin typeface="Aptos"/>
                <a:ea typeface="Aptos"/>
                <a:cs typeface="Aptos"/>
              </a:rPr>
              <a:t>Eight week specification coverage</a:t>
            </a:r>
          </a:p>
        </p:txBody>
      </p:sp>
      <p:sp>
        <p:nvSpPr>
          <p:cNvPr id="3" name="">
            <a:extLst xmlns:a="http://schemas.openxmlformats.org/drawingml/2006/main">
              <a:ext uri="{FF2B5EF4-FFF2-40B4-BE49-F238E27FC236}">
                <a16:creationId xmlns:a16="http://schemas.microsoft.com/office/drawing/2014/main" id="{8452C0D6-DA28-40A4-A710-1056AD1276ED}"/>
              </a:ext>
            </a:extLst>
          </p:cNvPr>
          <p:cNvSpPr>
            <a:spLocks xmlns:a="http://schemas.openxmlformats.org/drawingml/2006/main" noGrp="1"/>
          </p:cNvSpPr>
          <p:nvPr/>
        </p:nvSpPr>
        <p:spPr>
          <a:xfrm xmlns:a="http://schemas.openxmlformats.org/drawingml/2006/main">
            <a:off x="647700" y="114300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36E"/>
                </a:solidFill>
                <a:latin typeface="Aptos"/>
                <a:ea typeface="Aptos"/>
                <a:cs typeface="Aptos"/>
              </a:defRPr>
            </a:pPr>
            <a:r>
              <a:rPr sz="1425" b="0">
                <a:solidFill>
                  <a:srgbClr val="66736E"/>
                </a:solidFill>
                <a:latin typeface="Aptos"/>
                <a:ea typeface="Aptos"/>
                <a:cs typeface="Aptos"/>
              </a:rPr>
              <a:t>Every weekly requirement maps to code, an operator surface and verification evidence</a:t>
            </a:r>
          </a:p>
        </p:txBody>
      </p:sp>
      <p:sp>
        <p:nvSpPr>
          <p:cNvPr id="4" name="">
            <a:extLst xmlns:a="http://schemas.openxmlformats.org/drawingml/2006/main">
              <a:ext uri="{FF2B5EF4-FFF2-40B4-BE49-F238E27FC236}">
                <a16:creationId xmlns:a16="http://schemas.microsoft.com/office/drawing/2014/main" id="{52167F58-9795-4F40-9C4A-0EF0D75E26EB}"/>
              </a:ext>
            </a:extLst>
          </p:cNvPr>
          <p:cNvSpPr>
            <a:spLocks xmlns:a="http://schemas.openxmlformats.org/drawingml/2006/main" noGrp="1"/>
          </p:cNvSpPr>
          <p:nvPr/>
        </p:nvSpPr>
        <p:spPr>
          <a:xfrm xmlns:a="http://schemas.openxmlformats.org/drawingml/2006/main">
            <a:off x="628650" y="1581150"/>
            <a:ext cx="10934700" cy="19050"/>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graphicFrame>
        <p:nvGraphicFramePr>
          <p:cNvPr id="13" name=""/>
          <p:cNvGraphicFramePr/>
          <p:nvPr/>
        </p:nvGraphicFramePr>
        <p:xfrm>
          <a:off xmlns:a="http://schemas.openxmlformats.org/drawingml/2006/main" x="647700" y="2047875"/>
          <a:ext xmlns:a="http://schemas.openxmlformats.org/drawingml/2006/main" cx="10896600" cy="3571875"/>
        </p:xfrm>
        <a:graphic xmlns:a="http://schemas.openxmlformats.org/drawingml/2006/main">
          <a:graphicData uri="http://schemas.openxmlformats.org/drawingml/2006/table">
            <a:tbl>
              <a:tblPr/>
              <a:tblGrid>
                <a:gridCol w="1619250"/>
                <a:gridCol w="6286500"/>
                <a:gridCol w="2990850"/>
              </a:tblGrid>
              <a:tr h="523875">
                <a:tc>
                  <a:txBody>
                    <a:bodyPr/>
                    <a:lstStyle/>
                    <a:p>
                      <a:r>
                        <a:rPr sz="1425" b="1">
                          <a:solidFill>
                            <a:srgbClr val="FFFFFF"/>
                          </a:solidFill>
                          <a:latin typeface="Aptos"/>
                          <a:ea typeface="Aptos"/>
                          <a:cs typeface="Aptos"/>
                        </a:rPr>
                        <a:t>Phase</a:t>
                      </a:r>
                    </a:p>
                  </a:txBody>
                  <a:tcPr marL="91440" marR="91440" marT="45720" marB="45720">
                    <a:solidFill>
                      <a:srgbClr val="0D2E25"/>
                    </a:solidFill>
                  </a:tcPr>
                </a:tc>
                <a:tc>
                  <a:txBody>
                    <a:bodyPr/>
                    <a:lstStyle/>
                    <a:p>
                      <a:r>
                        <a:rPr sz="1425" b="1">
                          <a:solidFill>
                            <a:srgbClr val="FFFFFF"/>
                          </a:solidFill>
                          <a:latin typeface="Aptos"/>
                          <a:ea typeface="Aptos"/>
                          <a:cs typeface="Aptos"/>
                        </a:rPr>
                        <a:t>Delivered evidence</a:t>
                      </a:r>
                    </a:p>
                  </a:txBody>
                  <a:tcPr marL="91440" marR="91440" marT="45720" marB="45720">
                    <a:solidFill>
                      <a:srgbClr val="0D2E25"/>
                    </a:solidFill>
                  </a:tcPr>
                </a:tc>
                <a:tc>
                  <a:txBody>
                    <a:bodyPr/>
                    <a:lstStyle/>
                    <a:p>
                      <a:r>
                        <a:rPr sz="1425" b="1">
                          <a:solidFill>
                            <a:srgbClr val="FFFFFF"/>
                          </a:solidFill>
                          <a:latin typeface="Aptos"/>
                          <a:ea typeface="Aptos"/>
                          <a:cs typeface="Aptos"/>
                        </a:rPr>
                        <a:t>Validation</a:t>
                      </a:r>
                    </a:p>
                  </a:txBody>
                  <a:tcPr marL="91440" marR="91440" marT="45720" marB="45720">
                    <a:solidFill>
                      <a:srgbClr val="0D2E25"/>
                    </a:solidFill>
                  </a:tcPr>
                </a:tc>
              </a:tr>
              <a:tr h="762000">
                <a:tc>
                  <a:txBody>
                    <a:bodyPr/>
                    <a:lstStyle/>
                    <a:p>
                      <a:r>
                        <a:rPr sz="1350" b="1">
                          <a:solidFill>
                            <a:srgbClr val="1A6C52"/>
                          </a:solidFill>
                          <a:latin typeface="Aptos"/>
                          <a:ea typeface="Aptos"/>
                          <a:cs typeface="Aptos"/>
                        </a:rPr>
                        <a:t>Weeks 1–2</a:t>
                      </a:r>
                    </a:p>
                  </a:txBody>
                  <a:tcPr marL="91440" marR="91440" marT="45720" marB="45720">
                    <a:solidFill>
                      <a:srgbClr val="E7F1EB"/>
                    </a:solidFill>
                  </a:tcPr>
                </a:tc>
                <a:tc>
                  <a:txBody>
                    <a:bodyPr/>
                    <a:lstStyle/>
                    <a:p>
                      <a:r>
                        <a:rPr sz="1275">
                          <a:solidFill>
                            <a:srgbClr val="08251E"/>
                          </a:solidFill>
                          <a:latin typeface="Aptos"/>
                          <a:ea typeface="Aptos"/>
                          <a:cs typeface="Aptos"/>
                        </a:rPr>
                        <a:t>PostgreSQL schema, state machine, plan and subscription APIs, Celery renewal scheduler</a:t>
                      </a:r>
                    </a:p>
                  </a:txBody>
                  <a:tcPr marL="91440" marR="91440" marT="45720" marB="45720"/>
                </a:tc>
                <a:tc>
                  <a:txBody>
                    <a:bodyPr/>
                    <a:lstStyle/>
                    <a:p>
                      <a:r>
                        <a:rPr sz="1275">
                          <a:solidFill>
                            <a:srgbClr val="08251E"/>
                          </a:solidFill>
                          <a:latin typeface="Aptos"/>
                          <a:ea typeface="Aptos"/>
                          <a:cs typeface="Aptos"/>
                        </a:rPr>
                        <a:t>Migration smoke, lifecycle and due cycle tests</a:t>
                      </a:r>
                    </a:p>
                  </a:txBody>
                  <a:tcPr marL="91440" marR="91440" marT="45720" marB="45720"/>
                </a:tc>
              </a:tr>
              <a:tr h="762000">
                <a:tc>
                  <a:txBody>
                    <a:bodyPr/>
                    <a:lstStyle/>
                    <a:p>
                      <a:r>
                        <a:rPr sz="1350" b="1">
                          <a:solidFill>
                            <a:srgbClr val="1A6C52"/>
                          </a:solidFill>
                          <a:latin typeface="Aptos"/>
                          <a:ea typeface="Aptos"/>
                          <a:cs typeface="Aptos"/>
                        </a:rPr>
                        <a:t>Weeks 3–4</a:t>
                      </a:r>
                    </a:p>
                  </a:txBody>
                  <a:tcPr marL="91440" marR="91440" marT="45720" marB="45720">
                    <a:solidFill>
                      <a:srgbClr val="E7F1EB"/>
                    </a:solidFill>
                  </a:tcPr>
                </a:tc>
                <a:tc>
                  <a:txBody>
                    <a:bodyPr/>
                    <a:lstStyle/>
                    <a:p>
                      <a:r>
                        <a:rPr sz="1275">
                          <a:solidFill>
                            <a:srgbClr val="08251E"/>
                          </a:solidFill>
                          <a:latin typeface="Aptos"/>
                          <a:ea typeface="Aptos"/>
                          <a:cs typeface="Aptos"/>
                        </a:rPr>
                        <a:t>Proration, itemized invoices, signed mock gateway, webhook updates, unused period refunds</a:t>
                      </a:r>
                    </a:p>
                  </a:txBody>
                  <a:tcPr marL="91440" marR="91440" marT="45720" marB="45720"/>
                </a:tc>
                <a:tc>
                  <a:txBody>
                    <a:bodyPr/>
                    <a:lstStyle/>
                    <a:p>
                      <a:r>
                        <a:rPr sz="1275">
                          <a:solidFill>
                            <a:srgbClr val="08251E"/>
                          </a:solidFill>
                          <a:latin typeface="Aptos"/>
                          <a:ea typeface="Aptos"/>
                          <a:cs typeface="Aptos"/>
                        </a:rPr>
                        <a:t>Proration, HMAC replay and refund tests</a:t>
                      </a:r>
                    </a:p>
                  </a:txBody>
                  <a:tcPr marL="91440" marR="91440" marT="45720" marB="45720"/>
                </a:tc>
              </a:tr>
              <a:tr h="762000">
                <a:tc>
                  <a:txBody>
                    <a:bodyPr/>
                    <a:lstStyle/>
                    <a:p>
                      <a:r>
                        <a:rPr sz="1350" b="1">
                          <a:solidFill>
                            <a:srgbClr val="1A6C52"/>
                          </a:solidFill>
                          <a:latin typeface="Aptos"/>
                          <a:ea typeface="Aptos"/>
                          <a:cs typeface="Aptos"/>
                        </a:rPr>
                        <a:t>Weeks 5–6</a:t>
                      </a:r>
                    </a:p>
                  </a:txBody>
                  <a:tcPr marL="91440" marR="91440" marT="45720" marB="45720">
                    <a:solidFill>
                      <a:srgbClr val="E7F1EB"/>
                    </a:solidFill>
                  </a:tcPr>
                </a:tc>
                <a:tc>
                  <a:txBody>
                    <a:bodyPr/>
                    <a:lstStyle/>
                    <a:p>
                      <a:r>
                        <a:rPr sz="1275">
                          <a:solidFill>
                            <a:srgbClr val="08251E"/>
                          </a:solidFill>
                          <a:latin typeface="Aptos"/>
                          <a:ea typeface="Aptos"/>
                          <a:cs typeface="Aptos"/>
                        </a:rPr>
                        <a:t>Day 1/3/7 retries, regional tax, persisted PDF, Recharts dashboard, customer audit</a:t>
                      </a:r>
                    </a:p>
                  </a:txBody>
                  <a:tcPr marL="91440" marR="91440" marT="45720" marB="45720"/>
                </a:tc>
                <a:tc>
                  <a:txBody>
                    <a:bodyPr/>
                    <a:lstStyle/>
                    <a:p>
                      <a:r>
                        <a:rPr sz="1275">
                          <a:solidFill>
                            <a:srgbClr val="08251E"/>
                          </a:solidFill>
                          <a:latin typeface="Aptos"/>
                          <a:ea typeface="Aptos"/>
                          <a:cs typeface="Aptos"/>
                        </a:rPr>
                        <a:t>Retry exhaustion, tax/PDF and analytics tests</a:t>
                      </a:r>
                    </a:p>
                  </a:txBody>
                  <a:tcPr marL="91440" marR="91440" marT="45720" marB="45720"/>
                </a:tc>
              </a:tr>
              <a:tr h="762000">
                <a:tc>
                  <a:txBody>
                    <a:bodyPr/>
                    <a:lstStyle/>
                    <a:p>
                      <a:r>
                        <a:rPr sz="1350" b="1">
                          <a:solidFill>
                            <a:srgbClr val="1A6C52"/>
                          </a:solidFill>
                          <a:latin typeface="Aptos"/>
                          <a:ea typeface="Aptos"/>
                          <a:cs typeface="Aptos"/>
                        </a:rPr>
                        <a:t>Weeks 7–8</a:t>
                      </a:r>
                    </a:p>
                  </a:txBody>
                  <a:tcPr marL="91440" marR="91440" marT="45720" marB="45720">
                    <a:solidFill>
                      <a:srgbClr val="E7F1EB"/>
                    </a:solidFill>
                  </a:tcPr>
                </a:tc>
                <a:tc>
                  <a:txBody>
                    <a:bodyPr/>
                    <a:lstStyle/>
                    <a:p>
                      <a:r>
                        <a:rPr sz="1275">
                          <a:solidFill>
                            <a:srgbClr val="08251E"/>
                          </a:solidFill>
                          <a:latin typeface="Aptos"/>
                          <a:ea typeface="Aptos"/>
                          <a:cs typeface="Aptos"/>
                        </a:rPr>
                        <a:t>E2E path, Locust benchmark, responsive UX, architecture/API/ERD/deployment docs, final deck</a:t>
                      </a:r>
                    </a:p>
                  </a:txBody>
                  <a:tcPr marL="91440" marR="91440" marT="45720" marB="45720"/>
                </a:tc>
                <a:tc>
                  <a:txBody>
                    <a:bodyPr/>
                    <a:lstStyle/>
                    <a:p>
                      <a:r>
                        <a:rPr sz="1275">
                          <a:solidFill>
                            <a:srgbClr val="08251E"/>
                          </a:solidFill>
                          <a:latin typeface="Aptos"/>
                          <a:ea typeface="Aptos"/>
                          <a:cs typeface="Aptos"/>
                        </a:rPr>
                        <a:t>CI jobs, measured benchmark and visual QA</a:t>
                      </a:r>
                    </a:p>
                  </a:txBody>
                  <a:tcPr marL="91440" marR="91440" marT="45720" marB="45720"/>
                </a:tc>
              </a:tr>
            </a:tbl>
          </a:graphicData>
        </a:graphic>
      </p:graphicFrame>
      <p:sp>
        <p:nvSpPr>
          <p:cNvPr id="6" name="">
            <a:extLst xmlns:a="http://schemas.openxmlformats.org/drawingml/2006/main">
              <a:ext uri="{FF2B5EF4-FFF2-40B4-BE49-F238E27FC236}">
                <a16:creationId xmlns:a16="http://schemas.microsoft.com/office/drawing/2014/main" id="{87880B70-098B-40F4-8A4D-02A3C341F35E}"/>
              </a:ext>
            </a:extLst>
          </p:cNvPr>
          <p:cNvSpPr>
            <a:spLocks xmlns:a="http://schemas.openxmlformats.org/drawingml/2006/main" noGrp="1"/>
          </p:cNvSpPr>
          <p:nvPr/>
        </p:nvSpPr>
        <p:spPr>
          <a:xfrm xmlns:a="http://schemas.openxmlformats.org/drawingml/2006/main">
            <a:off x="666750" y="586740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66736E"/>
                </a:solidFill>
                <a:latin typeface="Aptos"/>
                <a:ea typeface="Aptos"/>
                <a:cs typeface="Aptos"/>
              </a:defRPr>
            </a:pPr>
            <a:r>
              <a:rPr sz="1200" b="0">
                <a:solidFill>
                  <a:srgbClr val="66736E"/>
                </a:solidFill>
                <a:latin typeface="Aptos"/>
                <a:ea typeface="Aptos"/>
                <a:cs typeface="Aptos"/>
              </a:rPr>
              <a:t>Detailed file and test mappings: docs/REQUIREMENTS_TRACEABILITY.md</a:t>
            </a:r>
          </a:p>
        </p:txBody>
      </p:sp>
      <p:sp>
        <p:nvSpPr>
          <p:cNvPr id="7" name="">
            <a:extLst xmlns:a="http://schemas.openxmlformats.org/drawingml/2006/main">
              <a:ext uri="{FF2B5EF4-FFF2-40B4-BE49-F238E27FC236}">
                <a16:creationId xmlns:a16="http://schemas.microsoft.com/office/drawing/2014/main" id="{AE7C89BE-94AC-4BF8-88FA-0C514FFF7D7F}"/>
              </a:ext>
            </a:extLst>
          </p:cNvPr>
          <p:cNvSpPr>
            <a:spLocks xmlns:a="http://schemas.openxmlformats.org/drawingml/2006/main" noGrp="1"/>
          </p:cNvSpPr>
          <p:nvPr/>
        </p:nvSpPr>
        <p:spPr>
          <a:xfrm xmlns:a="http://schemas.openxmlformats.org/drawingml/2006/main">
            <a:off x="628650" y="647700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1A6C52"/>
                </a:solidFill>
                <a:latin typeface="Aptos"/>
                <a:ea typeface="Aptos"/>
                <a:cs typeface="Aptos"/>
              </a:defRPr>
            </a:pPr>
            <a:r>
              <a:rPr sz="975" b="1">
                <a:solidFill>
                  <a:srgbClr val="1A6C52"/>
                </a:solidFill>
                <a:latin typeface="Aptos"/>
                <a:ea typeface="Aptos"/>
                <a:cs typeface="Aptos"/>
              </a:rPr>
              <a:t>BillFlow AI</a:t>
            </a:r>
          </a:p>
        </p:txBody>
      </p:sp>
      <p:sp>
        <p:nvSpPr>
          <p:cNvPr id="8" name="">
            <a:extLst xmlns:a="http://schemas.openxmlformats.org/drawingml/2006/main">
              <a:ext uri="{FF2B5EF4-FFF2-40B4-BE49-F238E27FC236}">
                <a16:creationId xmlns:a16="http://schemas.microsoft.com/office/drawing/2014/main" id="{AB80341E-5D62-4642-B5DF-FAD5FB69619D}"/>
              </a:ext>
            </a:extLst>
          </p:cNvPr>
          <p:cNvSpPr>
            <a:spLocks xmlns:a="http://schemas.openxmlformats.org/drawingml/2006/main" noGrp="1"/>
          </p:cNvSpPr>
          <p:nvPr/>
        </p:nvSpPr>
        <p:spPr>
          <a:xfrm xmlns:a="http://schemas.openxmlformats.org/drawingml/2006/main">
            <a:off x="11049000" y="6477000"/>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66736E"/>
                </a:solidFill>
                <a:latin typeface="Aptos"/>
                <a:ea typeface="Aptos"/>
                <a:cs typeface="Aptos"/>
              </a:defRPr>
            </a:pPr>
            <a:r>
              <a:rPr sz="975" b="1">
                <a:solidFill>
                  <a:srgbClr val="66736E"/>
                </a:solidFill>
                <a:latin typeface="Aptos"/>
                <a:ea typeface="Aptos"/>
                <a:cs typeface="Aptos"/>
              </a:rPr>
              <a:t>10</a:t>
            </a:r>
          </a:p>
        </p:txBody>
      </p:sp>
    </p:spTree>
    <p:extLst>
      <p:ext uri="{BB962C8B-B14F-4D97-AF65-F5344CB8AC3E}">
        <p14:creationId xmlns:p14="http://schemas.microsoft.com/office/powerpoint/2010/main" val="699675124"/>
      </p:ext>
    </p:extLst>
  </p:cSld>
</p:sld>
</file>

<file path=ppt/slides/slide11.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27B815B-BC97-43FC-8BB6-66752D6F94CB}"/>
              </a:ext>
            </a:extLst>
          </p:cNvPr>
          <p:cNvSpPr>
            <a:spLocks xmlns:a="http://schemas.openxmlformats.org/drawingml/2006/main" noGrp="1"/>
          </p:cNvSpPr>
          <p:nvPr/>
        </p:nvSpPr>
        <p:spPr>
          <a:xfrm xmlns:a="http://schemas.openxmlformats.org/drawingml/2006/main">
            <a:off x="628650" y="28575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1A6C52"/>
                </a:solidFill>
                <a:latin typeface="Aptos"/>
                <a:ea typeface="Aptos"/>
                <a:cs typeface="Aptos"/>
              </a:defRPr>
            </a:pPr>
            <a:r>
              <a:rPr sz="1200" b="1">
                <a:solidFill>
                  <a:srgbClr val="1A6C52"/>
                </a:solidFill>
                <a:latin typeface="Aptos"/>
                <a:ea typeface="Aptos"/>
                <a:cs typeface="Aptos"/>
              </a:rPr>
              <a:t>11</a:t>
            </a:r>
          </a:p>
        </p:txBody>
      </p:sp>
      <p:sp>
        <p:nvSpPr>
          <p:cNvPr id="2" name="">
            <a:extLst xmlns:a="http://schemas.openxmlformats.org/drawingml/2006/main">
              <a:ext uri="{FF2B5EF4-FFF2-40B4-BE49-F238E27FC236}">
                <a16:creationId xmlns:a16="http://schemas.microsoft.com/office/drawing/2014/main" id="{57904EDE-3AD0-414D-9B3B-908DB99BC9F3}"/>
              </a:ext>
            </a:extLst>
          </p:cNvPr>
          <p:cNvSpPr>
            <a:spLocks xmlns:a="http://schemas.openxmlformats.org/drawingml/2006/main" noGrp="1"/>
          </p:cNvSpPr>
          <p:nvPr/>
        </p:nvSpPr>
        <p:spPr>
          <a:xfrm xmlns:a="http://schemas.openxmlformats.org/drawingml/2006/main">
            <a:off x="628650" y="60960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251E"/>
                </a:solidFill>
                <a:latin typeface="Aptos"/>
                <a:ea typeface="Aptos"/>
                <a:cs typeface="Aptos"/>
              </a:defRPr>
            </a:pPr>
            <a:r>
              <a:rPr sz="3225" b="1">
                <a:solidFill>
                  <a:srgbClr val="08251E"/>
                </a:solidFill>
                <a:latin typeface="Aptos"/>
                <a:ea typeface="Aptos"/>
                <a:cs typeface="Aptos"/>
              </a:rPr>
              <a:t>Engineering choices and production boundaries</a:t>
            </a:r>
          </a:p>
        </p:txBody>
      </p:sp>
      <p:sp>
        <p:nvSpPr>
          <p:cNvPr id="3" name="">
            <a:extLst xmlns:a="http://schemas.openxmlformats.org/drawingml/2006/main">
              <a:ext uri="{FF2B5EF4-FFF2-40B4-BE49-F238E27FC236}">
                <a16:creationId xmlns:a16="http://schemas.microsoft.com/office/drawing/2014/main" id="{D4E9158F-343D-4A43-9E37-6F2DFFA2C164}"/>
              </a:ext>
            </a:extLst>
          </p:cNvPr>
          <p:cNvSpPr>
            <a:spLocks xmlns:a="http://schemas.openxmlformats.org/drawingml/2006/main" noGrp="1"/>
          </p:cNvSpPr>
          <p:nvPr/>
        </p:nvSpPr>
        <p:spPr>
          <a:xfrm xmlns:a="http://schemas.openxmlformats.org/drawingml/2006/main">
            <a:off x="647700" y="114300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36E"/>
                </a:solidFill>
                <a:latin typeface="Aptos"/>
                <a:ea typeface="Aptos"/>
                <a:cs typeface="Aptos"/>
              </a:defRPr>
            </a:pPr>
            <a:r>
              <a:rPr sz="1425" b="0">
                <a:solidFill>
                  <a:srgbClr val="66736E"/>
                </a:solidFill>
                <a:latin typeface="Aptos"/>
                <a:ea typeface="Aptos"/>
                <a:cs typeface="Aptos"/>
              </a:rPr>
              <a:t>The implementation is complete for the specification while external authority stays explicit</a:t>
            </a:r>
          </a:p>
        </p:txBody>
      </p:sp>
      <p:sp>
        <p:nvSpPr>
          <p:cNvPr id="4" name="">
            <a:extLst xmlns:a="http://schemas.openxmlformats.org/drawingml/2006/main">
              <a:ext uri="{FF2B5EF4-FFF2-40B4-BE49-F238E27FC236}">
                <a16:creationId xmlns:a16="http://schemas.microsoft.com/office/drawing/2014/main" id="{A599D7C5-E28A-4CE8-9836-AEA04FB70F27}"/>
              </a:ext>
            </a:extLst>
          </p:cNvPr>
          <p:cNvSpPr>
            <a:spLocks xmlns:a="http://schemas.openxmlformats.org/drawingml/2006/main" noGrp="1"/>
          </p:cNvSpPr>
          <p:nvPr/>
        </p:nvSpPr>
        <p:spPr>
          <a:xfrm xmlns:a="http://schemas.openxmlformats.org/drawingml/2006/main">
            <a:off x="628650" y="1581150"/>
            <a:ext cx="10934700" cy="19050"/>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sp>
        <p:nvSpPr>
          <p:cNvPr id="5" name="">
            <a:extLst xmlns:a="http://schemas.openxmlformats.org/drawingml/2006/main">
              <a:ext uri="{FF2B5EF4-FFF2-40B4-BE49-F238E27FC236}">
                <a16:creationId xmlns:a16="http://schemas.microsoft.com/office/drawing/2014/main" id="{6AD109DA-1D72-4A2E-A77B-6990A16CAD58}"/>
              </a:ext>
            </a:extLst>
          </p:cNvPr>
          <p:cNvSpPr>
            <a:spLocks xmlns:a="http://schemas.openxmlformats.org/drawingml/2006/main" noGrp="1"/>
          </p:cNvSpPr>
          <p:nvPr/>
        </p:nvSpPr>
        <p:spPr>
          <a:xfrm xmlns:a="http://schemas.openxmlformats.org/drawingml/2006/main">
            <a:off x="762000" y="19526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1A6C52"/>
                </a:solidFill>
                <a:latin typeface="Aptos"/>
                <a:ea typeface="Aptos"/>
                <a:cs typeface="Aptos"/>
              </a:defRPr>
            </a:pPr>
            <a:r>
              <a:rPr sz="1200" b="1">
                <a:solidFill>
                  <a:srgbClr val="1A6C52"/>
                </a:solidFill>
                <a:latin typeface="Aptos"/>
                <a:ea typeface="Aptos"/>
                <a:cs typeface="Aptos"/>
              </a:rPr>
              <a:t>ENGINEERING DECISION</a:t>
            </a:r>
          </a:p>
        </p:txBody>
      </p:sp>
      <p:sp>
        <p:nvSpPr>
          <p:cNvPr id="6" name="">
            <a:extLst xmlns:a="http://schemas.openxmlformats.org/drawingml/2006/main">
              <a:ext uri="{FF2B5EF4-FFF2-40B4-BE49-F238E27FC236}">
                <a16:creationId xmlns:a16="http://schemas.microsoft.com/office/drawing/2014/main" id="{ABE5CA8C-7D4F-46F2-92CF-C3FC97C19DC5}"/>
              </a:ext>
            </a:extLst>
          </p:cNvPr>
          <p:cNvSpPr>
            <a:spLocks xmlns:a="http://schemas.openxmlformats.org/drawingml/2006/main" noGrp="1"/>
          </p:cNvSpPr>
          <p:nvPr/>
        </p:nvSpPr>
        <p:spPr>
          <a:xfrm xmlns:a="http://schemas.openxmlformats.org/drawingml/2006/main">
            <a:off x="6715125" y="19526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1A6C52"/>
                </a:solidFill>
                <a:latin typeface="Aptos"/>
                <a:ea typeface="Aptos"/>
                <a:cs typeface="Aptos"/>
              </a:defRPr>
            </a:pPr>
            <a:r>
              <a:rPr sz="1200" b="1">
                <a:solidFill>
                  <a:srgbClr val="1A6C52"/>
                </a:solidFill>
                <a:latin typeface="Aptos"/>
                <a:ea typeface="Aptos"/>
                <a:cs typeface="Aptos"/>
              </a:rPr>
              <a:t>PRODUCTION REQUIREMENT</a:t>
            </a:r>
          </a:p>
        </p:txBody>
      </p:sp>
      <p:sp>
        <p:nvSpPr>
          <p:cNvPr id="7" name="">
            <a:extLst xmlns:a="http://schemas.openxmlformats.org/drawingml/2006/main">
              <a:ext uri="{FF2B5EF4-FFF2-40B4-BE49-F238E27FC236}">
                <a16:creationId xmlns:a16="http://schemas.microsoft.com/office/drawing/2014/main" id="{3F574724-E6A7-4ECF-8DFB-0FF4B8ABC46A}"/>
              </a:ext>
            </a:extLst>
          </p:cNvPr>
          <p:cNvSpPr>
            <a:spLocks xmlns:a="http://schemas.openxmlformats.org/drawingml/2006/main" noGrp="1"/>
          </p:cNvSpPr>
          <p:nvPr/>
        </p:nvSpPr>
        <p:spPr>
          <a:xfrm xmlns:a="http://schemas.openxmlformats.org/drawingml/2006/main">
            <a:off x="762000" y="2419350"/>
            <a:ext cx="43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E3A13B"/>
                </a:solidFill>
                <a:latin typeface="Aptos"/>
                <a:ea typeface="Aptos"/>
                <a:cs typeface="Aptos"/>
              </a:defRPr>
            </a:pPr>
            <a:r>
              <a:rPr sz="1500" b="1">
                <a:solidFill>
                  <a:srgbClr val="E3A13B"/>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DE067FED-7273-4BE1-82A1-677C6C2AA4D5}"/>
              </a:ext>
            </a:extLst>
          </p:cNvPr>
          <p:cNvSpPr>
            <a:spLocks xmlns:a="http://schemas.openxmlformats.org/drawingml/2006/main" noGrp="1"/>
          </p:cNvSpPr>
          <p:nvPr/>
        </p:nvSpPr>
        <p:spPr>
          <a:xfrm xmlns:a="http://schemas.openxmlformats.org/drawingml/2006/main">
            <a:off x="1352550" y="2362200"/>
            <a:ext cx="4476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08251E"/>
                </a:solidFill>
                <a:latin typeface="Aptos"/>
                <a:ea typeface="Aptos"/>
                <a:cs typeface="Aptos"/>
              </a:defRPr>
            </a:pPr>
            <a:r>
              <a:rPr sz="1575" b="1">
                <a:solidFill>
                  <a:srgbClr val="08251E"/>
                </a:solidFill>
                <a:latin typeface="Aptos"/>
                <a:ea typeface="Aptos"/>
                <a:cs typeface="Aptos"/>
              </a:rPr>
              <a:t>Mock gateway uses the real signed event path</a:t>
            </a:r>
          </a:p>
        </p:txBody>
      </p:sp>
      <p:sp>
        <p:nvSpPr>
          <p:cNvPr id="9" name="">
            <a:extLst xmlns:a="http://schemas.openxmlformats.org/drawingml/2006/main">
              <a:ext uri="{FF2B5EF4-FFF2-40B4-BE49-F238E27FC236}">
                <a16:creationId xmlns:a16="http://schemas.microsoft.com/office/drawing/2014/main" id="{03E75B33-EC0F-491C-BC47-B2FA1A11D32B}"/>
              </a:ext>
            </a:extLst>
          </p:cNvPr>
          <p:cNvSpPr>
            <a:spLocks xmlns:a="http://schemas.openxmlformats.org/drawingml/2006/main" noGrp="1"/>
          </p:cNvSpPr>
          <p:nvPr/>
        </p:nvSpPr>
        <p:spPr>
          <a:xfrm xmlns:a="http://schemas.openxmlformats.org/drawingml/2006/main">
            <a:off x="6715125" y="2362200"/>
            <a:ext cx="4476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66736E"/>
                </a:solidFill>
                <a:latin typeface="Aptos"/>
                <a:ea typeface="Aptos"/>
                <a:cs typeface="Aptos"/>
              </a:defRPr>
            </a:pPr>
            <a:r>
              <a:rPr sz="1575" b="0">
                <a:solidFill>
                  <a:srgbClr val="66736E"/>
                </a:solidFill>
                <a:latin typeface="Aptos"/>
                <a:ea typeface="Aptos"/>
                <a:cs typeface="Aptos"/>
              </a:rPr>
              <a:t>Contract with a licensed payment or Bharat Connect partner</a:t>
            </a:r>
          </a:p>
        </p:txBody>
      </p:sp>
      <p:sp>
        <p:nvSpPr>
          <p:cNvPr id="10" name="">
            <a:extLst xmlns:a="http://schemas.openxmlformats.org/drawingml/2006/main">
              <a:ext uri="{FF2B5EF4-FFF2-40B4-BE49-F238E27FC236}">
                <a16:creationId xmlns:a16="http://schemas.microsoft.com/office/drawing/2014/main" id="{6DB46D9F-615E-4752-BFF1-8BD4017198F3}"/>
              </a:ext>
            </a:extLst>
          </p:cNvPr>
          <p:cNvSpPr>
            <a:spLocks xmlns:a="http://schemas.openxmlformats.org/drawingml/2006/main" noGrp="1"/>
          </p:cNvSpPr>
          <p:nvPr/>
        </p:nvSpPr>
        <p:spPr>
          <a:xfrm xmlns:a="http://schemas.openxmlformats.org/drawingml/2006/main">
            <a:off x="1352550" y="3114675"/>
            <a:ext cx="9810750" cy="9525"/>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sp>
        <p:nvSpPr>
          <p:cNvPr id="11" name="">
            <a:extLst xmlns:a="http://schemas.openxmlformats.org/drawingml/2006/main">
              <a:ext uri="{FF2B5EF4-FFF2-40B4-BE49-F238E27FC236}">
                <a16:creationId xmlns:a16="http://schemas.microsoft.com/office/drawing/2014/main" id="{5247D6A5-34AD-4A40-B486-E13B91129820}"/>
              </a:ext>
            </a:extLst>
          </p:cNvPr>
          <p:cNvSpPr>
            <a:spLocks xmlns:a="http://schemas.openxmlformats.org/drawingml/2006/main" noGrp="1"/>
          </p:cNvSpPr>
          <p:nvPr/>
        </p:nvSpPr>
        <p:spPr>
          <a:xfrm xmlns:a="http://schemas.openxmlformats.org/drawingml/2006/main">
            <a:off x="762000" y="3333750"/>
            <a:ext cx="43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A6C52"/>
                </a:solidFill>
                <a:latin typeface="Aptos"/>
                <a:ea typeface="Aptos"/>
                <a:cs typeface="Aptos"/>
              </a:defRPr>
            </a:pPr>
            <a:r>
              <a:rPr sz="1500" b="1">
                <a:solidFill>
                  <a:srgbClr val="1A6C52"/>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F5AAC640-0474-43AE-BD43-74608C434184}"/>
              </a:ext>
            </a:extLst>
          </p:cNvPr>
          <p:cNvSpPr>
            <a:spLocks xmlns:a="http://schemas.openxmlformats.org/drawingml/2006/main" noGrp="1"/>
          </p:cNvSpPr>
          <p:nvPr/>
        </p:nvSpPr>
        <p:spPr>
          <a:xfrm xmlns:a="http://schemas.openxmlformats.org/drawingml/2006/main">
            <a:off x="1352550" y="3276600"/>
            <a:ext cx="4476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08251E"/>
                </a:solidFill>
                <a:latin typeface="Aptos"/>
                <a:ea typeface="Aptos"/>
                <a:cs typeface="Aptos"/>
              </a:defRPr>
            </a:pPr>
            <a:r>
              <a:rPr sz="1575" b="1">
                <a:solidFill>
                  <a:srgbClr val="08251E"/>
                </a:solidFill>
                <a:latin typeface="Aptos"/>
                <a:ea typeface="Aptos"/>
                <a:cs typeface="Aptos"/>
              </a:rPr>
              <a:t>Tax engine supports effective country and region rates</a:t>
            </a:r>
          </a:p>
        </p:txBody>
      </p:sp>
      <p:sp>
        <p:nvSpPr>
          <p:cNvPr id="13" name="">
            <a:extLst xmlns:a="http://schemas.openxmlformats.org/drawingml/2006/main">
              <a:ext uri="{FF2B5EF4-FFF2-40B4-BE49-F238E27FC236}">
                <a16:creationId xmlns:a16="http://schemas.microsoft.com/office/drawing/2014/main" id="{A031A76C-3B42-428E-8F72-FCFE5437CFCC}"/>
              </a:ext>
            </a:extLst>
          </p:cNvPr>
          <p:cNvSpPr>
            <a:spLocks xmlns:a="http://schemas.openxmlformats.org/drawingml/2006/main" noGrp="1"/>
          </p:cNvSpPr>
          <p:nvPr/>
        </p:nvSpPr>
        <p:spPr>
          <a:xfrm xmlns:a="http://schemas.openxmlformats.org/drawingml/2006/main">
            <a:off x="6715125" y="3276600"/>
            <a:ext cx="4476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66736E"/>
                </a:solidFill>
                <a:latin typeface="Aptos"/>
                <a:ea typeface="Aptos"/>
                <a:cs typeface="Aptos"/>
              </a:defRPr>
            </a:pPr>
            <a:r>
              <a:rPr sz="1575" b="0">
                <a:solidFill>
                  <a:srgbClr val="66736E"/>
                </a:solidFill>
                <a:latin typeface="Aptos"/>
                <a:ea typeface="Aptos"/>
                <a:cs typeface="Aptos"/>
              </a:rPr>
              <a:t>Add jurisdiction rules, exemptions and statutory filing</a:t>
            </a:r>
          </a:p>
        </p:txBody>
      </p:sp>
      <p:sp>
        <p:nvSpPr>
          <p:cNvPr id="14" name="">
            <a:extLst xmlns:a="http://schemas.openxmlformats.org/drawingml/2006/main">
              <a:ext uri="{FF2B5EF4-FFF2-40B4-BE49-F238E27FC236}">
                <a16:creationId xmlns:a16="http://schemas.microsoft.com/office/drawing/2014/main" id="{858C9AD9-C68D-4D81-AA16-C97D6B016430}"/>
              </a:ext>
            </a:extLst>
          </p:cNvPr>
          <p:cNvSpPr>
            <a:spLocks xmlns:a="http://schemas.openxmlformats.org/drawingml/2006/main" noGrp="1"/>
          </p:cNvSpPr>
          <p:nvPr/>
        </p:nvSpPr>
        <p:spPr>
          <a:xfrm xmlns:a="http://schemas.openxmlformats.org/drawingml/2006/main">
            <a:off x="1352550" y="4029075"/>
            <a:ext cx="9810750" cy="9525"/>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sp>
        <p:nvSpPr>
          <p:cNvPr id="15" name="">
            <a:extLst xmlns:a="http://schemas.openxmlformats.org/drawingml/2006/main">
              <a:ext uri="{FF2B5EF4-FFF2-40B4-BE49-F238E27FC236}">
                <a16:creationId xmlns:a16="http://schemas.microsoft.com/office/drawing/2014/main" id="{58766CBA-64EB-4C24-8B59-E479437D1B08}"/>
              </a:ext>
            </a:extLst>
          </p:cNvPr>
          <p:cNvSpPr>
            <a:spLocks xmlns:a="http://schemas.openxmlformats.org/drawingml/2006/main" noGrp="1"/>
          </p:cNvSpPr>
          <p:nvPr/>
        </p:nvSpPr>
        <p:spPr>
          <a:xfrm xmlns:a="http://schemas.openxmlformats.org/drawingml/2006/main">
            <a:off x="762000" y="4248150"/>
            <a:ext cx="43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A6C52"/>
                </a:solidFill>
                <a:latin typeface="Aptos"/>
                <a:ea typeface="Aptos"/>
                <a:cs typeface="Aptos"/>
              </a:defRPr>
            </a:pPr>
            <a:r>
              <a:rPr sz="1500" b="1">
                <a:solidFill>
                  <a:srgbClr val="1A6C52"/>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D921A148-8676-429D-8975-B8BFD0B793E9}"/>
              </a:ext>
            </a:extLst>
          </p:cNvPr>
          <p:cNvSpPr>
            <a:spLocks xmlns:a="http://schemas.openxmlformats.org/drawingml/2006/main" noGrp="1"/>
          </p:cNvSpPr>
          <p:nvPr/>
        </p:nvSpPr>
        <p:spPr>
          <a:xfrm xmlns:a="http://schemas.openxmlformats.org/drawingml/2006/main">
            <a:off x="1352550" y="4191000"/>
            <a:ext cx="4476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08251E"/>
                </a:solidFill>
                <a:latin typeface="Aptos"/>
                <a:ea typeface="Aptos"/>
                <a:cs typeface="Aptos"/>
              </a:defRPr>
            </a:pPr>
            <a:r>
              <a:rPr sz="1575" b="1">
                <a:solidFill>
                  <a:srgbClr val="08251E"/>
                </a:solidFill>
                <a:latin typeface="Aptos"/>
                <a:ea typeface="Aptos"/>
                <a:cs typeface="Aptos"/>
              </a:rPr>
              <a:t>Durable notification outbox isolates billing commits</a:t>
            </a:r>
          </a:p>
        </p:txBody>
      </p:sp>
      <p:sp>
        <p:nvSpPr>
          <p:cNvPr id="17" name="">
            <a:extLst xmlns:a="http://schemas.openxmlformats.org/drawingml/2006/main">
              <a:ext uri="{FF2B5EF4-FFF2-40B4-BE49-F238E27FC236}">
                <a16:creationId xmlns:a16="http://schemas.microsoft.com/office/drawing/2014/main" id="{5076F5EC-F687-413C-B459-4A4B77101FFB}"/>
              </a:ext>
            </a:extLst>
          </p:cNvPr>
          <p:cNvSpPr>
            <a:spLocks xmlns:a="http://schemas.openxmlformats.org/drawingml/2006/main" noGrp="1"/>
          </p:cNvSpPr>
          <p:nvPr/>
        </p:nvSpPr>
        <p:spPr>
          <a:xfrm xmlns:a="http://schemas.openxmlformats.org/drawingml/2006/main">
            <a:off x="6715125" y="4191000"/>
            <a:ext cx="4476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66736E"/>
                </a:solidFill>
                <a:latin typeface="Aptos"/>
                <a:ea typeface="Aptos"/>
                <a:cs typeface="Aptos"/>
              </a:defRPr>
            </a:pPr>
            <a:r>
              <a:rPr sz="1575" b="0">
                <a:solidFill>
                  <a:srgbClr val="66736E"/>
                </a:solidFill>
                <a:latin typeface="Aptos"/>
                <a:ea typeface="Aptos"/>
                <a:cs typeface="Aptos"/>
              </a:rPr>
              <a:t>Connect email, SMS or push delivery with callbacks</a:t>
            </a:r>
          </a:p>
        </p:txBody>
      </p:sp>
      <p:sp>
        <p:nvSpPr>
          <p:cNvPr id="18" name="">
            <a:extLst xmlns:a="http://schemas.openxmlformats.org/drawingml/2006/main">
              <a:ext uri="{FF2B5EF4-FFF2-40B4-BE49-F238E27FC236}">
                <a16:creationId xmlns:a16="http://schemas.microsoft.com/office/drawing/2014/main" id="{18030A86-6621-4703-A771-DB6B83A92A46}"/>
              </a:ext>
            </a:extLst>
          </p:cNvPr>
          <p:cNvSpPr>
            <a:spLocks xmlns:a="http://schemas.openxmlformats.org/drawingml/2006/main" noGrp="1"/>
          </p:cNvSpPr>
          <p:nvPr/>
        </p:nvSpPr>
        <p:spPr>
          <a:xfrm xmlns:a="http://schemas.openxmlformats.org/drawingml/2006/main">
            <a:off x="1352550" y="4943475"/>
            <a:ext cx="9810750" cy="9525"/>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sp>
        <p:nvSpPr>
          <p:cNvPr id="19" name="">
            <a:extLst xmlns:a="http://schemas.openxmlformats.org/drawingml/2006/main">
              <a:ext uri="{FF2B5EF4-FFF2-40B4-BE49-F238E27FC236}">
                <a16:creationId xmlns:a16="http://schemas.microsoft.com/office/drawing/2014/main" id="{40A8443F-00D2-4DD7-B1C8-70B05C0A8064}"/>
              </a:ext>
            </a:extLst>
          </p:cNvPr>
          <p:cNvSpPr>
            <a:spLocks xmlns:a="http://schemas.openxmlformats.org/drawingml/2006/main" noGrp="1"/>
          </p:cNvSpPr>
          <p:nvPr/>
        </p:nvSpPr>
        <p:spPr>
          <a:xfrm xmlns:a="http://schemas.openxmlformats.org/drawingml/2006/main">
            <a:off x="762000" y="5162550"/>
            <a:ext cx="43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A6C52"/>
                </a:solidFill>
                <a:latin typeface="Aptos"/>
                <a:ea typeface="Aptos"/>
                <a:cs typeface="Aptos"/>
              </a:defRPr>
            </a:pPr>
            <a:r>
              <a:rPr sz="1500" b="1">
                <a:solidFill>
                  <a:srgbClr val="1A6C52"/>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7F8E02CC-2311-4545-81CC-1E1B50E1A04B}"/>
              </a:ext>
            </a:extLst>
          </p:cNvPr>
          <p:cNvSpPr>
            <a:spLocks xmlns:a="http://schemas.openxmlformats.org/drawingml/2006/main" noGrp="1"/>
          </p:cNvSpPr>
          <p:nvPr/>
        </p:nvSpPr>
        <p:spPr>
          <a:xfrm xmlns:a="http://schemas.openxmlformats.org/drawingml/2006/main">
            <a:off x="1352550" y="5105400"/>
            <a:ext cx="4476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08251E"/>
                </a:solidFill>
                <a:latin typeface="Aptos"/>
                <a:ea typeface="Aptos"/>
                <a:cs typeface="Aptos"/>
              </a:defRPr>
            </a:pPr>
            <a:r>
              <a:rPr sz="1575" b="1">
                <a:solidFill>
                  <a:srgbClr val="08251E"/>
                </a:solidFill>
                <a:latin typeface="Aptos"/>
                <a:ea typeface="Aptos"/>
                <a:cs typeface="Aptos"/>
              </a:rPr>
              <a:t>PostgreSQL constraints and idempotency protect state</a:t>
            </a:r>
          </a:p>
        </p:txBody>
      </p:sp>
      <p:sp>
        <p:nvSpPr>
          <p:cNvPr id="21" name="">
            <a:extLst xmlns:a="http://schemas.openxmlformats.org/drawingml/2006/main">
              <a:ext uri="{FF2B5EF4-FFF2-40B4-BE49-F238E27FC236}">
                <a16:creationId xmlns:a16="http://schemas.microsoft.com/office/drawing/2014/main" id="{69A11DAD-B34A-425D-8BE4-04F41A2AABF5}"/>
              </a:ext>
            </a:extLst>
          </p:cNvPr>
          <p:cNvSpPr>
            <a:spLocks xmlns:a="http://schemas.openxmlformats.org/drawingml/2006/main" noGrp="1"/>
          </p:cNvSpPr>
          <p:nvPr/>
        </p:nvSpPr>
        <p:spPr>
          <a:xfrm xmlns:a="http://schemas.openxmlformats.org/drawingml/2006/main">
            <a:off x="6715125" y="5105400"/>
            <a:ext cx="4476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66736E"/>
                </a:solidFill>
                <a:latin typeface="Aptos"/>
                <a:ea typeface="Aptos"/>
                <a:cs typeface="Aptos"/>
              </a:defRPr>
            </a:pPr>
            <a:r>
              <a:rPr sz="1575" b="0">
                <a:solidFill>
                  <a:srgbClr val="66736E"/>
                </a:solidFill>
                <a:latin typeface="Aptos"/>
                <a:ea typeface="Aptos"/>
                <a:cs typeface="Aptos"/>
              </a:rPr>
              <a:t>Add KMS, rate limits, monitoring and disaster recovery</a:t>
            </a:r>
          </a:p>
        </p:txBody>
      </p:sp>
      <p:sp>
        <p:nvSpPr>
          <p:cNvPr id="22" name="">
            <a:extLst xmlns:a="http://schemas.openxmlformats.org/drawingml/2006/main">
              <a:ext uri="{FF2B5EF4-FFF2-40B4-BE49-F238E27FC236}">
                <a16:creationId xmlns:a16="http://schemas.microsoft.com/office/drawing/2014/main" id="{B5AE9A17-E0F2-4638-A097-F5E07CAA1367}"/>
              </a:ext>
            </a:extLst>
          </p:cNvPr>
          <p:cNvSpPr>
            <a:spLocks xmlns:a="http://schemas.openxmlformats.org/drawingml/2006/main" noGrp="1"/>
          </p:cNvSpPr>
          <p:nvPr/>
        </p:nvSpPr>
        <p:spPr>
          <a:xfrm xmlns:a="http://schemas.openxmlformats.org/drawingml/2006/main">
            <a:off x="1352550" y="5857875"/>
            <a:ext cx="9810750" cy="9525"/>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sp>
        <p:nvSpPr>
          <p:cNvPr id="23" name="">
            <a:extLst xmlns:a="http://schemas.openxmlformats.org/drawingml/2006/main">
              <a:ext uri="{FF2B5EF4-FFF2-40B4-BE49-F238E27FC236}">
                <a16:creationId xmlns:a16="http://schemas.microsoft.com/office/drawing/2014/main" id="{8B120708-C800-495E-A56E-AE4A4E05186F}"/>
              </a:ext>
            </a:extLst>
          </p:cNvPr>
          <p:cNvSpPr>
            <a:spLocks xmlns:a="http://schemas.openxmlformats.org/drawingml/2006/main" noGrp="1"/>
          </p:cNvSpPr>
          <p:nvPr/>
        </p:nvSpPr>
        <p:spPr>
          <a:xfrm xmlns:a="http://schemas.openxmlformats.org/drawingml/2006/main">
            <a:off x="1809750" y="601980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0D2E25"/>
                </a:solidFill>
                <a:latin typeface="Aptos"/>
                <a:ea typeface="Aptos"/>
                <a:cs typeface="Aptos"/>
              </a:defRPr>
            </a:pPr>
            <a:r>
              <a:rPr sz="1650" b="1">
                <a:solidFill>
                  <a:srgbClr val="0D2E25"/>
                </a:solidFill>
                <a:latin typeface="Aptos"/>
                <a:ea typeface="Aptos"/>
                <a:cs typeface="Aptos"/>
              </a:rPr>
              <a:t>No bank password, UPI PIN, OTP, card data or biometric secret enters BillFlow.</a:t>
            </a:r>
          </a:p>
        </p:txBody>
      </p:sp>
      <p:sp>
        <p:nvSpPr>
          <p:cNvPr id="24" name="">
            <a:extLst xmlns:a="http://schemas.openxmlformats.org/drawingml/2006/main">
              <a:ext uri="{FF2B5EF4-FFF2-40B4-BE49-F238E27FC236}">
                <a16:creationId xmlns:a16="http://schemas.microsoft.com/office/drawing/2014/main" id="{C5A017D0-1469-4857-B96C-A0A40BBEBFF9}"/>
              </a:ext>
            </a:extLst>
          </p:cNvPr>
          <p:cNvSpPr>
            <a:spLocks xmlns:a="http://schemas.openxmlformats.org/drawingml/2006/main" noGrp="1"/>
          </p:cNvSpPr>
          <p:nvPr/>
        </p:nvSpPr>
        <p:spPr>
          <a:xfrm xmlns:a="http://schemas.openxmlformats.org/drawingml/2006/main">
            <a:off x="628650" y="647700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1A6C52"/>
                </a:solidFill>
                <a:latin typeface="Aptos"/>
                <a:ea typeface="Aptos"/>
                <a:cs typeface="Aptos"/>
              </a:defRPr>
            </a:pPr>
            <a:r>
              <a:rPr sz="975" b="1">
                <a:solidFill>
                  <a:srgbClr val="1A6C52"/>
                </a:solidFill>
                <a:latin typeface="Aptos"/>
                <a:ea typeface="Aptos"/>
                <a:cs typeface="Aptos"/>
              </a:rPr>
              <a:t>BillFlow AI</a:t>
            </a:r>
          </a:p>
        </p:txBody>
      </p:sp>
      <p:sp>
        <p:nvSpPr>
          <p:cNvPr id="25" name="">
            <a:extLst xmlns:a="http://schemas.openxmlformats.org/drawingml/2006/main">
              <a:ext uri="{FF2B5EF4-FFF2-40B4-BE49-F238E27FC236}">
                <a16:creationId xmlns:a16="http://schemas.microsoft.com/office/drawing/2014/main" id="{BA7BBD29-17C1-4B10-9A74-913763DB084F}"/>
              </a:ext>
            </a:extLst>
          </p:cNvPr>
          <p:cNvSpPr>
            <a:spLocks xmlns:a="http://schemas.openxmlformats.org/drawingml/2006/main" noGrp="1"/>
          </p:cNvSpPr>
          <p:nvPr/>
        </p:nvSpPr>
        <p:spPr>
          <a:xfrm xmlns:a="http://schemas.openxmlformats.org/drawingml/2006/main">
            <a:off x="11049000" y="6477000"/>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66736E"/>
                </a:solidFill>
                <a:latin typeface="Aptos"/>
                <a:ea typeface="Aptos"/>
                <a:cs typeface="Aptos"/>
              </a:defRPr>
            </a:pPr>
            <a:r>
              <a:rPr sz="975" b="1">
                <a:solidFill>
                  <a:srgbClr val="66736E"/>
                </a:solidFill>
                <a:latin typeface="Aptos"/>
                <a:ea typeface="Aptos"/>
                <a:cs typeface="Aptos"/>
              </a:rPr>
              <a:t>11</a:t>
            </a:r>
          </a:p>
        </p:txBody>
      </p:sp>
    </p:spTree>
    <p:extLst>
      <p:ext uri="{BB962C8B-B14F-4D97-AF65-F5344CB8AC3E}">
        <p14:creationId xmlns:p14="http://schemas.microsoft.com/office/powerpoint/2010/main" val="341861608"/>
      </p:ext>
    </p:extLst>
  </p:cSld>
</p:sld>
</file>

<file path=ppt/slides/slide12.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B5D455D5-ECF8-41F2-A890-D4928BED5876}"/>
              </a:ext>
            </a:extLst>
          </p:cNvPr>
          <p:cNvSpPr>
            <a:spLocks xmlns:a="http://schemas.openxmlformats.org/drawingml/2006/main" noGrp="1"/>
          </p:cNvSpPr>
          <p:nvPr/>
        </p:nvSpPr>
        <p:spPr>
          <a:xfrm xmlns:a="http://schemas.openxmlformats.org/drawingml/2006/main">
            <a:off x="628650" y="28575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1A6C52"/>
                </a:solidFill>
                <a:latin typeface="Aptos"/>
                <a:ea typeface="Aptos"/>
                <a:cs typeface="Aptos"/>
              </a:defRPr>
            </a:pPr>
            <a:r>
              <a:rPr sz="1200" b="1">
                <a:solidFill>
                  <a:srgbClr val="1A6C52"/>
                </a:solidFill>
                <a:latin typeface="Aptos"/>
                <a:ea typeface="Aptos"/>
                <a:cs typeface="Aptos"/>
              </a:rPr>
              <a:t>12</a:t>
            </a:r>
          </a:p>
        </p:txBody>
      </p:sp>
      <p:sp>
        <p:nvSpPr>
          <p:cNvPr id="2" name="">
            <a:extLst xmlns:a="http://schemas.openxmlformats.org/drawingml/2006/main">
              <a:ext uri="{FF2B5EF4-FFF2-40B4-BE49-F238E27FC236}">
                <a16:creationId xmlns:a16="http://schemas.microsoft.com/office/drawing/2014/main" id="{F1704101-8E6C-43FD-A269-AF88E527CC1F}"/>
              </a:ext>
            </a:extLst>
          </p:cNvPr>
          <p:cNvSpPr>
            <a:spLocks xmlns:a="http://schemas.openxmlformats.org/drawingml/2006/main" noGrp="1"/>
          </p:cNvSpPr>
          <p:nvPr/>
        </p:nvSpPr>
        <p:spPr>
          <a:xfrm xmlns:a="http://schemas.openxmlformats.org/drawingml/2006/main">
            <a:off x="628650" y="60960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251E"/>
                </a:solidFill>
                <a:latin typeface="Aptos"/>
                <a:ea typeface="Aptos"/>
                <a:cs typeface="Aptos"/>
              </a:defRPr>
            </a:pPr>
            <a:r>
              <a:rPr sz="3225" b="1">
                <a:solidFill>
                  <a:srgbClr val="08251E"/>
                </a:solidFill>
                <a:latin typeface="Aptos"/>
                <a:ea typeface="Aptos"/>
                <a:cs typeface="Aptos"/>
              </a:rPr>
              <a:t>Demo path and production milestones</a:t>
            </a:r>
          </a:p>
        </p:txBody>
      </p:sp>
      <p:sp>
        <p:nvSpPr>
          <p:cNvPr id="3" name="">
            <a:extLst xmlns:a="http://schemas.openxmlformats.org/drawingml/2006/main">
              <a:ext uri="{FF2B5EF4-FFF2-40B4-BE49-F238E27FC236}">
                <a16:creationId xmlns:a16="http://schemas.microsoft.com/office/drawing/2014/main" id="{8645DA56-7E52-4700-843D-20146A747C5C}"/>
              </a:ext>
            </a:extLst>
          </p:cNvPr>
          <p:cNvSpPr>
            <a:spLocks xmlns:a="http://schemas.openxmlformats.org/drawingml/2006/main" noGrp="1"/>
          </p:cNvSpPr>
          <p:nvPr/>
        </p:nvSpPr>
        <p:spPr>
          <a:xfrm xmlns:a="http://schemas.openxmlformats.org/drawingml/2006/main">
            <a:off x="647700" y="114300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36E"/>
                </a:solidFill>
                <a:latin typeface="Aptos"/>
                <a:ea typeface="Aptos"/>
                <a:cs typeface="Aptos"/>
              </a:defRPr>
            </a:pPr>
            <a:r>
              <a:rPr sz="1425" b="0">
                <a:solidFill>
                  <a:srgbClr val="66736E"/>
                </a:solidFill>
                <a:latin typeface="Aptos"/>
                <a:ea typeface="Aptos"/>
                <a:cs typeface="Aptos"/>
              </a:rPr>
              <a:t>The current build supports a complete end-to-end walkthrough</a:t>
            </a:r>
          </a:p>
        </p:txBody>
      </p:sp>
      <p:sp>
        <p:nvSpPr>
          <p:cNvPr id="4" name="">
            <a:extLst xmlns:a="http://schemas.openxmlformats.org/drawingml/2006/main">
              <a:ext uri="{FF2B5EF4-FFF2-40B4-BE49-F238E27FC236}">
                <a16:creationId xmlns:a16="http://schemas.microsoft.com/office/drawing/2014/main" id="{C87EF607-0B6D-46A5-9F67-8312B9D69531}"/>
              </a:ext>
            </a:extLst>
          </p:cNvPr>
          <p:cNvSpPr>
            <a:spLocks xmlns:a="http://schemas.openxmlformats.org/drawingml/2006/main" noGrp="1"/>
          </p:cNvSpPr>
          <p:nvPr/>
        </p:nvSpPr>
        <p:spPr>
          <a:xfrm xmlns:a="http://schemas.openxmlformats.org/drawingml/2006/main">
            <a:off x="628650" y="1581150"/>
            <a:ext cx="10934700" cy="19050"/>
          </a:xfrm>
          <a:prstGeom xmlns:a="http://schemas.openxmlformats.org/drawingml/2006/main" prst="rect">
            <a:avLst/>
          </a:prstGeom>
          <a:solidFill xmlns:a="http://schemas.openxmlformats.org/drawingml/2006/main">
            <a:srgbClr val="D7E1DA"/>
          </a:solidFill>
          <a:ln xmlns:a="http://schemas.openxmlformats.org/drawingml/2006/main" w="0">
            <a:solidFill>
              <a:srgbClr val="D7E1DA"/>
            </a:solidFill>
          </a:ln>
        </p:spPr>
      </p:sp>
      <p:sp>
        <p:nvSpPr>
          <p:cNvPr id="5" name="">
            <a:extLst xmlns:a="http://schemas.openxmlformats.org/drawingml/2006/main">
              <a:ext uri="{FF2B5EF4-FFF2-40B4-BE49-F238E27FC236}">
                <a16:creationId xmlns:a16="http://schemas.microsoft.com/office/drawing/2014/main" id="{A3DBC744-D03E-44A8-9C2F-3376FED50479}"/>
              </a:ext>
            </a:extLst>
          </p:cNvPr>
          <p:cNvSpPr>
            <a:spLocks xmlns:a="http://schemas.openxmlformats.org/drawingml/2006/main" noGrp="1"/>
          </p:cNvSpPr>
          <p:nvPr/>
        </p:nvSpPr>
        <p:spPr>
          <a:xfrm xmlns:a="http://schemas.openxmlformats.org/drawingml/2006/main">
            <a:off x="723900" y="19240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1A6C52"/>
                </a:solidFill>
                <a:latin typeface="Aptos"/>
                <a:ea typeface="Aptos"/>
                <a:cs typeface="Aptos"/>
              </a:defRPr>
            </a:pPr>
            <a:r>
              <a:rPr sz="1200" b="1">
                <a:solidFill>
                  <a:srgbClr val="1A6C52"/>
                </a:solidFill>
                <a:latin typeface="Aptos"/>
                <a:ea typeface="Aptos"/>
                <a:cs typeface="Aptos"/>
              </a:rPr>
              <a:t>LIVE DEMO</a:t>
            </a:r>
          </a:p>
        </p:txBody>
      </p:sp>
      <p:sp>
        <p:nvSpPr>
          <p:cNvPr id="6" name="">
            <a:extLst xmlns:a="http://schemas.openxmlformats.org/drawingml/2006/main">
              <a:ext uri="{FF2B5EF4-FFF2-40B4-BE49-F238E27FC236}">
                <a16:creationId xmlns:a16="http://schemas.microsoft.com/office/drawing/2014/main" id="{AB4A4775-7928-424E-8FDF-055FFAF1172D}"/>
              </a:ext>
            </a:extLst>
          </p:cNvPr>
          <p:cNvSpPr>
            <a:spLocks xmlns:a="http://schemas.openxmlformats.org/drawingml/2006/main" noGrp="1"/>
          </p:cNvSpPr>
          <p:nvPr/>
        </p:nvSpPr>
        <p:spPr>
          <a:xfrm xmlns:a="http://schemas.openxmlformats.org/drawingml/2006/main">
            <a:off x="742950" y="2343150"/>
            <a:ext cx="323850" cy="323850"/>
          </a:xfrm>
          <a:prstGeom xmlns:a="http://schemas.openxmlformats.org/drawingml/2006/main" prst="roundRect">
            <a:avLst>
              <a:gd name="adj" fmla="val 50000"/>
            </a:avLst>
          </a:prstGeom>
          <a:solidFill xmlns:a="http://schemas.openxmlformats.org/drawingml/2006/main">
            <a:srgbClr val="D6F57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D2E25"/>
                </a:solidFill>
                <a:latin typeface="Aptos"/>
                <a:ea typeface="Aptos"/>
                <a:cs typeface="Aptos"/>
              </a:defRPr>
            </a:pPr>
            <a:r>
              <a:rPr sz="1350" b="1">
                <a:solidFill>
                  <a:srgbClr val="0D2E25"/>
                </a:solidFill>
                <a:latin typeface="Aptos"/>
                <a:ea typeface="Aptos"/>
                <a:cs typeface="Aptos"/>
              </a:rPr>
              <a:t>1</a:t>
            </a:r>
          </a:p>
        </p:txBody>
      </p:sp>
      <p:sp>
        <p:nvSpPr>
          <p:cNvPr id="7" name="">
            <a:extLst xmlns:a="http://schemas.openxmlformats.org/drawingml/2006/main">
              <a:ext uri="{FF2B5EF4-FFF2-40B4-BE49-F238E27FC236}">
                <a16:creationId xmlns:a16="http://schemas.microsoft.com/office/drawing/2014/main" id="{3FE15E60-5D2A-4D9B-A184-288D0EC3B64F}"/>
              </a:ext>
            </a:extLst>
          </p:cNvPr>
          <p:cNvSpPr>
            <a:spLocks xmlns:a="http://schemas.openxmlformats.org/drawingml/2006/main" noGrp="1"/>
          </p:cNvSpPr>
          <p:nvPr/>
        </p:nvSpPr>
        <p:spPr>
          <a:xfrm xmlns:a="http://schemas.openxmlformats.org/drawingml/2006/main">
            <a:off x="1200150" y="231457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08251E"/>
                </a:solidFill>
                <a:latin typeface="Aptos"/>
                <a:ea typeface="Aptos"/>
                <a:cs typeface="Aptos"/>
              </a:defRPr>
            </a:pPr>
            <a:r>
              <a:rPr sz="1575" b="0">
                <a:solidFill>
                  <a:srgbClr val="08251E"/>
                </a:solidFill>
                <a:latin typeface="Aptos"/>
                <a:ea typeface="Aptos"/>
                <a:cs typeface="Aptos"/>
              </a:rPr>
              <a:t>Load deterministic workspace</a:t>
            </a:r>
          </a:p>
        </p:txBody>
      </p:sp>
      <p:sp>
        <p:nvSpPr>
          <p:cNvPr id="8" name="">
            <a:extLst xmlns:a="http://schemas.openxmlformats.org/drawingml/2006/main">
              <a:ext uri="{FF2B5EF4-FFF2-40B4-BE49-F238E27FC236}">
                <a16:creationId xmlns:a16="http://schemas.microsoft.com/office/drawing/2014/main" id="{9E6AB256-7919-41C1-B38D-30DED4F6D422}"/>
              </a:ext>
            </a:extLst>
          </p:cNvPr>
          <p:cNvSpPr>
            <a:spLocks xmlns:a="http://schemas.openxmlformats.org/drawingml/2006/main" noGrp="1"/>
          </p:cNvSpPr>
          <p:nvPr/>
        </p:nvSpPr>
        <p:spPr>
          <a:xfrm xmlns:a="http://schemas.openxmlformats.org/drawingml/2006/main">
            <a:off x="742950" y="2857500"/>
            <a:ext cx="323850" cy="323850"/>
          </a:xfrm>
          <a:prstGeom xmlns:a="http://schemas.openxmlformats.org/drawingml/2006/main" prst="roundRect">
            <a:avLst>
              <a:gd name="adj" fmla="val 50000"/>
            </a:avLst>
          </a:prstGeom>
          <a:solidFill xmlns:a="http://schemas.openxmlformats.org/drawingml/2006/main">
            <a:srgbClr val="D6F57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D2E25"/>
                </a:solidFill>
                <a:latin typeface="Aptos"/>
                <a:ea typeface="Aptos"/>
                <a:cs typeface="Aptos"/>
              </a:defRPr>
            </a:pPr>
            <a:r>
              <a:rPr sz="1350" b="1">
                <a:solidFill>
                  <a:srgbClr val="0D2E25"/>
                </a:solidFill>
                <a:latin typeface="Aptos"/>
                <a:ea typeface="Aptos"/>
                <a:cs typeface="Aptos"/>
              </a:rPr>
              <a:t>2</a:t>
            </a:r>
          </a:p>
        </p:txBody>
      </p:sp>
      <p:sp>
        <p:nvSpPr>
          <p:cNvPr id="9" name="">
            <a:extLst xmlns:a="http://schemas.openxmlformats.org/drawingml/2006/main">
              <a:ext uri="{FF2B5EF4-FFF2-40B4-BE49-F238E27FC236}">
                <a16:creationId xmlns:a16="http://schemas.microsoft.com/office/drawing/2014/main" id="{2FDB1F9A-58E5-402D-9072-EA686311FC85}"/>
              </a:ext>
            </a:extLst>
          </p:cNvPr>
          <p:cNvSpPr>
            <a:spLocks xmlns:a="http://schemas.openxmlformats.org/drawingml/2006/main" noGrp="1"/>
          </p:cNvSpPr>
          <p:nvPr/>
        </p:nvSpPr>
        <p:spPr>
          <a:xfrm xmlns:a="http://schemas.openxmlformats.org/drawingml/2006/main">
            <a:off x="1200150" y="282892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08251E"/>
                </a:solidFill>
                <a:latin typeface="Aptos"/>
                <a:ea typeface="Aptos"/>
                <a:cs typeface="Aptos"/>
              </a:defRPr>
            </a:pPr>
            <a:r>
              <a:rPr sz="1575" b="0">
                <a:solidFill>
                  <a:srgbClr val="08251E"/>
                </a:solidFill>
                <a:latin typeface="Aptos"/>
                <a:ea typeface="Aptos"/>
                <a:cs typeface="Aptos"/>
              </a:rPr>
              <a:t>Inspect MRR and revenue charts</a:t>
            </a:r>
          </a:p>
        </p:txBody>
      </p:sp>
      <p:sp>
        <p:nvSpPr>
          <p:cNvPr id="10" name="">
            <a:extLst xmlns:a="http://schemas.openxmlformats.org/drawingml/2006/main">
              <a:ext uri="{FF2B5EF4-FFF2-40B4-BE49-F238E27FC236}">
                <a16:creationId xmlns:a16="http://schemas.microsoft.com/office/drawing/2014/main" id="{C386878E-7A19-436F-AD32-B813945571BC}"/>
              </a:ext>
            </a:extLst>
          </p:cNvPr>
          <p:cNvSpPr>
            <a:spLocks xmlns:a="http://schemas.openxmlformats.org/drawingml/2006/main" noGrp="1"/>
          </p:cNvSpPr>
          <p:nvPr/>
        </p:nvSpPr>
        <p:spPr>
          <a:xfrm xmlns:a="http://schemas.openxmlformats.org/drawingml/2006/main">
            <a:off x="742950" y="3371850"/>
            <a:ext cx="323850" cy="323850"/>
          </a:xfrm>
          <a:prstGeom xmlns:a="http://schemas.openxmlformats.org/drawingml/2006/main" prst="roundRect">
            <a:avLst>
              <a:gd name="adj" fmla="val 50000"/>
            </a:avLst>
          </a:prstGeom>
          <a:solidFill xmlns:a="http://schemas.openxmlformats.org/drawingml/2006/main">
            <a:srgbClr val="D6F57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D2E25"/>
                </a:solidFill>
                <a:latin typeface="Aptos"/>
                <a:ea typeface="Aptos"/>
                <a:cs typeface="Aptos"/>
              </a:defRPr>
            </a:pPr>
            <a:r>
              <a:rPr sz="1350" b="1">
                <a:solidFill>
                  <a:srgbClr val="0D2E25"/>
                </a:solidFill>
                <a:latin typeface="Aptos"/>
                <a:ea typeface="Aptos"/>
                <a:cs typeface="Aptos"/>
              </a:rPr>
              <a:t>3</a:t>
            </a:r>
          </a:p>
        </p:txBody>
      </p:sp>
      <p:sp>
        <p:nvSpPr>
          <p:cNvPr id="11" name="">
            <a:extLst xmlns:a="http://schemas.openxmlformats.org/drawingml/2006/main">
              <a:ext uri="{FF2B5EF4-FFF2-40B4-BE49-F238E27FC236}">
                <a16:creationId xmlns:a16="http://schemas.microsoft.com/office/drawing/2014/main" id="{0E4A46FA-23C5-449A-9AC4-B2884273CE26}"/>
              </a:ext>
            </a:extLst>
          </p:cNvPr>
          <p:cNvSpPr>
            <a:spLocks xmlns:a="http://schemas.openxmlformats.org/drawingml/2006/main" noGrp="1"/>
          </p:cNvSpPr>
          <p:nvPr/>
        </p:nvSpPr>
        <p:spPr>
          <a:xfrm xmlns:a="http://schemas.openxmlformats.org/drawingml/2006/main">
            <a:off x="1200150" y="334327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08251E"/>
                </a:solidFill>
                <a:latin typeface="Aptos"/>
                <a:ea typeface="Aptos"/>
                <a:cs typeface="Aptos"/>
              </a:defRPr>
            </a:pPr>
            <a:r>
              <a:rPr sz="1575" b="0">
                <a:solidFill>
                  <a:srgbClr val="08251E"/>
                </a:solidFill>
                <a:latin typeface="Aptos"/>
                <a:ea typeface="Aptos"/>
                <a:cs typeface="Aptos"/>
              </a:rPr>
              <a:t>Pause, resume and change a plan</a:t>
            </a:r>
          </a:p>
        </p:txBody>
      </p:sp>
      <p:sp>
        <p:nvSpPr>
          <p:cNvPr id="12" name="">
            <a:extLst xmlns:a="http://schemas.openxmlformats.org/drawingml/2006/main">
              <a:ext uri="{FF2B5EF4-FFF2-40B4-BE49-F238E27FC236}">
                <a16:creationId xmlns:a16="http://schemas.microsoft.com/office/drawing/2014/main" id="{4B17FE6E-A680-4365-9335-609FDC147012}"/>
              </a:ext>
            </a:extLst>
          </p:cNvPr>
          <p:cNvSpPr>
            <a:spLocks xmlns:a="http://schemas.openxmlformats.org/drawingml/2006/main" noGrp="1"/>
          </p:cNvSpPr>
          <p:nvPr/>
        </p:nvSpPr>
        <p:spPr>
          <a:xfrm xmlns:a="http://schemas.openxmlformats.org/drawingml/2006/main">
            <a:off x="742950" y="3886200"/>
            <a:ext cx="323850" cy="323850"/>
          </a:xfrm>
          <a:prstGeom xmlns:a="http://schemas.openxmlformats.org/drawingml/2006/main" prst="roundRect">
            <a:avLst>
              <a:gd name="adj" fmla="val 50000"/>
            </a:avLst>
          </a:prstGeom>
          <a:solidFill xmlns:a="http://schemas.openxmlformats.org/drawingml/2006/main">
            <a:srgbClr val="D6F57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D2E25"/>
                </a:solidFill>
                <a:latin typeface="Aptos"/>
                <a:ea typeface="Aptos"/>
                <a:cs typeface="Aptos"/>
              </a:defRPr>
            </a:pPr>
            <a:r>
              <a:rPr sz="1350" b="1">
                <a:solidFill>
                  <a:srgbClr val="0D2E25"/>
                </a:solidFill>
                <a:latin typeface="Aptos"/>
                <a:ea typeface="Aptos"/>
                <a:cs typeface="Aptos"/>
              </a:rPr>
              <a:t>4</a:t>
            </a:r>
          </a:p>
        </p:txBody>
      </p:sp>
      <p:sp>
        <p:nvSpPr>
          <p:cNvPr id="13" name="">
            <a:extLst xmlns:a="http://schemas.openxmlformats.org/drawingml/2006/main">
              <a:ext uri="{FF2B5EF4-FFF2-40B4-BE49-F238E27FC236}">
                <a16:creationId xmlns:a16="http://schemas.microsoft.com/office/drawing/2014/main" id="{EEDD58AE-BBC3-4AFE-8769-C0CB8FB2BE46}"/>
              </a:ext>
            </a:extLst>
          </p:cNvPr>
          <p:cNvSpPr>
            <a:spLocks xmlns:a="http://schemas.openxmlformats.org/drawingml/2006/main" noGrp="1"/>
          </p:cNvSpPr>
          <p:nvPr/>
        </p:nvSpPr>
        <p:spPr>
          <a:xfrm xmlns:a="http://schemas.openxmlformats.org/drawingml/2006/main">
            <a:off x="1200150" y="385762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08251E"/>
                </a:solidFill>
                <a:latin typeface="Aptos"/>
                <a:ea typeface="Aptos"/>
                <a:cs typeface="Aptos"/>
              </a:defRPr>
            </a:pPr>
            <a:r>
              <a:rPr sz="1575" b="0">
                <a:solidFill>
                  <a:srgbClr val="08251E"/>
                </a:solidFill>
                <a:latin typeface="Aptos"/>
                <a:ea typeface="Aptos"/>
                <a:cs typeface="Aptos"/>
              </a:rPr>
              <a:t>Open invoice lines and PDF</a:t>
            </a:r>
          </a:p>
        </p:txBody>
      </p:sp>
      <p:sp>
        <p:nvSpPr>
          <p:cNvPr id="14" name="">
            <a:extLst xmlns:a="http://schemas.openxmlformats.org/drawingml/2006/main">
              <a:ext uri="{FF2B5EF4-FFF2-40B4-BE49-F238E27FC236}">
                <a16:creationId xmlns:a16="http://schemas.microsoft.com/office/drawing/2014/main" id="{8FE77092-5613-47A3-B97A-DA4CC33A75ED}"/>
              </a:ext>
            </a:extLst>
          </p:cNvPr>
          <p:cNvSpPr>
            <a:spLocks xmlns:a="http://schemas.openxmlformats.org/drawingml/2006/main" noGrp="1"/>
          </p:cNvSpPr>
          <p:nvPr/>
        </p:nvSpPr>
        <p:spPr>
          <a:xfrm xmlns:a="http://schemas.openxmlformats.org/drawingml/2006/main">
            <a:off x="742950" y="4400550"/>
            <a:ext cx="323850" cy="323850"/>
          </a:xfrm>
          <a:prstGeom xmlns:a="http://schemas.openxmlformats.org/drawingml/2006/main" prst="roundRect">
            <a:avLst>
              <a:gd name="adj" fmla="val 50000"/>
            </a:avLst>
          </a:prstGeom>
          <a:solidFill xmlns:a="http://schemas.openxmlformats.org/drawingml/2006/main">
            <a:srgbClr val="FFF2D4"/>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D2E25"/>
                </a:solidFill>
                <a:latin typeface="Aptos"/>
                <a:ea typeface="Aptos"/>
                <a:cs typeface="Aptos"/>
              </a:defRPr>
            </a:pPr>
            <a:r>
              <a:rPr sz="1350" b="1">
                <a:solidFill>
                  <a:srgbClr val="0D2E25"/>
                </a:solidFill>
                <a:latin typeface="Aptos"/>
                <a:ea typeface="Aptos"/>
                <a:cs typeface="Aptos"/>
              </a:rPr>
              <a:t>5</a:t>
            </a:r>
          </a:p>
        </p:txBody>
      </p:sp>
      <p:sp>
        <p:nvSpPr>
          <p:cNvPr id="15" name="">
            <a:extLst xmlns:a="http://schemas.openxmlformats.org/drawingml/2006/main">
              <a:ext uri="{FF2B5EF4-FFF2-40B4-BE49-F238E27FC236}">
                <a16:creationId xmlns:a16="http://schemas.microsoft.com/office/drawing/2014/main" id="{39EC4635-B862-4566-B491-A00800E647D7}"/>
              </a:ext>
            </a:extLst>
          </p:cNvPr>
          <p:cNvSpPr>
            <a:spLocks xmlns:a="http://schemas.openxmlformats.org/drawingml/2006/main" noGrp="1"/>
          </p:cNvSpPr>
          <p:nvPr/>
        </p:nvSpPr>
        <p:spPr>
          <a:xfrm xmlns:a="http://schemas.openxmlformats.org/drawingml/2006/main">
            <a:off x="1200150" y="437197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08251E"/>
                </a:solidFill>
                <a:latin typeface="Aptos"/>
                <a:ea typeface="Aptos"/>
                <a:cs typeface="Aptos"/>
              </a:defRPr>
            </a:pPr>
            <a:r>
              <a:rPr sz="1575" b="0">
                <a:solidFill>
                  <a:srgbClr val="08251E"/>
                </a:solidFill>
                <a:latin typeface="Aptos"/>
                <a:ea typeface="Aptos"/>
                <a:cs typeface="Aptos"/>
              </a:rPr>
              <a:t>Trigger failure and recover payment</a:t>
            </a:r>
          </a:p>
        </p:txBody>
      </p:sp>
      <p:sp>
        <p:nvSpPr>
          <p:cNvPr id="16" name="">
            <a:extLst xmlns:a="http://schemas.openxmlformats.org/drawingml/2006/main">
              <a:ext uri="{FF2B5EF4-FFF2-40B4-BE49-F238E27FC236}">
                <a16:creationId xmlns:a16="http://schemas.microsoft.com/office/drawing/2014/main" id="{FB058EAB-3836-47E9-942D-6D66CB77ED79}"/>
              </a:ext>
            </a:extLst>
          </p:cNvPr>
          <p:cNvSpPr>
            <a:spLocks xmlns:a="http://schemas.openxmlformats.org/drawingml/2006/main" noGrp="1"/>
          </p:cNvSpPr>
          <p:nvPr/>
        </p:nvSpPr>
        <p:spPr>
          <a:xfrm xmlns:a="http://schemas.openxmlformats.org/drawingml/2006/main">
            <a:off x="742950" y="4914900"/>
            <a:ext cx="323850" cy="323850"/>
          </a:xfrm>
          <a:prstGeom xmlns:a="http://schemas.openxmlformats.org/drawingml/2006/main" prst="roundRect">
            <a:avLst>
              <a:gd name="adj" fmla="val 50000"/>
            </a:avLst>
          </a:prstGeom>
          <a:solidFill xmlns:a="http://schemas.openxmlformats.org/drawingml/2006/main">
            <a:srgbClr val="D6F57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D2E25"/>
                </a:solidFill>
                <a:latin typeface="Aptos"/>
                <a:ea typeface="Aptos"/>
                <a:cs typeface="Aptos"/>
              </a:defRPr>
            </a:pPr>
            <a:r>
              <a:rPr sz="1350" b="1">
                <a:solidFill>
                  <a:srgbClr val="0D2E25"/>
                </a:solidFill>
                <a:latin typeface="Aptos"/>
                <a:ea typeface="Aptos"/>
                <a:cs typeface="Aptos"/>
              </a:rPr>
              <a:t>6</a:t>
            </a:r>
          </a:p>
        </p:txBody>
      </p:sp>
      <p:sp>
        <p:nvSpPr>
          <p:cNvPr id="17" name="">
            <a:extLst xmlns:a="http://schemas.openxmlformats.org/drawingml/2006/main">
              <a:ext uri="{FF2B5EF4-FFF2-40B4-BE49-F238E27FC236}">
                <a16:creationId xmlns:a16="http://schemas.microsoft.com/office/drawing/2014/main" id="{0A835E18-AD82-48BA-902C-F14AF3B536F2}"/>
              </a:ext>
            </a:extLst>
          </p:cNvPr>
          <p:cNvSpPr>
            <a:spLocks xmlns:a="http://schemas.openxmlformats.org/drawingml/2006/main" noGrp="1"/>
          </p:cNvSpPr>
          <p:nvPr/>
        </p:nvSpPr>
        <p:spPr>
          <a:xfrm xmlns:a="http://schemas.openxmlformats.org/drawingml/2006/main">
            <a:off x="1200150" y="488632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08251E"/>
                </a:solidFill>
                <a:latin typeface="Aptos"/>
                <a:ea typeface="Aptos"/>
                <a:cs typeface="Aptos"/>
              </a:defRPr>
            </a:pPr>
            <a:r>
              <a:rPr sz="1575" b="0">
                <a:solidFill>
                  <a:srgbClr val="08251E"/>
                </a:solidFill>
                <a:latin typeface="Aptos"/>
                <a:ea typeface="Aptos"/>
                <a:cs typeface="Aptos"/>
              </a:rPr>
              <a:t>Issue refund and review tax</a:t>
            </a:r>
          </a:p>
        </p:txBody>
      </p:sp>
      <p:sp>
        <p:nvSpPr>
          <p:cNvPr id="18" name="">
            <a:extLst xmlns:a="http://schemas.openxmlformats.org/drawingml/2006/main">
              <a:ext uri="{FF2B5EF4-FFF2-40B4-BE49-F238E27FC236}">
                <a16:creationId xmlns:a16="http://schemas.microsoft.com/office/drawing/2014/main" id="{361AEC6C-83F3-4BE1-9ED6-C5566F6D6D45}"/>
              </a:ext>
            </a:extLst>
          </p:cNvPr>
          <p:cNvSpPr>
            <a:spLocks xmlns:a="http://schemas.openxmlformats.org/drawingml/2006/main" noGrp="1"/>
          </p:cNvSpPr>
          <p:nvPr/>
        </p:nvSpPr>
        <p:spPr>
          <a:xfrm xmlns:a="http://schemas.openxmlformats.org/drawingml/2006/main">
            <a:off x="742950" y="5429250"/>
            <a:ext cx="323850" cy="323850"/>
          </a:xfrm>
          <a:prstGeom xmlns:a="http://schemas.openxmlformats.org/drawingml/2006/main" prst="roundRect">
            <a:avLst>
              <a:gd name="adj" fmla="val 50000"/>
            </a:avLst>
          </a:prstGeom>
          <a:solidFill xmlns:a="http://schemas.openxmlformats.org/drawingml/2006/main">
            <a:srgbClr val="D6F57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D2E25"/>
                </a:solidFill>
                <a:latin typeface="Aptos"/>
                <a:ea typeface="Aptos"/>
                <a:cs typeface="Aptos"/>
              </a:defRPr>
            </a:pPr>
            <a:r>
              <a:rPr sz="1350" b="1">
                <a:solidFill>
                  <a:srgbClr val="0D2E25"/>
                </a:solidFill>
                <a:latin typeface="Aptos"/>
                <a:ea typeface="Aptos"/>
                <a:cs typeface="Aptos"/>
              </a:rPr>
              <a:t>7</a:t>
            </a:r>
          </a:p>
        </p:txBody>
      </p:sp>
      <p:sp>
        <p:nvSpPr>
          <p:cNvPr id="19" name="">
            <a:extLst xmlns:a="http://schemas.openxmlformats.org/drawingml/2006/main">
              <a:ext uri="{FF2B5EF4-FFF2-40B4-BE49-F238E27FC236}">
                <a16:creationId xmlns:a16="http://schemas.microsoft.com/office/drawing/2014/main" id="{B8FCF7C7-A069-4C37-BDAF-41475706E5FA}"/>
              </a:ext>
            </a:extLst>
          </p:cNvPr>
          <p:cNvSpPr>
            <a:spLocks xmlns:a="http://schemas.openxmlformats.org/drawingml/2006/main" noGrp="1"/>
          </p:cNvSpPr>
          <p:nvPr/>
        </p:nvSpPr>
        <p:spPr>
          <a:xfrm xmlns:a="http://schemas.openxmlformats.org/drawingml/2006/main">
            <a:off x="1200150" y="540067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08251E"/>
                </a:solidFill>
                <a:latin typeface="Aptos"/>
                <a:ea typeface="Aptos"/>
                <a:cs typeface="Aptos"/>
              </a:defRPr>
            </a:pPr>
            <a:r>
              <a:rPr sz="1575" b="0">
                <a:solidFill>
                  <a:srgbClr val="08251E"/>
                </a:solidFill>
                <a:latin typeface="Aptos"/>
                <a:ea typeface="Aptos"/>
                <a:cs typeface="Aptos"/>
              </a:rPr>
              <a:t>Filter the customer audit trail</a:t>
            </a:r>
          </a:p>
        </p:txBody>
      </p:sp>
      <p:sp>
        <p:nvSpPr>
          <p:cNvPr id="20" name="">
            <a:extLst xmlns:a="http://schemas.openxmlformats.org/drawingml/2006/main">
              <a:ext uri="{FF2B5EF4-FFF2-40B4-BE49-F238E27FC236}">
                <a16:creationId xmlns:a16="http://schemas.microsoft.com/office/drawing/2014/main" id="{B58A0378-E3B6-4096-88D4-D7766B356B5F}"/>
              </a:ext>
            </a:extLst>
          </p:cNvPr>
          <p:cNvSpPr>
            <a:spLocks xmlns:a="http://schemas.openxmlformats.org/drawingml/2006/main" noGrp="1"/>
          </p:cNvSpPr>
          <p:nvPr/>
        </p:nvSpPr>
        <p:spPr>
          <a:xfrm xmlns:a="http://schemas.openxmlformats.org/drawingml/2006/main">
            <a:off x="5981700" y="1952625"/>
            <a:ext cx="19050" cy="0"/>
          </a:xfrm>
          <a:prstGeom xmlns:a="http://schemas.openxmlformats.org/drawingml/2006/main" prst="rect">
            <a:avLst/>
          </a:prstGeom>
          <a:ln xmlns:a="http://schemas.openxmlformats.org/drawingml/2006/main" w="0"/>
        </p:spPr>
      </p:sp>
      <p:sp>
        <p:nvSpPr>
          <p:cNvPr id="21" name="">
            <a:extLst xmlns:a="http://schemas.openxmlformats.org/drawingml/2006/main">
              <a:ext uri="{FF2B5EF4-FFF2-40B4-BE49-F238E27FC236}">
                <a16:creationId xmlns:a16="http://schemas.microsoft.com/office/drawing/2014/main" id="{D694D790-B0CC-4BC4-8EF6-54E5819EFEE9}"/>
              </a:ext>
            </a:extLst>
          </p:cNvPr>
          <p:cNvSpPr>
            <a:spLocks xmlns:a="http://schemas.openxmlformats.org/drawingml/2006/main" noGrp="1"/>
          </p:cNvSpPr>
          <p:nvPr/>
        </p:nvSpPr>
        <p:spPr>
          <a:xfrm xmlns:a="http://schemas.openxmlformats.org/drawingml/2006/main">
            <a:off x="6572250" y="19240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1A6C52"/>
                </a:solidFill>
                <a:latin typeface="Aptos"/>
                <a:ea typeface="Aptos"/>
                <a:cs typeface="Aptos"/>
              </a:defRPr>
            </a:pPr>
            <a:r>
              <a:rPr sz="1200" b="1">
                <a:solidFill>
                  <a:srgbClr val="1A6C52"/>
                </a:solidFill>
                <a:latin typeface="Aptos"/>
                <a:ea typeface="Aptos"/>
                <a:cs typeface="Aptos"/>
              </a:rPr>
              <a:t>NEXT MILESTONES</a:t>
            </a:r>
          </a:p>
        </p:txBody>
      </p:sp>
      <p:sp>
        <p:nvSpPr>
          <p:cNvPr id="22" name="">
            <a:extLst xmlns:a="http://schemas.openxmlformats.org/drawingml/2006/main">
              <a:ext uri="{FF2B5EF4-FFF2-40B4-BE49-F238E27FC236}">
                <a16:creationId xmlns:a16="http://schemas.microsoft.com/office/drawing/2014/main" id="{B1E5EC1A-2417-4F71-B4BB-1E17371411BC}"/>
              </a:ext>
            </a:extLst>
          </p:cNvPr>
          <p:cNvSpPr>
            <a:spLocks xmlns:a="http://schemas.openxmlformats.org/drawingml/2006/main" noGrp="1"/>
          </p:cNvSpPr>
          <p:nvPr/>
        </p:nvSpPr>
        <p:spPr>
          <a:xfrm xmlns:a="http://schemas.openxmlformats.org/drawingml/2006/main">
            <a:off x="6572250" y="2381250"/>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08251E"/>
                </a:solidFill>
                <a:latin typeface="Aptos"/>
                <a:ea typeface="Aptos"/>
                <a:cs typeface="Aptos"/>
              </a:defRPr>
            </a:pPr>
            <a:r>
              <a:rPr sz="1875" b="1">
                <a:solidFill>
                  <a:srgbClr val="08251E"/>
                </a:solidFill>
                <a:latin typeface="Aptos"/>
                <a:ea typeface="Aptos"/>
                <a:cs typeface="Aptos"/>
              </a:rPr>
              <a:t>Official rails</a:t>
            </a:r>
          </a:p>
        </p:txBody>
      </p:sp>
      <p:sp>
        <p:nvSpPr>
          <p:cNvPr id="23" name="">
            <a:extLst xmlns:a="http://schemas.openxmlformats.org/drawingml/2006/main">
              <a:ext uri="{FF2B5EF4-FFF2-40B4-BE49-F238E27FC236}">
                <a16:creationId xmlns:a16="http://schemas.microsoft.com/office/drawing/2014/main" id="{C49D1D09-03D2-4A71-85F1-EA8AF84BFC66}"/>
              </a:ext>
            </a:extLst>
          </p:cNvPr>
          <p:cNvSpPr>
            <a:spLocks xmlns:a="http://schemas.openxmlformats.org/drawingml/2006/main" noGrp="1"/>
          </p:cNvSpPr>
          <p:nvPr/>
        </p:nvSpPr>
        <p:spPr>
          <a:xfrm xmlns:a="http://schemas.openxmlformats.org/drawingml/2006/main">
            <a:off x="6572250" y="270510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36E"/>
                </a:solidFill>
                <a:latin typeface="Aptos"/>
                <a:ea typeface="Aptos"/>
                <a:cs typeface="Aptos"/>
              </a:defRPr>
            </a:pPr>
            <a:r>
              <a:rPr sz="1425" b="0">
                <a:solidFill>
                  <a:srgbClr val="66736E"/>
                </a:solidFill>
                <a:latin typeface="Aptos"/>
                <a:ea typeface="Aptos"/>
                <a:cs typeface="Aptos"/>
              </a:rPr>
              <a:t>Licensed settlement and provider APIs</a:t>
            </a:r>
          </a:p>
        </p:txBody>
      </p:sp>
      <p:sp>
        <p:nvSpPr>
          <p:cNvPr id="24" name="">
            <a:extLst xmlns:a="http://schemas.openxmlformats.org/drawingml/2006/main">
              <a:ext uri="{FF2B5EF4-FFF2-40B4-BE49-F238E27FC236}">
                <a16:creationId xmlns:a16="http://schemas.microsoft.com/office/drawing/2014/main" id="{177D987D-B0E7-4A72-9004-5C016C56E6DB}"/>
              </a:ext>
            </a:extLst>
          </p:cNvPr>
          <p:cNvSpPr>
            <a:spLocks xmlns:a="http://schemas.openxmlformats.org/drawingml/2006/main" noGrp="1"/>
          </p:cNvSpPr>
          <p:nvPr/>
        </p:nvSpPr>
        <p:spPr>
          <a:xfrm xmlns:a="http://schemas.openxmlformats.org/drawingml/2006/main">
            <a:off x="6572250" y="3257550"/>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08251E"/>
                </a:solidFill>
                <a:latin typeface="Aptos"/>
                <a:ea typeface="Aptos"/>
                <a:cs typeface="Aptos"/>
              </a:defRPr>
            </a:pPr>
            <a:r>
              <a:rPr sz="1875" b="1">
                <a:solidFill>
                  <a:srgbClr val="08251E"/>
                </a:solidFill>
                <a:latin typeface="Aptos"/>
                <a:ea typeface="Aptos"/>
                <a:cs typeface="Aptos"/>
              </a:rPr>
              <a:t>Organization controls</a:t>
            </a:r>
          </a:p>
        </p:txBody>
      </p:sp>
      <p:sp>
        <p:nvSpPr>
          <p:cNvPr id="25" name="">
            <a:extLst xmlns:a="http://schemas.openxmlformats.org/drawingml/2006/main">
              <a:ext uri="{FF2B5EF4-FFF2-40B4-BE49-F238E27FC236}">
                <a16:creationId xmlns:a16="http://schemas.microsoft.com/office/drawing/2014/main" id="{697E623B-BC6D-482C-B454-0EAA0762CF30}"/>
              </a:ext>
            </a:extLst>
          </p:cNvPr>
          <p:cNvSpPr>
            <a:spLocks xmlns:a="http://schemas.openxmlformats.org/drawingml/2006/main" noGrp="1"/>
          </p:cNvSpPr>
          <p:nvPr/>
        </p:nvSpPr>
        <p:spPr>
          <a:xfrm xmlns:a="http://schemas.openxmlformats.org/drawingml/2006/main">
            <a:off x="6572250" y="358140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36E"/>
                </a:solidFill>
                <a:latin typeface="Aptos"/>
                <a:ea typeface="Aptos"/>
                <a:cs typeface="Aptos"/>
              </a:defRPr>
            </a:pPr>
            <a:r>
              <a:rPr sz="1425" b="0">
                <a:solidFill>
                  <a:srgbClr val="66736E"/>
                </a:solidFill>
                <a:latin typeface="Aptos"/>
                <a:ea typeface="Aptos"/>
                <a:cs typeface="Aptos"/>
              </a:rPr>
              <a:t>RBAC, maker checker approval and SSO</a:t>
            </a:r>
          </a:p>
        </p:txBody>
      </p:sp>
      <p:sp>
        <p:nvSpPr>
          <p:cNvPr id="26" name="">
            <a:extLst xmlns:a="http://schemas.openxmlformats.org/drawingml/2006/main">
              <a:ext uri="{FF2B5EF4-FFF2-40B4-BE49-F238E27FC236}">
                <a16:creationId xmlns:a16="http://schemas.microsoft.com/office/drawing/2014/main" id="{F33D34D2-C8FF-4173-9166-C64A173D0362}"/>
              </a:ext>
            </a:extLst>
          </p:cNvPr>
          <p:cNvSpPr>
            <a:spLocks xmlns:a="http://schemas.openxmlformats.org/drawingml/2006/main" noGrp="1"/>
          </p:cNvSpPr>
          <p:nvPr/>
        </p:nvSpPr>
        <p:spPr>
          <a:xfrm xmlns:a="http://schemas.openxmlformats.org/drawingml/2006/main">
            <a:off x="6572250" y="4133850"/>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08251E"/>
                </a:solidFill>
                <a:latin typeface="Aptos"/>
                <a:ea typeface="Aptos"/>
                <a:cs typeface="Aptos"/>
              </a:defRPr>
            </a:pPr>
            <a:r>
              <a:rPr sz="1875" b="1">
                <a:solidFill>
                  <a:srgbClr val="08251E"/>
                </a:solidFill>
                <a:latin typeface="Aptos"/>
                <a:ea typeface="Aptos"/>
                <a:cs typeface="Aptos"/>
              </a:rPr>
              <a:t>Accounting depth</a:t>
            </a:r>
          </a:p>
        </p:txBody>
      </p:sp>
      <p:sp>
        <p:nvSpPr>
          <p:cNvPr id="27" name="">
            <a:extLst xmlns:a="http://schemas.openxmlformats.org/drawingml/2006/main">
              <a:ext uri="{FF2B5EF4-FFF2-40B4-BE49-F238E27FC236}">
                <a16:creationId xmlns:a16="http://schemas.microsoft.com/office/drawing/2014/main" id="{8AAA27AB-6F9C-432D-A0A7-8123B3584E0C}"/>
              </a:ext>
            </a:extLst>
          </p:cNvPr>
          <p:cNvSpPr>
            <a:spLocks xmlns:a="http://schemas.openxmlformats.org/drawingml/2006/main" noGrp="1"/>
          </p:cNvSpPr>
          <p:nvPr/>
        </p:nvSpPr>
        <p:spPr>
          <a:xfrm xmlns:a="http://schemas.openxmlformats.org/drawingml/2006/main">
            <a:off x="6572250" y="445770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36E"/>
                </a:solidFill>
                <a:latin typeface="Aptos"/>
                <a:ea typeface="Aptos"/>
                <a:cs typeface="Aptos"/>
              </a:defRPr>
            </a:pPr>
            <a:r>
              <a:rPr sz="1425" b="0">
                <a:solidFill>
                  <a:srgbClr val="66736E"/>
                </a:solidFill>
                <a:latin typeface="Aptos"/>
                <a:ea typeface="Aptos"/>
                <a:cs typeface="Aptos"/>
              </a:rPr>
              <a:t>Ledger export and revenue recognition</a:t>
            </a:r>
          </a:p>
        </p:txBody>
      </p:sp>
      <p:sp>
        <p:nvSpPr>
          <p:cNvPr id="28" name="">
            <a:extLst xmlns:a="http://schemas.openxmlformats.org/drawingml/2006/main">
              <a:ext uri="{FF2B5EF4-FFF2-40B4-BE49-F238E27FC236}">
                <a16:creationId xmlns:a16="http://schemas.microsoft.com/office/drawing/2014/main" id="{66CC0D5D-2B61-40C1-8209-FFCE8635D027}"/>
              </a:ext>
            </a:extLst>
          </p:cNvPr>
          <p:cNvSpPr>
            <a:spLocks xmlns:a="http://schemas.openxmlformats.org/drawingml/2006/main" noGrp="1"/>
          </p:cNvSpPr>
          <p:nvPr/>
        </p:nvSpPr>
        <p:spPr>
          <a:xfrm xmlns:a="http://schemas.openxmlformats.org/drawingml/2006/main">
            <a:off x="6572250" y="5010150"/>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08251E"/>
                </a:solidFill>
                <a:latin typeface="Aptos"/>
                <a:ea typeface="Aptos"/>
                <a:cs typeface="Aptos"/>
              </a:defRPr>
            </a:pPr>
            <a:r>
              <a:rPr sz="1875" b="1">
                <a:solidFill>
                  <a:srgbClr val="08251E"/>
                </a:solidFill>
                <a:latin typeface="Aptos"/>
                <a:ea typeface="Aptos"/>
                <a:cs typeface="Aptos"/>
              </a:rPr>
              <a:t>Operations</a:t>
            </a:r>
          </a:p>
        </p:txBody>
      </p:sp>
      <p:sp>
        <p:nvSpPr>
          <p:cNvPr id="29" name="">
            <a:extLst xmlns:a="http://schemas.openxmlformats.org/drawingml/2006/main">
              <a:ext uri="{FF2B5EF4-FFF2-40B4-BE49-F238E27FC236}">
                <a16:creationId xmlns:a16="http://schemas.microsoft.com/office/drawing/2014/main" id="{83C45367-521E-4CB2-8C0B-EC1110DD2574}"/>
              </a:ext>
            </a:extLst>
          </p:cNvPr>
          <p:cNvSpPr>
            <a:spLocks xmlns:a="http://schemas.openxmlformats.org/drawingml/2006/main" noGrp="1"/>
          </p:cNvSpPr>
          <p:nvPr/>
        </p:nvSpPr>
        <p:spPr>
          <a:xfrm xmlns:a="http://schemas.openxmlformats.org/drawingml/2006/main">
            <a:off x="6572250" y="533400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36E"/>
                </a:solidFill>
                <a:latin typeface="Aptos"/>
                <a:ea typeface="Aptos"/>
                <a:cs typeface="Aptos"/>
              </a:defRPr>
            </a:pPr>
            <a:r>
              <a:rPr sz="1425" b="0">
                <a:solidFill>
                  <a:srgbClr val="66736E"/>
                </a:solidFill>
                <a:latin typeface="Aptos"/>
                <a:ea typeface="Aptos"/>
                <a:cs typeface="Aptos"/>
              </a:rPr>
              <a:t>Metrics, tracing, alerts and recovery drills</a:t>
            </a:r>
          </a:p>
        </p:txBody>
      </p:sp>
      <p:sp>
        <p:nvSpPr>
          <p:cNvPr id="30" name="">
            <a:extLst xmlns:a="http://schemas.openxmlformats.org/drawingml/2006/main">
              <a:ext uri="{FF2B5EF4-FFF2-40B4-BE49-F238E27FC236}">
                <a16:creationId xmlns:a16="http://schemas.microsoft.com/office/drawing/2014/main" id="{1330A555-F3A4-47BE-98E9-5035E5F21FB4}"/>
              </a:ext>
            </a:extLst>
          </p:cNvPr>
          <p:cNvSpPr>
            <a:spLocks xmlns:a="http://schemas.openxmlformats.org/drawingml/2006/main" noGrp="1"/>
          </p:cNvSpPr>
          <p:nvPr/>
        </p:nvSpPr>
        <p:spPr>
          <a:xfrm xmlns:a="http://schemas.openxmlformats.org/drawingml/2006/main">
            <a:off x="6572250" y="5810250"/>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0D2E25"/>
                </a:solidFill>
                <a:latin typeface="Aptos"/>
                <a:ea typeface="Aptos"/>
                <a:cs typeface="Aptos"/>
              </a:defRPr>
            </a:pPr>
            <a:r>
              <a:rPr sz="1725" b="1">
                <a:solidFill>
                  <a:srgbClr val="0D2E25"/>
                </a:solidFill>
                <a:latin typeface="Aptos"/>
                <a:ea typeface="Aptos"/>
                <a:cs typeface="Aptos"/>
              </a:rPr>
              <a:t>BillFlow AI is ready for review, inspection and a confident end-to-end demonstration.</a:t>
            </a:r>
          </a:p>
        </p:txBody>
      </p:sp>
      <p:sp>
        <p:nvSpPr>
          <p:cNvPr id="31" name="">
            <a:extLst xmlns:a="http://schemas.openxmlformats.org/drawingml/2006/main">
              <a:ext uri="{FF2B5EF4-FFF2-40B4-BE49-F238E27FC236}">
                <a16:creationId xmlns:a16="http://schemas.microsoft.com/office/drawing/2014/main" id="{0FEC3A6D-DFDB-4540-90BB-EF9000F86578}"/>
              </a:ext>
            </a:extLst>
          </p:cNvPr>
          <p:cNvSpPr>
            <a:spLocks xmlns:a="http://schemas.openxmlformats.org/drawingml/2006/main" noGrp="1"/>
          </p:cNvSpPr>
          <p:nvPr/>
        </p:nvSpPr>
        <p:spPr>
          <a:xfrm xmlns:a="http://schemas.openxmlformats.org/drawingml/2006/main">
            <a:off x="628650" y="647700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1A6C52"/>
                </a:solidFill>
                <a:latin typeface="Aptos"/>
                <a:ea typeface="Aptos"/>
                <a:cs typeface="Aptos"/>
              </a:defRPr>
            </a:pPr>
            <a:r>
              <a:rPr sz="975" b="1">
                <a:solidFill>
                  <a:srgbClr val="1A6C52"/>
                </a:solidFill>
                <a:latin typeface="Aptos"/>
                <a:ea typeface="Aptos"/>
                <a:cs typeface="Aptos"/>
              </a:rPr>
              <a:t>BillFlow AI</a:t>
            </a:r>
          </a:p>
        </p:txBody>
      </p:sp>
      <p:sp>
        <p:nvSpPr>
          <p:cNvPr id="32" name="">
            <a:extLst xmlns:a="http://schemas.openxmlformats.org/drawingml/2006/main">
              <a:ext uri="{FF2B5EF4-FFF2-40B4-BE49-F238E27FC236}">
                <a16:creationId xmlns:a16="http://schemas.microsoft.com/office/drawing/2014/main" id="{09FBCA1B-429E-4B1C-9E71-3903598679C2}"/>
              </a:ext>
            </a:extLst>
          </p:cNvPr>
          <p:cNvSpPr>
            <a:spLocks xmlns:a="http://schemas.openxmlformats.org/drawingml/2006/main" noGrp="1"/>
          </p:cNvSpPr>
          <p:nvPr/>
        </p:nvSpPr>
        <p:spPr>
          <a:xfrm xmlns:a="http://schemas.openxmlformats.org/drawingml/2006/main">
            <a:off x="11049000" y="6477000"/>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66736E"/>
                </a:solidFill>
                <a:latin typeface="Aptos"/>
                <a:ea typeface="Aptos"/>
                <a:cs typeface="Aptos"/>
              </a:defRPr>
            </a:pPr>
            <a:r>
              <a:rPr sz="975" b="1">
                <a:solidFill>
                  <a:srgbClr val="66736E"/>
                </a:solidFill>
                <a:latin typeface="Aptos"/>
                <a:ea typeface="Aptos"/>
                <a:cs typeface="Aptos"/>
              </a:rPr>
              <a:t>12</a:t>
            </a:r>
          </a:p>
        </p:txBody>
      </p:sp>
    </p:spTree>
    <p:extLst>
      <p:ext uri="{BB962C8B-B14F-4D97-AF65-F5344CB8AC3E}">
        <p14:creationId xmlns:p14="http://schemas.microsoft.com/office/powerpoint/2010/main" val="19923093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2026-09-29T03:58:43.4630000Z</dcterms:created>
  <dcterms:modified xsi:type="dcterms:W3CDTF">2026-09-29T03:58:43.4630000Z</dcterms:modified>
</coreProperties>
</file>